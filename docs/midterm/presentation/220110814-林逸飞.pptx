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7" embedTrueTypeFonts="1" saveSubsetFonts="1">
  <p:sldMasterIdLst>
    <p:sldMasterId id="2147483648" r:id="rId1"/>
  </p:sldMasterIdLst>
  <p:notesMasterIdLst>
    <p:notesMasterId r:id="rId4"/>
  </p:notesMasterIdLst>
  <p:handoutMasterIdLst>
    <p:handoutMasterId r:id="rId23"/>
  </p:handoutMasterIdLst>
  <p:sldIdLst>
    <p:sldId id="276" r:id="rId3"/>
    <p:sldId id="892" r:id="rId5"/>
    <p:sldId id="893" r:id="rId6"/>
    <p:sldId id="513" r:id="rId7"/>
    <p:sldId id="927" r:id="rId8"/>
    <p:sldId id="857" r:id="rId9"/>
    <p:sldId id="912" r:id="rId10"/>
    <p:sldId id="930" r:id="rId11"/>
    <p:sldId id="931" r:id="rId12"/>
    <p:sldId id="936" r:id="rId13"/>
    <p:sldId id="859" r:id="rId14"/>
    <p:sldId id="932" r:id="rId15"/>
    <p:sldId id="933" r:id="rId16"/>
    <p:sldId id="934" r:id="rId17"/>
    <p:sldId id="921" r:id="rId18"/>
    <p:sldId id="922" r:id="rId19"/>
    <p:sldId id="923" r:id="rId20"/>
    <p:sldId id="926" r:id="rId21"/>
    <p:sldId id="920" r:id="rId22"/>
  </p:sldIdLst>
  <p:sldSz cx="12192000" cy="6858000"/>
  <p:notesSz cx="6858000" cy="9144000"/>
  <p:embeddedFontLst>
    <p:embeddedFont>
      <p:font typeface="微软雅黑" panose="020B0503020204020204" charset="-122"/>
      <p:regular r:id="rId27"/>
    </p:embeddedFont>
    <p:embeddedFont>
      <p:font typeface="黑体" panose="02010609060101010101" charset="-122"/>
      <p:regular r:id="rId28"/>
    </p:embeddedFont>
    <p:embeddedFont>
      <p:font typeface="等线" panose="02010600030101010101" charset="-122"/>
      <p:regular r:id="rId29"/>
    </p:embeddedFont>
    <p:embeddedFont>
      <p:font typeface="方正大标宋_GBK" panose="03000509000000000000" pitchFamily="65" charset="-122"/>
      <p:regular r:id="rId30"/>
    </p:embeddedFont>
    <p:embeddedFont>
      <p:font typeface="仿宋" panose="02010609060101010101" pitchFamily="49" charset="-122"/>
      <p:regular r:id="rId31"/>
    </p:embeddedFont>
    <p:embeddedFont>
      <p:font typeface="Calibri" panose="020F0502020204030204" charset="0"/>
      <p:regular r:id="rId32"/>
      <p:bold r:id="rId33"/>
      <p:italic r:id="rId34"/>
      <p:boldItalic r:id="rId35"/>
    </p:embeddedFont>
  </p:embeddedFontLst>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568D"/>
    <a:srgbClr val="004E98"/>
    <a:srgbClr val="EBEEF4"/>
    <a:srgbClr val="0F6D9C"/>
    <a:srgbClr val="CCD4E3"/>
    <a:srgbClr val="95A3C6"/>
    <a:srgbClr val="6C9EFF"/>
    <a:srgbClr val="469EFF"/>
    <a:srgbClr val="FFFFFF"/>
    <a:srgbClr val="919F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9" autoAdjust="0"/>
    <p:restoredTop sz="84136" autoAdjust="0"/>
  </p:normalViewPr>
  <p:slideViewPr>
    <p:cSldViewPr>
      <p:cViewPr varScale="1">
        <p:scale>
          <a:sx n="72" d="100"/>
          <a:sy n="72" d="100"/>
        </p:scale>
        <p:origin x="1104" y="67"/>
      </p:cViewPr>
      <p:guideLst/>
    </p:cSldViewPr>
  </p:slideViewPr>
  <p:outlineViewPr>
    <p:cViewPr>
      <p:scale>
        <a:sx n="33" d="100"/>
        <a:sy n="33" d="100"/>
      </p:scale>
      <p:origin x="0" y="-408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7" d="100"/>
          <a:sy n="87" d="100"/>
        </p:scale>
        <p:origin x="3840" y="72"/>
      </p:cViewPr>
      <p:guideLst/>
    </p:cSldViewPr>
  </p:notesViewPr>
  <p:gridSpacing cx="1080001" cy="1080001"/>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gs" Target="tags/tag213.xml"/><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973FD-4896-4697-BA13-C4A784E3422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12D51C-6ABC-4687-9255-3BCF9BAFDFD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B9FE5A-EF66-4766-8407-3544EDF3E80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6C3075-5FC6-4713-9D9C-EE6B9852164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9FE5A-EF66-4766-8407-3544EDF3E80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9FE5A-EF66-4766-8407-3544EDF3E80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9FE5A-EF66-4766-8407-3544EDF3E80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B9FE5A-EF66-4766-8407-3544EDF3E80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53B9FE5A-EF66-4766-8407-3544EDF3E80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9.xml"/><Relationship Id="rId5" Type="http://schemas.openxmlformats.org/officeDocument/2006/relationships/image" Target="../media/image4.jpeg"/><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11.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10.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file:///C:\Users\1V994W2\PycharmProjects\PPT_Background_Generation/pic_temp/pic_half_right.png" TargetMode="External"/><Relationship Id="rId3" Type="http://schemas.openxmlformats.org/officeDocument/2006/relationships/image" Target="../media/image7.png"/><Relationship Id="rId2" Type="http://schemas.openxmlformats.org/officeDocument/2006/relationships/tags" Target="../tags/tag17.xml"/><Relationship Id="rId11" Type="http://schemas.openxmlformats.org/officeDocument/2006/relationships/image" Target="../media/image8.png"/><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25.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33.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3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file:///C:\Users\1V994W2\Documents\Tencent%20Files\574576071\FileRecv\&#25340;&#35013;&#32032;&#26448;\formiddle1\\35\subject_holdleft_91,155,213_0_staid_full_0.png" TargetMode="External"/><Relationship Id="rId3" Type="http://schemas.openxmlformats.org/officeDocument/2006/relationships/image" Target="../media/image9.png"/><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52.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51.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60.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59.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67.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66.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image" Target="file:///C:\Users\1V994W2\PycharmProjects\PPT_Background_Generation/pic_temp/1_pic_quater_right_up.png" TargetMode="External"/><Relationship Id="rId6" Type="http://schemas.openxmlformats.org/officeDocument/2006/relationships/image" Target="../media/image6.png"/><Relationship Id="rId5" Type="http://schemas.openxmlformats.org/officeDocument/2006/relationships/tags" Target="../tags/tag79.xml"/><Relationship Id="rId4" Type="http://schemas.openxmlformats.org/officeDocument/2006/relationships/image" Target="file:///C:\Users\1V994W2\PycharmProjects\PPT_Background_Generation/pic_temp/0_pic_quater_left_up.png" TargetMode="External"/><Relationship Id="rId3" Type="http://schemas.openxmlformats.org/officeDocument/2006/relationships/image" Target="../media/image5.png"/><Relationship Id="rId2" Type="http://schemas.openxmlformats.org/officeDocument/2006/relationships/tags" Target="../tags/tag78.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6.png"/><Relationship Id="rId6" Type="http://schemas.openxmlformats.org/officeDocument/2006/relationships/tags" Target="../tags/tag86.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5.png"/><Relationship Id="rId3" Type="http://schemas.openxmlformats.org/officeDocument/2006/relationships/tags" Target="../tags/tag85.xml"/><Relationship Id="rId2" Type="http://schemas.openxmlformats.org/officeDocument/2006/relationships/tags" Target="../tags/tag84.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5.png"/><Relationship Id="rId3" Type="http://schemas.openxmlformats.org/officeDocument/2006/relationships/tags" Target="../tags/tag93.xml"/><Relationship Id="rId2" Type="http://schemas.openxmlformats.org/officeDocument/2006/relationships/tags" Target="../tags/tag92.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6.png"/><Relationship Id="rId6" Type="http://schemas.openxmlformats.org/officeDocument/2006/relationships/tags" Target="../tags/tag102.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5.png"/><Relationship Id="rId3" Type="http://schemas.openxmlformats.org/officeDocument/2006/relationships/tags" Target="../tags/tag101.xml"/><Relationship Id="rId2" Type="http://schemas.openxmlformats.org/officeDocument/2006/relationships/tags" Target="../tags/tag100.xml"/><Relationship Id="rId14" Type="http://schemas.openxmlformats.org/officeDocument/2006/relationships/tags" Target="../tags/tag10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6.png"/><Relationship Id="rId6" Type="http://schemas.openxmlformats.org/officeDocument/2006/relationships/tags" Target="../tags/tag111.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5.png"/><Relationship Id="rId3" Type="http://schemas.openxmlformats.org/officeDocument/2006/relationships/tags" Target="../tags/tag110.xml"/><Relationship Id="rId2" Type="http://schemas.openxmlformats.org/officeDocument/2006/relationships/tags" Target="../tags/tag109.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6.png"/><Relationship Id="rId6" Type="http://schemas.openxmlformats.org/officeDocument/2006/relationships/tags" Target="../tags/tag120.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5.png"/><Relationship Id="rId3" Type="http://schemas.openxmlformats.org/officeDocument/2006/relationships/tags" Target="../tags/tag119.xml"/><Relationship Id="rId2" Type="http://schemas.openxmlformats.org/officeDocument/2006/relationships/tags" Target="../tags/tag118.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image" Target="file:///C:\Users\1V994W2\PycharmProjects\PPT_Background_Generation/pic_temp/1_pic_quater_right_up.png" TargetMode="External"/><Relationship Id="rId7" Type="http://schemas.openxmlformats.org/officeDocument/2006/relationships/image" Target="../media/image6.png"/><Relationship Id="rId6" Type="http://schemas.openxmlformats.org/officeDocument/2006/relationships/tags" Target="../tags/tag131.xml"/><Relationship Id="rId5" Type="http://schemas.openxmlformats.org/officeDocument/2006/relationships/image" Target="file:///C:\Users\1V994W2\PycharmProjects\PPT_Background_Generation/pic_temp/0_pic_quater_left_up.png" TargetMode="External"/><Relationship Id="rId4" Type="http://schemas.openxmlformats.org/officeDocument/2006/relationships/image" Target="../media/image5.png"/><Relationship Id="rId3" Type="http://schemas.openxmlformats.org/officeDocument/2006/relationships/tags" Target="../tags/tag130.xml"/><Relationship Id="rId2" Type="http://schemas.openxmlformats.org/officeDocument/2006/relationships/tags" Target="../tags/tag129.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137.xm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solidFill>
        <a:effectLst/>
      </p:bgPr>
    </p:bg>
    <p:spTree>
      <p:nvGrpSpPr>
        <p:cNvPr id="1" name=""/>
        <p:cNvGrpSpPr/>
        <p:nvPr/>
      </p:nvGrpSpPr>
      <p:grpSpPr>
        <a:xfrm>
          <a:off x="0" y="0"/>
          <a:ext cx="0" cy="0"/>
          <a:chOff x="0" y="0"/>
          <a:chExt cx="0" cy="0"/>
        </a:xfrm>
      </p:grpSpPr>
      <p:pic>
        <p:nvPicPr>
          <p:cNvPr id="5" name="图片 4"/>
          <p:cNvPicPr/>
          <p:nvPr userDrawn="1">
            <p:custDataLst>
              <p:tags r:id="rId2"/>
            </p:custDataLst>
          </p:nvPr>
        </p:nvPicPr>
        <p:blipFill>
          <a:blip r:embed="rId3" r:link="rId4" cstate="email"/>
          <a:stretch>
            <a:fillRect/>
          </a:stretch>
        </p:blipFill>
        <p:spPr>
          <a:xfrm>
            <a:off x="0" y="0"/>
            <a:ext cx="12192000" cy="6858000"/>
          </a:xfrm>
          <a:prstGeom prst="rect">
            <a:avLst/>
          </a:prstGeom>
        </p:spPr>
      </p:pic>
      <p:sp>
        <p:nvSpPr>
          <p:cNvPr id="16" name="日期占位符 15"/>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
        <p:nvSpPr>
          <p:cNvPr id="3" name="标题 2"/>
          <p:cNvSpPr>
            <a:spLocks noGrp="1"/>
          </p:cNvSpPr>
          <p:nvPr>
            <p:ph type="ctrTitle" idx="14" hasCustomPrompt="1"/>
            <p:custDataLst>
              <p:tags r:id="rId8"/>
            </p:custDataLst>
          </p:nvPr>
        </p:nvSpPr>
        <p:spPr>
          <a:xfrm>
            <a:off x="2921000" y="2746375"/>
            <a:ext cx="6350000" cy="1330960"/>
          </a:xfrm>
        </p:spPr>
        <p:txBody>
          <a:bodyPr vert="horz" wrap="square" lIns="91440" tIns="45720" rIns="91440" bIns="45720" anchor="b" anchorCtr="0">
            <a:normAutofit/>
          </a:bodyPr>
          <a:lstStyle>
            <a:lvl1pPr marL="0" marR="0" indent="0" algn="dist" defTabSz="914400" rtl="0" eaLnBrk="1" fontAlgn="auto" latinLnBrk="0" hangingPunct="1">
              <a:lnSpc>
                <a:spcPct val="100000"/>
              </a:lnSpc>
              <a:spcBef>
                <a:spcPct val="0"/>
              </a:spcBef>
              <a:spcAft>
                <a:spcPts val="0"/>
              </a:spcAft>
              <a:buClrTx/>
              <a:buSzPts val="7200"/>
              <a:buFont typeface="Arial" panose="020B0604020202020204" pitchFamily="34" charset="0"/>
              <a:buNone/>
              <a:defRPr sz="7200" b="0" spc="-2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2" name="副标题 1"/>
          <p:cNvSpPr>
            <a:spLocks noGrp="1"/>
          </p:cNvSpPr>
          <p:nvPr>
            <p:ph type="subTitle" idx="13" hasCustomPrompt="1"/>
            <p:custDataLst>
              <p:tags r:id="rId9"/>
            </p:custDataLst>
          </p:nvPr>
        </p:nvSpPr>
        <p:spPr>
          <a:xfrm>
            <a:off x="2921001" y="4376932"/>
            <a:ext cx="6350000" cy="468120"/>
          </a:xfrm>
        </p:spPr>
        <p:txBody>
          <a:bodyPr vert="horz" wrap="square" lIns="91440" tIns="45720" rIns="91440" bIns="45720" anchor="t" anchorCtr="0">
            <a:normAutofit/>
          </a:bodyPr>
          <a:lstStyle>
            <a:lvl1pPr marL="0" marR="0" indent="0" algn="ctr" defTabSz="914400" rtl="0" eaLnBrk="1" fontAlgn="auto" latinLnBrk="0" hangingPunct="1">
              <a:lnSpc>
                <a:spcPct val="100000"/>
              </a:lnSpc>
              <a:spcBef>
                <a:spcPts val="0"/>
              </a:spcBef>
              <a:spcAft>
                <a:spcPts val="0"/>
              </a:spcAft>
              <a:buClrTx/>
              <a:buSzPts val="2000"/>
              <a:buFont typeface="Arial" panose="020B0604020202020204" pitchFamily="34" charset="0"/>
              <a:buNone/>
              <a:defRPr sz="2000" b="0" spc="200">
                <a:solidFill>
                  <a:schemeClr val="tx1">
                    <a:lumMod val="85000"/>
                    <a:lumOff val="15000"/>
                  </a:schemeClr>
                </a:solidFill>
                <a:latin typeface="Arial" panose="020B0604020202020204" pitchFamily="34" charset="0"/>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endParaRPr lang="zh-CN" altLang="en-US" dirty="0"/>
          </a:p>
        </p:txBody>
      </p:sp>
      <p:cxnSp>
        <p:nvCxnSpPr>
          <p:cNvPr id="6" name="直接连接符 5"/>
          <p:cNvCxnSpPr/>
          <p:nvPr userDrawn="1">
            <p:custDataLst>
              <p:tags r:id="rId10"/>
            </p:custDataLst>
          </p:nvPr>
        </p:nvCxnSpPr>
        <p:spPr>
          <a:xfrm>
            <a:off x="3107055" y="4280535"/>
            <a:ext cx="5977890"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18" name="灯片编号占位符 17"/>
          <p:cNvSpPr>
            <a:spLocks noGrp="1"/>
          </p:cNvSpPr>
          <p:nvPr>
            <p:ph type="sldNum" sz="quarter" idx="12"/>
            <p:custDataLst>
              <p:tags r:id="rId2"/>
            </p:custDataLst>
          </p:nvPr>
        </p:nvSpPr>
        <p:spPr>
          <a:xfrm>
            <a:off x="8733493" y="6366031"/>
            <a:ext cx="2700000" cy="316800"/>
          </a:xfrm>
        </p:spPr>
        <p:txBody>
          <a:bodyPr wrap="square">
            <a:noAutofit/>
          </a:bodyPr>
          <a:lstStyle>
            <a:lvl1pPr>
              <a:defRPr sz="1600">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zh-CN" altLang="en-US" dirty="0"/>
          </a:p>
        </p:txBody>
      </p:sp>
      <p:sp>
        <p:nvSpPr>
          <p:cNvPr id="7" name="文本框 6"/>
          <p:cNvSpPr txBox="1"/>
          <p:nvPr userDrawn="1"/>
        </p:nvSpPr>
        <p:spPr>
          <a:xfrm>
            <a:off x="4816425" y="6359068"/>
            <a:ext cx="2559149" cy="338554"/>
          </a:xfrm>
          <a:prstGeom prst="rect">
            <a:avLst/>
          </a:prstGeom>
          <a:noFill/>
        </p:spPr>
        <p:txBody>
          <a:bodyPr wrap="square" rtlCol="0">
            <a:spAutoFit/>
          </a:bodyPr>
          <a:lstStyle/>
          <a:p>
            <a:pPr algn="ctr"/>
            <a:r>
              <a:rPr lang="zh-CN" altLang="en-US" sz="1600" kern="0" baseline="0" dirty="0">
                <a:solidFill>
                  <a:srgbClr val="004E98"/>
                </a:solidFill>
                <a:latin typeface="+mj-lt"/>
                <a:ea typeface="宋体" panose="02010600030101010101" pitchFamily="2" charset="-122"/>
              </a:rPr>
              <a:t>本科毕业论文开题答辩</a:t>
            </a:r>
            <a:endParaRPr lang="zh-CN" altLang="en-US" sz="1600" kern="0" baseline="0" dirty="0">
              <a:solidFill>
                <a:srgbClr val="004E98"/>
              </a:solidFill>
              <a:latin typeface="+mj-lt"/>
              <a:ea typeface="宋体" panose="02010600030101010101" pitchFamily="2" charset="-122"/>
            </a:endParaRPr>
          </a:p>
        </p:txBody>
      </p:sp>
      <p:cxnSp>
        <p:nvCxnSpPr>
          <p:cNvPr id="8" name="直接连接符 7"/>
          <p:cNvCxnSpPr/>
          <p:nvPr userDrawn="1"/>
        </p:nvCxnSpPr>
        <p:spPr>
          <a:xfrm>
            <a:off x="695325" y="6308875"/>
            <a:ext cx="10738168" cy="0"/>
          </a:xfrm>
          <a:prstGeom prst="line">
            <a:avLst/>
          </a:prstGeom>
          <a:ln>
            <a:solidFill>
              <a:srgbClr val="004E98"/>
            </a:solidFill>
          </a:ln>
        </p:spPr>
        <p:style>
          <a:lnRef idx="1">
            <a:schemeClr val="accent1"/>
          </a:lnRef>
          <a:fillRef idx="0">
            <a:schemeClr val="accent1"/>
          </a:fillRef>
          <a:effectRef idx="0">
            <a:schemeClr val="accent1"/>
          </a:effectRef>
          <a:fontRef idx="minor">
            <a:schemeClr val="tx1"/>
          </a:fontRef>
        </p:style>
      </p:cxnSp>
      <p:pic>
        <p:nvPicPr>
          <p:cNvPr id="2" name="Picture 2 1"/>
          <p:cNvPicPr>
            <a:picLocks noChangeAspect="1" noChangeArrowheads="1"/>
          </p:cNvPicPr>
          <p:nvPr userDrawn="1"/>
        </p:nvPicPr>
        <p:blipFill>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695325" y="6358508"/>
            <a:ext cx="2465805" cy="451849"/>
          </a:xfrm>
          <a:prstGeom prst="rect">
            <a:avLst/>
          </a:prstGeom>
          <a:noFill/>
          <a:extLst>
            <a:ext uri="{909E8E84-426E-40DD-AFC4-6F175D3DCCD1}">
              <a14:hiddenFill xmlns:a14="http://schemas.microsoft.com/office/drawing/2010/main">
                <a:solidFill>
                  <a:srgbClr val="FFFFFF"/>
                </a:solidFill>
              </a14:hiddenFill>
            </a:ext>
          </a:extLst>
        </p:spPr>
      </p:pic>
      <p:sp>
        <p:nvSpPr>
          <p:cNvPr id="3" name="平行四边形 2"/>
          <p:cNvSpPr/>
          <p:nvPr userDrawn="1"/>
        </p:nvSpPr>
        <p:spPr>
          <a:xfrm>
            <a:off x="963386" y="0"/>
            <a:ext cx="11228097" cy="685800"/>
          </a:xfrm>
          <a:prstGeom prst="parallelogram">
            <a:avLst>
              <a:gd name="adj" fmla="val 44445"/>
            </a:avLst>
          </a:prstGeom>
          <a:solidFill>
            <a:srgbClr val="0F6D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Picture 10"/>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17035" y="1"/>
            <a:ext cx="749618" cy="685800"/>
          </a:xfrm>
          <a:prstGeom prst="rect">
            <a:avLst/>
          </a:prstGeom>
          <a:noFill/>
          <a:extLst>
            <a:ext uri="{909E8E84-426E-40DD-AFC4-6F175D3DCCD1}">
              <a14:hiddenFill xmlns:a14="http://schemas.microsoft.com/office/drawing/2010/main">
                <a:solidFill>
                  <a:srgbClr val="FFFFFF"/>
                </a:solidFill>
              </a14:hiddenFill>
            </a:ext>
          </a:extLst>
        </p:spPr>
      </p:pic>
      <p:sp>
        <p:nvSpPr>
          <p:cNvPr id="16" name="平行四边形 15"/>
          <p:cNvSpPr/>
          <p:nvPr userDrawn="1"/>
        </p:nvSpPr>
        <p:spPr>
          <a:xfrm>
            <a:off x="11501400" y="113732"/>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平行四边形 16"/>
          <p:cNvSpPr/>
          <p:nvPr userDrawn="1"/>
        </p:nvSpPr>
        <p:spPr>
          <a:xfrm>
            <a:off x="11089348" y="316477"/>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标题 1"/>
          <p:cNvSpPr>
            <a:spLocks noGrp="1"/>
          </p:cNvSpPr>
          <p:nvPr>
            <p:ph type="title"/>
            <p:custDataLst>
              <p:tags r:id="rId6"/>
            </p:custDataLst>
          </p:nvPr>
        </p:nvSpPr>
        <p:spPr>
          <a:xfrm>
            <a:off x="3935999" y="103450"/>
            <a:ext cx="4320004"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7" name="图片 6"/>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email"/>
          <a:stretch>
            <a:fillRect/>
          </a:stretch>
        </p:blipFill>
        <p:spPr>
          <a:xfrm>
            <a:off x="8579555" y="1397000"/>
            <a:ext cx="3612445" cy="4064000"/>
          </a:xfrm>
          <a:prstGeom prst="rect">
            <a:avLst/>
          </a:prstGeom>
        </p:spPr>
      </p:pic>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
        <p:nvSpPr>
          <p:cNvPr id="3" name="标题 2"/>
          <p:cNvSpPr>
            <a:spLocks noGrp="1"/>
          </p:cNvSpPr>
          <p:nvPr>
            <p:ph type="ctrTitle" idx="14" hasCustomPrompt="1"/>
            <p:custDataLst>
              <p:tags r:id="rId8"/>
            </p:custDataLst>
          </p:nvPr>
        </p:nvSpPr>
        <p:spPr>
          <a:xfrm>
            <a:off x="1163956" y="2644457"/>
            <a:ext cx="5767705" cy="986445"/>
          </a:xfrm>
        </p:spPr>
        <p:txBody>
          <a:bodyPr vert="horz" wrap="square" lIns="91440" tIns="45720" rIns="91440" bIns="45720" anchor="b"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4800" b="0" spc="5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2" name="副标题 1"/>
          <p:cNvSpPr>
            <a:spLocks noGrp="1"/>
          </p:cNvSpPr>
          <p:nvPr>
            <p:ph type="subTitle" idx="13" hasCustomPrompt="1"/>
            <p:custDataLst>
              <p:tags r:id="rId9"/>
            </p:custDataLst>
          </p:nvPr>
        </p:nvSpPr>
        <p:spPr>
          <a:xfrm>
            <a:off x="1163956" y="3762393"/>
            <a:ext cx="5767705" cy="451152"/>
          </a:xfrm>
        </p:spPr>
        <p:txBody>
          <a:bodyPr vert="horz" wrap="square" lIns="91440" tIns="45720" rIns="91440" bIns="45720" anchor="t" anchorCtr="0">
            <a:normAutofit/>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spc="200">
                <a:solidFill>
                  <a:schemeClr val="tx1">
                    <a:lumMod val="85000"/>
                    <a:lumOff val="15000"/>
                  </a:schemeClr>
                </a:solidFill>
                <a:latin typeface="Arial" panose="020B0604020202020204" pitchFamily="34" charset="0"/>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endParaRPr lang="zh-CN" altLang="en-US"/>
          </a:p>
        </p:txBody>
      </p:sp>
      <p:cxnSp>
        <p:nvCxnSpPr>
          <p:cNvPr id="8" name="直接连接符 7"/>
          <p:cNvCxnSpPr/>
          <p:nvPr userDrawn="1">
            <p:custDataLst>
              <p:tags r:id="rId10"/>
            </p:custDataLst>
          </p:nvPr>
        </p:nvCxnSpPr>
        <p:spPr>
          <a:xfrm>
            <a:off x="1163955" y="3696653"/>
            <a:ext cx="6435090"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149642" y="0"/>
            <a:ext cx="1042358" cy="898726"/>
          </a:xfrm>
          <a:prstGeom prst="rect">
            <a:avLst/>
          </a:prstGeom>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8" name="图片 7"/>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6" name="页脚占位符 5"/>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10" name="图片 9"/>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8" name="页脚占位符 7"/>
          <p:cNvSpPr>
            <a:spLocks noGrp="1"/>
          </p:cNvSpPr>
          <p:nvPr>
            <p:ph type="ftr" sz="quarter" idx="11"/>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email"/>
          <a:stretch>
            <a:fillRect/>
          </a:stretch>
        </p:blipFill>
        <p:spPr>
          <a:xfrm>
            <a:off x="304800" y="2194560"/>
            <a:ext cx="4389120" cy="2468880"/>
          </a:xfrm>
          <a:prstGeom prst="rect">
            <a:avLst/>
          </a:prstGeom>
        </p:spPr>
      </p:pic>
      <p:sp>
        <p:nvSpPr>
          <p:cNvPr id="6" name="任意多边形 6"/>
          <p:cNvSpPr/>
          <p:nvPr userDrawn="1">
            <p:custDataLst>
              <p:tags r:id="rId5"/>
            </p:custDataLst>
          </p:nvPr>
        </p:nvSpPr>
        <p:spPr>
          <a:xfrm>
            <a:off x="4878000" y="0"/>
            <a:ext cx="73140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a:solidFill>
                  <a:schemeClr val="accent1">
                    <a:shade val="5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 name="标题 1"/>
          <p:cNvSpPr>
            <a:spLocks noGrp="1"/>
          </p:cNvSpPr>
          <p:nvPr>
            <p:ph type="title"/>
            <p:custDataLst>
              <p:tags r:id="rId6"/>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3" name="页脚占位符 2"/>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8" name="图片 7"/>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2" name="标题 1"/>
          <p:cNvSpPr>
            <a:spLocks noGrp="1"/>
          </p:cNvSpPr>
          <p:nvPr>
            <p:ph type="title"/>
            <p:custDataLst>
              <p:tags r:id="rId8"/>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zh-CN" alt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7" name="图片 6"/>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2" name="竖排标题 1"/>
          <p:cNvSpPr>
            <a:spLocks noGrp="1"/>
          </p:cNvSpPr>
          <p:nvPr>
            <p:ph type="title" orient="vert"/>
            <p:custDataLst>
              <p:tags r:id="rId8"/>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6" name="图片 5"/>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3" name="日期占位符 2"/>
          <p:cNvSpPr>
            <a:spLocks noGrp="1"/>
          </p:cNvSpPr>
          <p:nvPr>
            <p:ph type="dt" sz="half" idx="10"/>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zh-CN" altLang="en-US" dirty="0"/>
          </a:p>
        </p:txBody>
      </p:sp>
      <p:sp>
        <p:nvSpPr>
          <p:cNvPr id="7" name="内容占位符 6"/>
          <p:cNvSpPr>
            <a:spLocks noGrp="1"/>
          </p:cNvSpPr>
          <p:nvPr>
            <p:ph sz="quarter" idx="13"/>
            <p:custDataLst>
              <p:tags r:id="rId11"/>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cstate="email"/>
          <a:stretch>
            <a:fillRect/>
          </a:stretch>
        </p:blipFill>
        <p:spPr>
          <a:xfrm>
            <a:off x="0" y="0"/>
            <a:ext cx="12192000" cy="6858000"/>
          </a:xfrm>
          <a:prstGeom prst="rect">
            <a:avLst/>
          </a:prstGeom>
        </p:spPr>
      </p:pic>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
        <p:nvSpPr>
          <p:cNvPr id="7" name="文本占位符 6"/>
          <p:cNvSpPr>
            <a:spLocks noGrp="1"/>
          </p:cNvSpPr>
          <p:nvPr>
            <p:ph type="body" idx="14" hasCustomPrompt="1"/>
            <p:custDataLst>
              <p:tags r:id="rId8"/>
            </p:custDataLst>
          </p:nvPr>
        </p:nvSpPr>
        <p:spPr>
          <a:xfrm>
            <a:off x="2920683" y="3678238"/>
            <a:ext cx="6350000" cy="1103630"/>
          </a:xfrm>
        </p:spPr>
        <p:txBody>
          <a:bodyPr vert="horz" wrap="square" lIns="91440" tIns="45720" rIns="91440" bIns="45720" anchor="t" anchorCtr="0">
            <a:normAutofit/>
          </a:bodyPr>
          <a:lstStyle>
            <a:lvl1pPr marL="0" marR="0" indent="0" algn="ctr" rtl="0" eaLnBrk="1" fontAlgn="auto">
              <a:lnSpc>
                <a:spcPct val="120000"/>
              </a:lnSpc>
              <a:spcBef>
                <a:spcPts val="0"/>
              </a:spcBef>
              <a:spcAft>
                <a:spcPts val="0"/>
              </a:spcAft>
              <a:buClrTx/>
              <a:buSzPts val="1800"/>
              <a:buFont typeface="Arial" panose="020B0604020202020204" pitchFamily="34" charset="0"/>
              <a:buNone/>
              <a:defRPr sz="1800" b="0" spc="200">
                <a:solidFill>
                  <a:schemeClr val="tx1">
                    <a:lumMod val="85000"/>
                    <a:lumOff val="15000"/>
                  </a:schemeClr>
                </a:solidFill>
                <a:latin typeface="Arial" panose="020B0604020202020204" pitchFamily="34" charset="0"/>
                <a:ea typeface="微软雅黑" panose="020B0503020204020204" charset="-122"/>
              </a:defRPr>
            </a:lvl1pPr>
          </a:lstStyle>
          <a:p>
            <a:pPr marL="228600" lvl="0" indent="-228600" algn="l" defTabSz="914400" rtl="0" eaLnBrk="1" fontAlgn="auto" latinLnBrk="0" hangingPunct="1">
              <a:lnSpc>
                <a:spcPct val="130000"/>
              </a:lnSpc>
              <a:spcBef>
                <a:spcPts val="0"/>
              </a:spcBef>
              <a:spcAft>
                <a:spcPts val="1000"/>
              </a:spcAft>
              <a:buClr>
                <a:schemeClr val="tx1">
                  <a:lumMod val="65000"/>
                  <a:lumOff val="35000"/>
                </a:schemeClr>
              </a:buClr>
              <a:buSzPts val="1800"/>
              <a:buFont typeface="Arial" panose="020B0604020202020204" pitchFamily="34" charset="0"/>
              <a:buNone/>
            </a:pPr>
            <a:r>
              <a:rPr lang="zh-CN" altLang="en-US" dirty="0"/>
              <a:t>单击此处编辑文本</a:t>
            </a:r>
            <a:endParaRPr lang="zh-CN" altLang="en-US" dirty="0"/>
          </a:p>
        </p:txBody>
      </p:sp>
      <p:sp>
        <p:nvSpPr>
          <p:cNvPr id="2" name="标题 1"/>
          <p:cNvSpPr>
            <a:spLocks noGrp="1"/>
          </p:cNvSpPr>
          <p:nvPr>
            <p:ph type="title" idx="13" hasCustomPrompt="1"/>
            <p:custDataLst>
              <p:tags r:id="rId9"/>
            </p:custDataLst>
          </p:nvPr>
        </p:nvSpPr>
        <p:spPr>
          <a:xfrm>
            <a:off x="2920683" y="2076133"/>
            <a:ext cx="6350635" cy="1398905"/>
          </a:xfrm>
        </p:spPr>
        <p:txBody>
          <a:bodyPr vert="horz" wrap="square" lIns="91440" tIns="45720" rIns="91440" bIns="45720" anchor="b" anchorCtr="0">
            <a:normAutofit/>
          </a:bodyPr>
          <a:lstStyle>
            <a:lvl1pPr marL="0" marR="0" indent="0" algn="ctr" defTabSz="914400" rtl="0" eaLnBrk="1" fontAlgn="auto" latinLnBrk="0" hangingPunct="1">
              <a:lnSpc>
                <a:spcPct val="100000"/>
              </a:lnSpc>
              <a:spcBef>
                <a:spcPct val="0"/>
              </a:spcBef>
              <a:spcAft>
                <a:spcPts val="0"/>
              </a:spcAft>
              <a:buClrTx/>
              <a:buSzPts val="8000"/>
              <a:buNone/>
              <a:defRPr sz="8000" b="0" spc="10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cstate="email"/>
          <a:stretch>
            <a:fillRect/>
          </a:stretch>
        </p:blipFill>
        <p:spPr>
          <a:xfrm>
            <a:off x="0" y="0"/>
            <a:ext cx="720090" cy="682332"/>
          </a:xfrm>
          <a:prstGeom prst="rect">
            <a:avLst/>
          </a:prstGeom>
        </p:spPr>
      </p:pic>
      <p:pic>
        <p:nvPicPr>
          <p:cNvPr id="6" name="图片 5"/>
          <p:cNvPicPr/>
          <p:nvPr userDrawn="1">
            <p:custDataLst>
              <p:tags r:id="rId5"/>
            </p:custDataLst>
          </p:nvPr>
        </p:nvPicPr>
        <p:blipFill>
          <a:blip r:embed="rId6" r:link="rId7" cstate="email"/>
          <a:stretch>
            <a:fillRect/>
          </a:stretch>
        </p:blipFill>
        <p:spPr>
          <a:xfrm>
            <a:off x="11471910" y="0"/>
            <a:ext cx="720090" cy="492570"/>
          </a:xfrm>
          <a:prstGeom prst="rect">
            <a:avLst/>
          </a:prstGeom>
        </p:spPr>
      </p:pic>
      <p:sp>
        <p:nvSpPr>
          <p:cNvPr id="2" name="标题 1"/>
          <p:cNvSpPr>
            <a:spLocks noGrp="1"/>
          </p:cNvSpPr>
          <p:nvPr>
            <p:ph type="title"/>
            <p:custDataLst>
              <p:tags r:id="rId8"/>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sym typeface="+mn-ea"/>
              </a:rPr>
              <a:t>/19</a:t>
            </a:r>
            <a:endParaRPr lang="en-US" altLang="zh-CN" dirty="0"/>
          </a:p>
          <a:p>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92075" y="303809"/>
            <a:ext cx="11607851" cy="6250382"/>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3"/>
            </p:custDataLst>
          </p:nvPr>
        </p:nvPicPr>
        <p:blipFill>
          <a:blip r:embed="rId4" r:link="rId5" cstate="email"/>
          <a:stretch>
            <a:fillRect/>
          </a:stretch>
        </p:blipFill>
        <p:spPr>
          <a:xfrm>
            <a:off x="0" y="0"/>
            <a:ext cx="720090" cy="682332"/>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492570"/>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4824603"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7"/>
          <p:cNvPicPr/>
          <p:nvPr userDrawn="1">
            <p:custDataLst>
              <p:tags r:id="rId3"/>
            </p:custDataLst>
          </p:nvPr>
        </p:nvPicPr>
        <p:blipFill>
          <a:blip r:embed="rId4" r:link="rId5" cstate="email"/>
          <a:stretch>
            <a:fillRect/>
          </a:stretch>
        </p:blipFill>
        <p:spPr>
          <a:xfrm>
            <a:off x="11471910" y="0"/>
            <a:ext cx="720090" cy="682332"/>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3"/>
            </p:custDataLst>
          </p:nvPr>
        </p:nvPicPr>
        <p:blipFill>
          <a:blip r:embed="rId4" r:link="rId5" cstate="email"/>
          <a:stretch>
            <a:fillRect/>
          </a:stretch>
        </p:blipFill>
        <p:spPr>
          <a:xfrm>
            <a:off x="0" y="0"/>
            <a:ext cx="720090" cy="682332"/>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492570"/>
          </a:xfrm>
          <a:prstGeom prst="rect">
            <a:avLst/>
          </a:prstGeom>
        </p:spPr>
      </p:pic>
      <p:sp>
        <p:nvSpPr>
          <p:cNvPr id="2" name="标题 1"/>
          <p:cNvSpPr>
            <a:spLocks noGrp="1"/>
          </p:cNvSpPr>
          <p:nvPr>
            <p:ph type="title"/>
            <p:custDataLst>
              <p:tags r:id="rId9"/>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12192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3"/>
            </p:custDataLst>
          </p:nvPr>
        </p:nvPicPr>
        <p:blipFill>
          <a:blip r:embed="rId4" r:link="rId5" cstate="email"/>
          <a:stretch>
            <a:fillRect/>
          </a:stretch>
        </p:blipFill>
        <p:spPr>
          <a:xfrm>
            <a:off x="0" y="0"/>
            <a:ext cx="720090" cy="682332"/>
          </a:xfrm>
          <a:prstGeom prst="rect">
            <a:avLst/>
          </a:prstGeom>
        </p:spPr>
      </p:pic>
      <p:pic>
        <p:nvPicPr>
          <p:cNvPr id="8" name="图片 7"/>
          <p:cNvPicPr/>
          <p:nvPr userDrawn="1">
            <p:custDataLst>
              <p:tags r:id="rId6"/>
            </p:custDataLst>
          </p:nvPr>
        </p:nvPicPr>
        <p:blipFill>
          <a:blip r:embed="rId7" r:link="rId8" cstate="email"/>
          <a:stretch>
            <a:fillRect/>
          </a:stretch>
        </p:blipFill>
        <p:spPr>
          <a:xfrm>
            <a:off x="11471910" y="0"/>
            <a:ext cx="720090" cy="492570"/>
          </a:xfrm>
          <a:prstGeom prst="rect">
            <a:avLst/>
          </a:prstGeom>
        </p:spPr>
      </p:pic>
      <p:sp>
        <p:nvSpPr>
          <p:cNvPr id="2" name="标题 1"/>
          <p:cNvSpPr>
            <a:spLocks noGrp="1"/>
          </p:cNvSpPr>
          <p:nvPr>
            <p:ph type="title"/>
            <p:custDataLst>
              <p:tags r:id="rId9"/>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92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11"/>
          <p:cNvPicPr/>
          <p:nvPr userDrawn="1">
            <p:custDataLst>
              <p:tags r:id="rId3"/>
            </p:custDataLst>
          </p:nvPr>
        </p:nvPicPr>
        <p:blipFill>
          <a:blip r:embed="rId4" r:link="rId5" cstate="email"/>
          <a:stretch>
            <a:fillRect/>
          </a:stretch>
        </p:blipFill>
        <p:spPr>
          <a:xfrm>
            <a:off x="11471910" y="6175668"/>
            <a:ext cx="720090" cy="682332"/>
          </a:xfrm>
          <a:prstGeom prst="rect">
            <a:avLst/>
          </a:prstGeom>
        </p:spPr>
      </p:pic>
      <p:pic>
        <p:nvPicPr>
          <p:cNvPr id="10" name="图片 9"/>
          <p:cNvPicPr/>
          <p:nvPr userDrawn="1">
            <p:custDataLst>
              <p:tags r:id="rId6"/>
            </p:custDataLst>
          </p:nvPr>
        </p:nvPicPr>
        <p:blipFill>
          <a:blip r:embed="rId7" r:link="rId8" cstate="email"/>
          <a:stretch>
            <a:fillRect/>
          </a:stretch>
        </p:blipFill>
        <p:spPr>
          <a:xfrm>
            <a:off x="0" y="6365430"/>
            <a:ext cx="720090" cy="492570"/>
          </a:xfrm>
          <a:prstGeom prst="rect">
            <a:avLst/>
          </a:prstGeom>
        </p:spPr>
      </p:pic>
      <p:sp>
        <p:nvSpPr>
          <p:cNvPr id="2" name="标题 1"/>
          <p:cNvSpPr>
            <a:spLocks noGrp="1"/>
          </p:cNvSpPr>
          <p:nvPr>
            <p:ph type="title"/>
            <p:custDataLst>
              <p:tags r:id="rId9"/>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3691"/>
            <a:ext cx="12192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3"/>
            </p:custDataLst>
          </p:nvPr>
        </p:nvPicPr>
        <p:blipFill>
          <a:blip r:embed="rId4" r:link="rId5" cstate="email"/>
          <a:stretch>
            <a:fillRect/>
          </a:stretch>
        </p:blipFill>
        <p:spPr>
          <a:xfrm>
            <a:off x="10571797" y="5322752"/>
            <a:ext cx="1620202" cy="1535248"/>
          </a:xfrm>
          <a:prstGeom prst="rect">
            <a:avLst/>
          </a:prstGeom>
        </p:spPr>
      </p:pic>
      <p:pic>
        <p:nvPicPr>
          <p:cNvPr id="8" name="图片 7"/>
          <p:cNvPicPr/>
          <p:nvPr userDrawn="1">
            <p:custDataLst>
              <p:tags r:id="rId6"/>
            </p:custDataLst>
          </p:nvPr>
        </p:nvPicPr>
        <p:blipFill>
          <a:blip r:embed="rId7" r:link="rId8" cstate="email"/>
          <a:stretch>
            <a:fillRect/>
          </a:stretch>
        </p:blipFill>
        <p:spPr>
          <a:xfrm>
            <a:off x="0" y="5749718"/>
            <a:ext cx="1620202" cy="1108282"/>
          </a:xfrm>
          <a:prstGeom prst="rect">
            <a:avLst/>
          </a:prstGeom>
        </p:spPr>
      </p:pic>
      <p:sp>
        <p:nvSpPr>
          <p:cNvPr id="2" name="标题 1"/>
          <p:cNvSpPr>
            <a:spLocks noGrp="1"/>
          </p:cNvSpPr>
          <p:nvPr>
            <p:ph type="title" hasCustomPrompt="1"/>
            <p:custDataLst>
              <p:tags r:id="rId9"/>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校徽空白">
    <p:bg>
      <p:bgPr>
        <a:solidFill>
          <a:schemeClr val="bg1">
            <a:alpha val="99000"/>
          </a:schemeClr>
        </a:solidFill>
        <a:effectLst/>
      </p:bgPr>
    </p:bg>
    <p:spTree>
      <p:nvGrpSpPr>
        <p:cNvPr id="1" name=""/>
        <p:cNvGrpSpPr/>
        <p:nvPr/>
      </p:nvGrpSpPr>
      <p:grpSpPr>
        <a:xfrm>
          <a:off x="0" y="0"/>
          <a:ext cx="0" cy="0"/>
          <a:chOff x="0" y="0"/>
          <a:chExt cx="0" cy="0"/>
        </a:xfrm>
      </p:grpSpPr>
      <p:sp>
        <p:nvSpPr>
          <p:cNvPr id="18" name="灯片编号占位符 17"/>
          <p:cNvSpPr>
            <a:spLocks noGrp="1"/>
          </p:cNvSpPr>
          <p:nvPr>
            <p:ph type="sldNum" sz="quarter" idx="12"/>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23E2A7A-06EE-4B90-8FCA-EA7A5ACFD9A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2DFAA2C-C792-4D70-A6EA-D55D7E85EC4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tags" Target="../tags/tag143.xml"/><Relationship Id="rId26" Type="http://schemas.openxmlformats.org/officeDocument/2006/relationships/tags" Target="../tags/tag142.xml"/><Relationship Id="rId25" Type="http://schemas.openxmlformats.org/officeDocument/2006/relationships/tags" Target="../tags/tag141.xml"/><Relationship Id="rId24" Type="http://schemas.openxmlformats.org/officeDocument/2006/relationships/tags" Target="../tags/tag140.xml"/><Relationship Id="rId23" Type="http://schemas.openxmlformats.org/officeDocument/2006/relationships/tags" Target="../tags/tag139.xml"/><Relationship Id="rId22" Type="http://schemas.openxmlformats.org/officeDocument/2006/relationships/tags" Target="../tags/tag138.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2"/>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3"/>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4"/>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6"/>
            </p:custDataLst>
          </p:nvPr>
        </p:nvSpPr>
        <p:spPr>
          <a:xfrm>
            <a:off x="8822055" y="443063"/>
            <a:ext cx="2700000" cy="316800"/>
          </a:xfrm>
          <a:prstGeom prst="rect">
            <a:avLst/>
          </a:prstGeom>
        </p:spPr>
        <p:txBody>
          <a:bodyPr vert="horz" wrap="square" lIns="91440" tIns="45720" rIns="91440" bIns="45720" rtlCol="0" anchor="ctr">
            <a:noAutofit/>
          </a:bodyPr>
          <a:lstStyle>
            <a:lvl1pPr algn="r">
              <a:defRPr sz="20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r>
              <a:rPr lang="en-US" altLang="zh-CN" dirty="0"/>
              <a:t>/19</a:t>
            </a:r>
            <a:endParaRPr lang="en-US" altLang="zh-CN" dirty="0"/>
          </a:p>
        </p:txBody>
      </p:sp>
      <p:sp>
        <p:nvSpPr>
          <p:cNvPr id="7" name="KSO_TEMPLATE" hidden="1"/>
          <p:cNvSpPr/>
          <p:nvPr userDrawn="1">
            <p:custDataLst>
              <p:tags r:id="rId2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1.xml"/><Relationship Id="rId1" Type="http://schemas.openxmlformats.org/officeDocument/2006/relationships/image" Target="../media/image10.png"/></Relationships>
</file>

<file path=ppt/slides/_rels/slide2.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5" Type="http://schemas.openxmlformats.org/officeDocument/2006/relationships/notesSlide" Target="../notesSlides/notesSlide2.xml"/><Relationship Id="rId24" Type="http://schemas.openxmlformats.org/officeDocument/2006/relationships/slideLayout" Target="../slideLayouts/slideLayout7.xml"/><Relationship Id="rId23" Type="http://schemas.openxmlformats.org/officeDocument/2006/relationships/tags" Target="../tags/tag165.xml"/><Relationship Id="rId22" Type="http://schemas.openxmlformats.org/officeDocument/2006/relationships/tags" Target="../tags/tag164.xml"/><Relationship Id="rId21" Type="http://schemas.openxmlformats.org/officeDocument/2006/relationships/tags" Target="../tags/tag163.xml"/><Relationship Id="rId20" Type="http://schemas.openxmlformats.org/officeDocument/2006/relationships/tags" Target="../tags/tag162.xml"/><Relationship Id="rId2" Type="http://schemas.openxmlformats.org/officeDocument/2006/relationships/tags" Target="../tags/tag145.xml"/><Relationship Id="rId19" Type="http://schemas.openxmlformats.org/officeDocument/2006/relationships/tags" Target="../tags/tag161.xml"/><Relationship Id="rId18" Type="http://schemas.openxmlformats.org/officeDocument/2006/relationships/tags" Target="../tags/tag160.xml"/><Relationship Id="rId17" Type="http://schemas.openxmlformats.org/officeDocument/2006/relationships/image" Target="../media/image8.png"/><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tags" Target="../tags/tag14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5" Type="http://schemas.openxmlformats.org/officeDocument/2006/relationships/notesSlide" Target="../notesSlides/notesSlide7.xml"/><Relationship Id="rId24" Type="http://schemas.openxmlformats.org/officeDocument/2006/relationships/slideLayout" Target="../slideLayouts/slideLayout2.xml"/><Relationship Id="rId23" Type="http://schemas.openxmlformats.org/officeDocument/2006/relationships/image" Target="../media/image11.png"/><Relationship Id="rId22" Type="http://schemas.openxmlformats.org/officeDocument/2006/relationships/tags" Target="../tags/tag187.xml"/><Relationship Id="rId21" Type="http://schemas.openxmlformats.org/officeDocument/2006/relationships/tags" Target="../tags/tag186.xml"/><Relationship Id="rId20" Type="http://schemas.openxmlformats.org/officeDocument/2006/relationships/tags" Target="../tags/tag185.xml"/><Relationship Id="rId2" Type="http://schemas.openxmlformats.org/officeDocument/2006/relationships/tags" Target="../tags/tag167.xml"/><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tags" Target="../tags/tag179.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tags" Target="../tags/tag16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image" Target="../media/image11.png"/><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image" Target="../media/image11.png"/><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20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9" Type="http://schemas.openxmlformats.org/officeDocument/2006/relationships/tags" Target="../tags/tag209.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5" Type="http://schemas.openxmlformats.org/officeDocument/2006/relationships/notesSlide" Target="../notesSlides/notesSlide10.xml"/><Relationship Id="rId14" Type="http://schemas.openxmlformats.org/officeDocument/2006/relationships/slideLayout" Target="../slideLayouts/slideLayout2.xml"/><Relationship Id="rId13" Type="http://schemas.openxmlformats.org/officeDocument/2006/relationships/image" Target="../media/image11.png"/><Relationship Id="rId12" Type="http://schemas.openxmlformats.org/officeDocument/2006/relationships/tags" Target="../tags/tag212.xml"/><Relationship Id="rId11" Type="http://schemas.openxmlformats.org/officeDocument/2006/relationships/tags" Target="../tags/tag211.xml"/><Relationship Id="rId10" Type="http://schemas.openxmlformats.org/officeDocument/2006/relationships/tags" Target="../tags/tag210.xml"/><Relationship Id="rId1" Type="http://schemas.openxmlformats.org/officeDocument/2006/relationships/tags" Target="../tags/tag20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3393"/>
            <a:ext cx="12192000" cy="5630286"/>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131349" y="1772151"/>
            <a:ext cx="6208593" cy="191452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srgbClr val="035A80"/>
                </a:solidFill>
                <a:latin typeface="方正大标宋_GBK" panose="03000509000000000000" pitchFamily="65" charset="-122"/>
                <a:ea typeface="方正大标宋_GBK" panose="03000509000000000000" pitchFamily="65" charset="-122"/>
              </a:rPr>
              <a:t>本科毕业论文中期答辩</a:t>
            </a:r>
            <a:endParaRPr lang="en-US" altLang="zh-CN" sz="4400" b="1" dirty="0">
              <a:solidFill>
                <a:srgbClr val="035A80"/>
              </a:solidFill>
              <a:latin typeface="方正大标宋_GBK" panose="03000509000000000000" pitchFamily="65" charset="-122"/>
              <a:ea typeface="方正大标宋_GBK" panose="03000509000000000000" pitchFamily="65"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050" b="1" i="0" u="none" strike="noStrike" kern="1200" cap="none" spc="0" normalizeH="0" baseline="0" noProof="0" dirty="0">
              <a:ln>
                <a:noFill/>
              </a:ln>
              <a:solidFill>
                <a:srgbClr val="035A80"/>
              </a:solidFill>
              <a:effectLst/>
              <a:uLnTx/>
              <a:uFillTx/>
              <a:latin typeface="黑体" panose="02010609060101010101" charset="-122"/>
              <a:ea typeface="黑体" panose="02010609060101010101"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35A80"/>
                </a:solidFill>
                <a:effectLst/>
                <a:uLnTx/>
                <a:uFillTx/>
                <a:latin typeface="黑体" panose="02010609060101010101" charset="-122"/>
                <a:ea typeface="黑体" panose="02010609060101010101" charset="-122"/>
              </a:rPr>
              <a:t>题目：</a:t>
            </a:r>
            <a:r>
              <a:rPr lang="en-US" altLang="zh-CN" sz="3200" b="1" dirty="0">
                <a:solidFill>
                  <a:srgbClr val="035A80"/>
                </a:solidFill>
                <a:latin typeface="黑体" panose="02010609060101010101" charset="-122"/>
                <a:ea typeface="黑体" panose="02010609060101010101" charset="-122"/>
              </a:rPr>
              <a:t>基于掩星数据的气象要素反演系统设计与实现</a:t>
            </a:r>
            <a:endParaRPr kumimoji="0" lang="zh-CN" altLang="en-US" sz="2800" b="1" i="0" u="none" strike="noStrike" kern="1200" cap="none" spc="0" normalizeH="0" baseline="0" noProof="0" dirty="0">
              <a:ln>
                <a:noFill/>
              </a:ln>
              <a:solidFill>
                <a:srgbClr val="035A80"/>
              </a:solidFill>
              <a:effectLst/>
              <a:uLnTx/>
              <a:uFillTx/>
              <a:latin typeface="黑体" panose="02010609060101010101" charset="-122"/>
              <a:ea typeface="黑体" panose="02010609060101010101" charset="-122"/>
            </a:endParaRPr>
          </a:p>
        </p:txBody>
      </p:sp>
      <p:sp>
        <p:nvSpPr>
          <p:cNvPr id="13" name="矩形 12"/>
          <p:cNvSpPr/>
          <p:nvPr/>
        </p:nvSpPr>
        <p:spPr>
          <a:xfrm>
            <a:off x="0" y="5630286"/>
            <a:ext cx="12192000" cy="1227713"/>
          </a:xfrm>
          <a:prstGeom prst="rect">
            <a:avLst/>
          </a:prstGeom>
          <a:solidFill>
            <a:srgbClr val="035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12" name="文本框 11"/>
          <p:cNvSpPr txBox="1"/>
          <p:nvPr/>
        </p:nvSpPr>
        <p:spPr>
          <a:xfrm>
            <a:off x="4586093" y="6100176"/>
            <a:ext cx="3048000"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rPr>
              <a:t>规格严格 </a:t>
            </a:r>
            <a:r>
              <a:rPr kumimoji="0" lang="en-US" altLang="zh-CN"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rPr>
              <a:t>|</a:t>
            </a:r>
            <a:r>
              <a:rPr kumimoji="0" lang="zh-CN" altLang="en-US"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rPr>
              <a:t> 功夫到家</a:t>
            </a:r>
            <a:endParaRPr kumimoji="0" lang="zh-CN" altLang="en-US"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endParaRPr>
          </a:p>
        </p:txBody>
      </p:sp>
      <p:grpSp>
        <p:nvGrpSpPr>
          <p:cNvPr id="23" name="组合 22"/>
          <p:cNvGrpSpPr/>
          <p:nvPr/>
        </p:nvGrpSpPr>
        <p:grpSpPr>
          <a:xfrm>
            <a:off x="4268948" y="3925335"/>
            <a:ext cx="3682290" cy="809099"/>
            <a:chOff x="3285725" y="4370615"/>
            <a:chExt cx="1826014" cy="927778"/>
          </a:xfrm>
        </p:grpSpPr>
        <p:sp>
          <p:nvSpPr>
            <p:cNvPr id="14" name="矩形 13"/>
            <p:cNvSpPr/>
            <p:nvPr/>
          </p:nvSpPr>
          <p:spPr>
            <a:xfrm>
              <a:off x="3285725" y="4370615"/>
              <a:ext cx="1826014" cy="927778"/>
            </a:xfrm>
            <a:prstGeom prst="rect">
              <a:avLst/>
            </a:prstGeom>
            <a:solidFill>
              <a:srgbClr val="035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方正大标宋_GBK" panose="03000509000000000000" pitchFamily="65" charset="-122"/>
                <a:ea typeface="方正大标宋_GBK" panose="03000509000000000000" pitchFamily="65" charset="-122"/>
                <a:cs typeface="+mn-cs"/>
              </a:endParaRPr>
            </a:p>
          </p:txBody>
        </p:sp>
        <p:sp>
          <p:nvSpPr>
            <p:cNvPr id="15" name="文本框 14"/>
            <p:cNvSpPr txBox="1"/>
            <p:nvPr/>
          </p:nvSpPr>
          <p:spPr>
            <a:xfrm>
              <a:off x="3362494" y="4471574"/>
              <a:ext cx="1675224" cy="670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宋体" panose="02010600030101010101" pitchFamily="2" charset="-122"/>
                  <a:ea typeface="宋体" panose="02010600030101010101" pitchFamily="2" charset="-122"/>
                </a:rPr>
                <a:t>汇报人</a:t>
              </a:r>
              <a:r>
                <a:rPr kumimoji="0" lang="zh-CN" altLang="en-US" sz="16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rPr>
                <a:t>：</a:t>
              </a:r>
              <a:r>
                <a:rPr lang="en-US" altLang="zh-CN" sz="1600" b="1" dirty="0">
                  <a:solidFill>
                    <a:srgbClr val="FFFFFF"/>
                  </a:solidFill>
                  <a:latin typeface="宋体" panose="02010600030101010101" pitchFamily="2" charset="-122"/>
                  <a:ea typeface="宋体" panose="02010600030101010101" pitchFamily="2" charset="-122"/>
                </a:rPr>
                <a:t>林逸飞</a:t>
              </a:r>
              <a:endParaRPr lang="en-US" altLang="zh-CN" sz="1600" b="1" dirty="0">
                <a:solidFill>
                  <a:srgbClr val="FFFFFF"/>
                </a:solidFill>
                <a:latin typeface="宋体" panose="02010600030101010101" pitchFamily="2" charset="-122"/>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rPr>
                <a:t>2026年3月</a:t>
              </a:r>
              <a:endParaRPr kumimoji="0" lang="en-US" altLang="zh-CN" sz="16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endParaRPr>
            </a:p>
          </p:txBody>
        </p:sp>
      </p:grpSp>
      <p:grpSp>
        <p:nvGrpSpPr>
          <p:cNvPr id="22" name="组合 21"/>
          <p:cNvGrpSpPr/>
          <p:nvPr/>
        </p:nvGrpSpPr>
        <p:grpSpPr>
          <a:xfrm>
            <a:off x="2852058" y="5628024"/>
            <a:ext cx="6487884" cy="148518"/>
            <a:chOff x="2950029" y="5627954"/>
            <a:chExt cx="6487884" cy="148518"/>
          </a:xfrm>
        </p:grpSpPr>
        <p:sp>
          <p:nvSpPr>
            <p:cNvPr id="18" name="矩形 17"/>
            <p:cNvSpPr/>
            <p:nvPr/>
          </p:nvSpPr>
          <p:spPr>
            <a:xfrm>
              <a:off x="2950029" y="5627955"/>
              <a:ext cx="1621971" cy="14851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19" name="矩形 18"/>
            <p:cNvSpPr/>
            <p:nvPr/>
          </p:nvSpPr>
          <p:spPr>
            <a:xfrm>
              <a:off x="4572000" y="5627954"/>
              <a:ext cx="1621971" cy="14851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20" name="矩形 19"/>
            <p:cNvSpPr/>
            <p:nvPr/>
          </p:nvSpPr>
          <p:spPr>
            <a:xfrm>
              <a:off x="6193971" y="5627957"/>
              <a:ext cx="1621971" cy="14851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21" name="矩形 20"/>
            <p:cNvSpPr/>
            <p:nvPr/>
          </p:nvSpPr>
          <p:spPr>
            <a:xfrm>
              <a:off x="7815942" y="5627956"/>
              <a:ext cx="1621971" cy="1485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grpSp>
      <p:pic>
        <p:nvPicPr>
          <p:cNvPr id="1026" name="Picture 2" descr="logo"/>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37974" y="632539"/>
            <a:ext cx="4944239" cy="8812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custDataLst>
              <p:tags r:id="rId1"/>
            </p:custDataLst>
          </p:nvPr>
        </p:nvSpPr>
        <p:spPr bwMode="auto">
          <a:xfrm>
            <a:off x="3945255" y="1453515"/>
            <a:ext cx="7210800" cy="768350"/>
          </a:xfrm>
          <a:prstGeom prst="roundRect">
            <a:avLst/>
          </a:prstGeom>
          <a:noFill/>
          <a:ln w="9525">
            <a:solidFill>
              <a:schemeClr val="bg1">
                <a:lumMod val="75000"/>
              </a:schemeClr>
            </a:solidFill>
            <a:round/>
          </a:ln>
        </p:spPr>
        <p:txBody>
          <a:bodyPr rot="0" spcFirstLastPara="0" vert="horz" wrap="square" lIns="91440" tIns="45720" rIns="91440" bIns="45720" anchor="ctr" anchorCtr="0" forceAA="0" compatLnSpc="1">
            <a:normAutofit/>
          </a:bodyPr>
          <a:lstStyle/>
          <a:p>
            <a:pPr algn="r">
              <a:lnSpc>
                <a:spcPct val="130000"/>
              </a:lnSpc>
            </a:pPr>
            <a:endParaRPr lang="en-US" altLang="zh-CN" sz="1100" dirty="0">
              <a:solidFill>
                <a:schemeClr val="tx1"/>
              </a:solidFill>
              <a:latin typeface="Arial" panose="020B0604020202020204" pitchFamily="34" charset="0"/>
              <a:ea typeface="微软雅黑" panose="020B0503020204020204" charset="-122"/>
            </a:endParaRPr>
          </a:p>
        </p:txBody>
      </p:sp>
      <p:sp>
        <p:nvSpPr>
          <p:cNvPr id="6" name="梯形 5"/>
          <p:cNvSpPr/>
          <p:nvPr>
            <p:custDataLst>
              <p:tags r:id="rId2"/>
            </p:custDataLst>
          </p:nvPr>
        </p:nvSpPr>
        <p:spPr bwMode="auto">
          <a:xfrm flipV="1">
            <a:off x="4300656" y="2220806"/>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7" name="梯形 6"/>
          <p:cNvSpPr/>
          <p:nvPr>
            <p:custDataLst>
              <p:tags r:id="rId3"/>
            </p:custDataLst>
          </p:nvPr>
        </p:nvSpPr>
        <p:spPr bwMode="auto">
          <a:xfrm>
            <a:off x="4306414" y="1377627"/>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8" name="矩形 7"/>
          <p:cNvSpPr/>
          <p:nvPr>
            <p:custDataLst>
              <p:tags r:id="rId4"/>
            </p:custDataLst>
          </p:nvPr>
        </p:nvSpPr>
        <p:spPr bwMode="auto">
          <a:xfrm>
            <a:off x="4510916" y="1373823"/>
            <a:ext cx="1027701" cy="924931"/>
          </a:xfrm>
          <a:prstGeom prst="rect">
            <a:avLst/>
          </a:prstGeom>
          <a:solidFill>
            <a:schemeClr val="bg1">
              <a:lumMod val="95000"/>
            </a:schemeClr>
          </a:solidFill>
          <a:ln w="19050">
            <a:noFill/>
            <a:round/>
          </a:ln>
        </p:spPr>
        <p:txBody>
          <a:bodyPr rot="0" spcFirstLastPara="0" vert="horz" wrap="square" lIns="91440" tIns="45720" rIns="91440" bIns="45720" anchor="ctr" anchorCtr="0" forceAA="0" compatLnSpc="1">
            <a:normAutofit/>
          </a:bodyPr>
          <a:lstStyle/>
          <a:p>
            <a:pPr lvl="0" algn="ctr">
              <a:buClrTx/>
              <a:buSzTx/>
              <a:buFontTx/>
            </a:pPr>
            <a:r>
              <a:rPr lang="zh-CN" altLang="en-US" sz="4000" b="1" spc="300" dirty="0">
                <a:solidFill>
                  <a:schemeClr val="tx1">
                    <a:lumMod val="85000"/>
                    <a:lumOff val="15000"/>
                  </a:schemeClr>
                </a:solidFill>
                <a:uFillTx/>
                <a:latin typeface="微软雅黑" panose="020B0503020204020204" charset="-122"/>
                <a:ea typeface="微软雅黑" panose="020B0503020204020204" charset="-122"/>
                <a:sym typeface="+mn-ea"/>
              </a:rPr>
              <a:t>一</a:t>
            </a:r>
            <a:endParaRPr lang="zh-CN" altLang="en-US" sz="4000" b="1"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9" name="文本框 8"/>
          <p:cNvSpPr txBox="1"/>
          <p:nvPr>
            <p:custDataLst>
              <p:tags r:id="rId5"/>
            </p:custDataLst>
          </p:nvPr>
        </p:nvSpPr>
        <p:spPr>
          <a:xfrm>
            <a:off x="5744209" y="1459230"/>
            <a:ext cx="5411471" cy="772795"/>
          </a:xfrm>
          <a:prstGeom prst="rect">
            <a:avLst/>
          </a:prstGeom>
          <a:noFill/>
        </p:spPr>
        <p:txBody>
          <a:bodyPr wrap="square" rtlCol="0" anchor="ctr" anchorCtr="0">
            <a:normAutofit/>
          </a:bodyPr>
          <a:lstStyle/>
          <a:p>
            <a:pPr lvl="0"/>
            <a:r>
              <a:rPr lang="zh-CN" altLang="en-US" sz="3600" b="1" spc="300" dirty="0">
                <a:solidFill>
                  <a:schemeClr val="tx1">
                    <a:lumMod val="85000"/>
                    <a:lumOff val="15000"/>
                  </a:schemeClr>
                </a:solidFill>
                <a:uFillTx/>
                <a:latin typeface="微软雅黑" panose="020B0503020204020204" charset="-122"/>
                <a:ea typeface="微软雅黑" panose="020B0503020204020204" charset="-122"/>
                <a:sym typeface="+mn-ea"/>
              </a:rPr>
              <a:t>研究背景与课题目标</a:t>
            </a:r>
            <a:endParaRPr lang="zh-CN" altLang="en-US" sz="3600" b="1" spc="300" dirty="0">
              <a:solidFill>
                <a:schemeClr val="tx1">
                  <a:lumMod val="85000"/>
                  <a:lumOff val="15000"/>
                </a:schemeClr>
              </a:solidFill>
              <a:uFillTx/>
              <a:latin typeface="微软雅黑" panose="020B0503020204020204" charset="-122"/>
              <a:ea typeface="微软雅黑" panose="020B0503020204020204" charset="-122"/>
              <a:sym typeface="+mn-ea"/>
            </a:endParaRPr>
          </a:p>
        </p:txBody>
      </p:sp>
      <p:sp>
        <p:nvSpPr>
          <p:cNvPr id="10" name="圆角矩形 9"/>
          <p:cNvSpPr/>
          <p:nvPr>
            <p:custDataLst>
              <p:tags r:id="rId6"/>
            </p:custDataLst>
          </p:nvPr>
        </p:nvSpPr>
        <p:spPr bwMode="auto">
          <a:xfrm>
            <a:off x="3945255" y="2676157"/>
            <a:ext cx="7210519" cy="768083"/>
          </a:xfrm>
          <a:prstGeom prst="roundRect">
            <a:avLst/>
          </a:prstGeom>
          <a:noFill/>
          <a:ln w="9525">
            <a:solidFill>
              <a:schemeClr val="bg1">
                <a:lumMod val="75000"/>
              </a:schemeClr>
            </a:solidFill>
            <a:round/>
          </a:ln>
        </p:spPr>
        <p:txBody>
          <a:bodyPr rot="0" spcFirstLastPara="0" vert="horz" wrap="square" lIns="91440" tIns="45720" rIns="91440" bIns="45720" anchor="ctr" anchorCtr="0" forceAA="0" compatLnSpc="1">
            <a:normAutofit/>
          </a:bodyPr>
          <a:lstStyle/>
          <a:p>
            <a:pPr algn="r">
              <a:lnSpc>
                <a:spcPct val="130000"/>
              </a:lnSpc>
            </a:pPr>
            <a:endParaRPr lang="en-US" altLang="zh-CN" sz="1100" dirty="0">
              <a:solidFill>
                <a:schemeClr val="tx1"/>
              </a:solidFill>
              <a:latin typeface="Arial" panose="020B0604020202020204" pitchFamily="34" charset="0"/>
              <a:ea typeface="微软雅黑" panose="020B0503020204020204" charset="-122"/>
            </a:endParaRPr>
          </a:p>
        </p:txBody>
      </p:sp>
      <p:sp>
        <p:nvSpPr>
          <p:cNvPr id="11" name="梯形 10"/>
          <p:cNvSpPr/>
          <p:nvPr>
            <p:custDataLst>
              <p:tags r:id="rId7"/>
            </p:custDataLst>
          </p:nvPr>
        </p:nvSpPr>
        <p:spPr bwMode="auto">
          <a:xfrm flipV="1">
            <a:off x="4305471" y="3443287"/>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12" name="梯形 11"/>
          <p:cNvSpPr/>
          <p:nvPr>
            <p:custDataLst>
              <p:tags r:id="rId8"/>
            </p:custDataLst>
          </p:nvPr>
        </p:nvSpPr>
        <p:spPr bwMode="auto">
          <a:xfrm>
            <a:off x="4306508" y="2600108"/>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13" name="矩形 12"/>
          <p:cNvSpPr/>
          <p:nvPr>
            <p:custDataLst>
              <p:tags r:id="rId9"/>
            </p:custDataLst>
          </p:nvPr>
        </p:nvSpPr>
        <p:spPr bwMode="auto">
          <a:xfrm>
            <a:off x="4511010" y="2596304"/>
            <a:ext cx="1027701" cy="924931"/>
          </a:xfrm>
          <a:prstGeom prst="rect">
            <a:avLst/>
          </a:prstGeom>
          <a:solidFill>
            <a:schemeClr val="bg1">
              <a:lumMod val="95000"/>
            </a:schemeClr>
          </a:solidFill>
          <a:ln w="19050">
            <a:noFill/>
            <a:round/>
          </a:ln>
        </p:spPr>
        <p:txBody>
          <a:bodyPr rot="0" spcFirstLastPara="0" vert="horz" wrap="square" lIns="91440" tIns="45720" rIns="91440" bIns="45720" anchor="ctr" anchorCtr="0" forceAA="0" compatLnSpc="1">
            <a:normAutofit/>
          </a:bodyPr>
          <a:lstStyle/>
          <a:p>
            <a:pPr lvl="0" algn="ctr">
              <a:buClrTx/>
              <a:buSzTx/>
              <a:buFontTx/>
            </a:pPr>
            <a:r>
              <a:rPr lang="zh-CN" altLang="en-US" sz="4000" b="1" spc="300" dirty="0">
                <a:solidFill>
                  <a:schemeClr val="tx1">
                    <a:lumMod val="85000"/>
                    <a:lumOff val="15000"/>
                  </a:schemeClr>
                </a:solidFill>
                <a:uFillTx/>
                <a:latin typeface="微软雅黑" panose="020B0503020204020204" charset="-122"/>
                <a:ea typeface="微软雅黑" panose="020B0503020204020204" charset="-122"/>
                <a:sym typeface="+mn-ea"/>
              </a:rPr>
              <a:t>二</a:t>
            </a:r>
            <a:endParaRPr lang="zh-CN" altLang="en-US" sz="4000" b="1"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14" name="文本框 13"/>
          <p:cNvSpPr txBox="1"/>
          <p:nvPr>
            <p:custDataLst>
              <p:tags r:id="rId10"/>
            </p:custDataLst>
          </p:nvPr>
        </p:nvSpPr>
        <p:spPr>
          <a:xfrm>
            <a:off x="5762938" y="2682687"/>
            <a:ext cx="5256848" cy="772871"/>
          </a:xfrm>
          <a:prstGeom prst="rect">
            <a:avLst/>
          </a:prstGeom>
          <a:noFill/>
        </p:spPr>
        <p:txBody>
          <a:bodyPr wrap="square" rtlCol="0" anchor="ctr" anchorCtr="0">
            <a:normAutofit fontScale="90000"/>
          </a:bodyPr>
          <a:lstStyle/>
          <a:p>
            <a:pPr lvl="0"/>
            <a:r>
              <a:rPr lang="zh-CN" altLang="en-US" sz="4000" b="1" spc="300" dirty="0">
                <a:solidFill>
                  <a:schemeClr val="tx1">
                    <a:lumMod val="85000"/>
                    <a:lumOff val="15000"/>
                  </a:schemeClr>
                </a:solidFill>
                <a:latin typeface="微软雅黑" panose="020B0503020204020204" charset="-122"/>
                <a:ea typeface="微软雅黑" panose="020B0503020204020204" charset="-122"/>
                <a:sym typeface="+mn-ea"/>
              </a:rPr>
              <a:t>数据集构建与方法设计</a:t>
            </a:r>
            <a:endParaRPr lang="zh-CN" altLang="en-US" sz="4000" b="1" spc="300" dirty="0">
              <a:solidFill>
                <a:schemeClr val="tx1">
                  <a:lumMod val="85000"/>
                  <a:lumOff val="15000"/>
                </a:schemeClr>
              </a:solidFill>
              <a:uFillTx/>
              <a:latin typeface="微软雅黑" panose="020B0503020204020204" charset="-122"/>
              <a:ea typeface="微软雅黑" panose="020B0503020204020204" charset="-122"/>
              <a:sym typeface="+mn-ea"/>
            </a:endParaRPr>
          </a:p>
        </p:txBody>
      </p:sp>
      <p:sp>
        <p:nvSpPr>
          <p:cNvPr id="15" name="圆角矩形 14"/>
          <p:cNvSpPr/>
          <p:nvPr>
            <p:custDataLst>
              <p:tags r:id="rId11"/>
            </p:custDataLst>
          </p:nvPr>
        </p:nvSpPr>
        <p:spPr bwMode="auto">
          <a:xfrm>
            <a:off x="3926526" y="3829722"/>
            <a:ext cx="7210519" cy="768083"/>
          </a:xfrm>
          <a:prstGeom prst="roundRect">
            <a:avLst/>
          </a:prstGeom>
          <a:noFill/>
          <a:ln w="9525">
            <a:solidFill>
              <a:schemeClr val="bg1">
                <a:lumMod val="75000"/>
              </a:schemeClr>
            </a:solidFill>
            <a:round/>
          </a:ln>
        </p:spPr>
        <p:txBody>
          <a:bodyPr rot="0" spcFirstLastPara="0" vert="horz" wrap="square" lIns="91440" tIns="45720" rIns="91440" bIns="45720" anchor="ctr" anchorCtr="0" forceAA="0" compatLnSpc="1">
            <a:normAutofit/>
          </a:bodyPr>
          <a:lstStyle/>
          <a:p>
            <a:pPr algn="r">
              <a:lnSpc>
                <a:spcPct val="130000"/>
              </a:lnSpc>
            </a:pPr>
            <a:endParaRPr lang="en-US" altLang="zh-CN" sz="1100" dirty="0">
              <a:solidFill>
                <a:schemeClr val="tx1"/>
              </a:solidFill>
              <a:latin typeface="Arial" panose="020B0604020202020204" pitchFamily="34" charset="0"/>
              <a:ea typeface="微软雅黑" panose="020B0503020204020204" charset="-122"/>
            </a:endParaRPr>
          </a:p>
        </p:txBody>
      </p:sp>
      <p:sp>
        <p:nvSpPr>
          <p:cNvPr id="16" name="梯形 15"/>
          <p:cNvSpPr/>
          <p:nvPr>
            <p:custDataLst>
              <p:tags r:id="rId12"/>
            </p:custDataLst>
          </p:nvPr>
        </p:nvSpPr>
        <p:spPr bwMode="auto">
          <a:xfrm flipV="1">
            <a:off x="4286742" y="4596852"/>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17" name="梯形 16"/>
          <p:cNvSpPr/>
          <p:nvPr>
            <p:custDataLst>
              <p:tags r:id="rId13"/>
            </p:custDataLst>
          </p:nvPr>
        </p:nvSpPr>
        <p:spPr bwMode="auto">
          <a:xfrm>
            <a:off x="4312884" y="3827520"/>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18" name="矩形 17"/>
          <p:cNvSpPr/>
          <p:nvPr>
            <p:custDataLst>
              <p:tags r:id="rId14"/>
            </p:custDataLst>
          </p:nvPr>
        </p:nvSpPr>
        <p:spPr bwMode="auto">
          <a:xfrm>
            <a:off x="4492281" y="3749872"/>
            <a:ext cx="1027701" cy="924931"/>
          </a:xfrm>
          <a:prstGeom prst="rect">
            <a:avLst/>
          </a:prstGeom>
          <a:solidFill>
            <a:schemeClr val="bg1">
              <a:lumMod val="95000"/>
            </a:schemeClr>
          </a:solidFill>
          <a:ln w="19050">
            <a:noFill/>
            <a:round/>
          </a:ln>
        </p:spPr>
        <p:txBody>
          <a:bodyPr rot="0" spcFirstLastPara="0" vert="horz" wrap="square" lIns="91440" tIns="45720" rIns="91440" bIns="45720" anchor="ctr" anchorCtr="0" forceAA="0" compatLnSpc="1">
            <a:normAutofit/>
          </a:bodyPr>
          <a:lstStyle/>
          <a:p>
            <a:pPr lvl="0" algn="ctr">
              <a:buClrTx/>
              <a:buSzTx/>
              <a:buFontTx/>
            </a:pPr>
            <a:r>
              <a:rPr lang="zh-CN" altLang="en-US" sz="4000" b="1" spc="300" dirty="0">
                <a:solidFill>
                  <a:schemeClr val="tx1">
                    <a:lumMod val="85000"/>
                    <a:lumOff val="15000"/>
                  </a:schemeClr>
                </a:solidFill>
                <a:uFillTx/>
                <a:latin typeface="微软雅黑" panose="020B0503020204020204" charset="-122"/>
                <a:ea typeface="微软雅黑" panose="020B0503020204020204" charset="-122"/>
                <a:sym typeface="+mn-ea"/>
              </a:rPr>
              <a:t>三</a:t>
            </a:r>
            <a:endParaRPr lang="zh-CN" altLang="en-US" sz="4000" b="1"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19" name="文本框 18"/>
          <p:cNvSpPr txBox="1"/>
          <p:nvPr>
            <p:custDataLst>
              <p:tags r:id="rId15"/>
            </p:custDataLst>
          </p:nvPr>
        </p:nvSpPr>
        <p:spPr>
          <a:xfrm>
            <a:off x="5744209" y="3836252"/>
            <a:ext cx="5256848" cy="772871"/>
          </a:xfrm>
          <a:prstGeom prst="rect">
            <a:avLst/>
          </a:prstGeom>
          <a:noFill/>
        </p:spPr>
        <p:txBody>
          <a:bodyPr wrap="square" rtlCol="0" anchor="ctr" anchorCtr="0">
            <a:normAutofit/>
          </a:bodyPr>
          <a:lstStyle/>
          <a:p>
            <a:pPr lvl="0"/>
            <a:r>
              <a:rPr lang="zh-CN" altLang="en-US" sz="3600" b="1" spc="300" dirty="0">
                <a:solidFill>
                  <a:schemeClr val="tx1">
                    <a:lumMod val="85000"/>
                    <a:lumOff val="15000"/>
                  </a:schemeClr>
                </a:solidFill>
                <a:latin typeface="微软雅黑" panose="020B0503020204020204" charset="-122"/>
                <a:ea typeface="微软雅黑" panose="020B0503020204020204" charset="-122"/>
                <a:sym typeface="+mn-ea"/>
              </a:rPr>
              <a:t>训练验证与实验结果</a:t>
            </a:r>
            <a:endParaRPr lang="zh-CN" altLang="en-US" sz="3600" b="1" spc="300" dirty="0">
              <a:solidFill>
                <a:schemeClr val="tx1">
                  <a:lumMod val="85000"/>
                  <a:lumOff val="15000"/>
                </a:schemeClr>
              </a:solidFill>
              <a:uFillTx/>
              <a:latin typeface="微软雅黑" panose="020B0503020204020204" charset="-122"/>
              <a:ea typeface="微软雅黑" panose="020B0503020204020204" charset="-122"/>
              <a:sym typeface="+mn-ea"/>
            </a:endParaRPr>
          </a:p>
        </p:txBody>
      </p:sp>
      <p:sp>
        <p:nvSpPr>
          <p:cNvPr id="26" name="文本框 25"/>
          <p:cNvSpPr txBox="1"/>
          <p:nvPr>
            <p:custDataLst>
              <p:tags r:id="rId16"/>
            </p:custDataLst>
          </p:nvPr>
        </p:nvSpPr>
        <p:spPr>
          <a:xfrm>
            <a:off x="6912001" y="519430"/>
            <a:ext cx="2166620" cy="706755"/>
          </a:xfrm>
          <a:prstGeom prst="rect">
            <a:avLst/>
          </a:prstGeom>
          <a:noFill/>
        </p:spPr>
        <p:txBody>
          <a:bodyPr wrap="square" lIns="91440" tIns="45720" rIns="91440" bIns="45720" rtlCol="0" anchor="b" anchorCtr="0">
            <a:noAutofit/>
          </a:bodyPr>
          <a:lstStyle/>
          <a:p>
            <a:pPr algn="dist"/>
            <a:r>
              <a:rPr lang="zh-CN" altLang="en-US" sz="4800" b="1" spc="600">
                <a:solidFill>
                  <a:schemeClr val="tx1">
                    <a:lumMod val="85000"/>
                    <a:lumOff val="15000"/>
                  </a:schemeClr>
                </a:solidFill>
                <a:uFillTx/>
                <a:latin typeface="微软雅黑" panose="020B0503020204020204" charset="-122"/>
                <a:ea typeface="微软雅黑" panose="020B0503020204020204" charset="-122"/>
              </a:rPr>
              <a:t>目录</a:t>
            </a:r>
            <a:endParaRPr lang="zh-CN" altLang="en-US" sz="4800" b="1" spc="600">
              <a:solidFill>
                <a:schemeClr val="tx1">
                  <a:lumMod val="85000"/>
                  <a:lumOff val="15000"/>
                </a:schemeClr>
              </a:solidFill>
              <a:uFillTx/>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1149642" y="0"/>
            <a:ext cx="1042358" cy="898726"/>
          </a:xfrm>
          <a:prstGeom prst="rect">
            <a:avLst/>
          </a:prstGeom>
        </p:spPr>
      </p:pic>
      <p:sp>
        <p:nvSpPr>
          <p:cNvPr id="4" name="圆角矩形 14"/>
          <p:cNvSpPr/>
          <p:nvPr>
            <p:custDataLst>
              <p:tags r:id="rId18"/>
            </p:custDataLst>
          </p:nvPr>
        </p:nvSpPr>
        <p:spPr bwMode="auto">
          <a:xfrm>
            <a:off x="3926526" y="5073708"/>
            <a:ext cx="7210519" cy="768083"/>
          </a:xfrm>
          <a:prstGeom prst="roundRect">
            <a:avLst/>
          </a:prstGeom>
          <a:noFill/>
          <a:ln w="9525">
            <a:solidFill>
              <a:schemeClr val="bg1">
                <a:lumMod val="75000"/>
              </a:schemeClr>
            </a:solidFill>
            <a:round/>
          </a:ln>
        </p:spPr>
        <p:txBody>
          <a:bodyPr rot="0" spcFirstLastPara="0" vert="horz" wrap="square" lIns="91440" tIns="45720" rIns="91440" bIns="45720" anchor="ctr" anchorCtr="0" forceAA="0" compatLnSpc="1">
            <a:normAutofit/>
          </a:bodyPr>
          <a:lstStyle/>
          <a:p>
            <a:pPr algn="r">
              <a:lnSpc>
                <a:spcPct val="130000"/>
              </a:lnSpc>
            </a:pPr>
            <a:endParaRPr lang="en-US" altLang="zh-CN" sz="1100" dirty="0">
              <a:solidFill>
                <a:schemeClr val="tx1"/>
              </a:solidFill>
              <a:latin typeface="Arial" panose="020B0604020202020204" pitchFamily="34" charset="0"/>
              <a:ea typeface="微软雅黑" panose="020B0503020204020204" charset="-122"/>
            </a:endParaRPr>
          </a:p>
        </p:txBody>
      </p:sp>
      <p:sp>
        <p:nvSpPr>
          <p:cNvPr id="5" name="梯形 4"/>
          <p:cNvSpPr/>
          <p:nvPr>
            <p:custDataLst>
              <p:tags r:id="rId19"/>
            </p:custDataLst>
          </p:nvPr>
        </p:nvSpPr>
        <p:spPr bwMode="auto">
          <a:xfrm flipV="1">
            <a:off x="4286742" y="5840838"/>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20" name="梯形 19"/>
          <p:cNvSpPr/>
          <p:nvPr>
            <p:custDataLst>
              <p:tags r:id="rId20"/>
            </p:custDataLst>
          </p:nvPr>
        </p:nvSpPr>
        <p:spPr bwMode="auto">
          <a:xfrm>
            <a:off x="4287779" y="4997659"/>
            <a:ext cx="1438782" cy="76049"/>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lumMod val="85000"/>
                  <a:lumOff val="15000"/>
                </a:schemeClr>
              </a:solidFill>
              <a:latin typeface="Arial" panose="020B0604020202020204" pitchFamily="34" charset="0"/>
              <a:ea typeface="微软雅黑" panose="020B0503020204020204" charset="-122"/>
            </a:endParaRPr>
          </a:p>
        </p:txBody>
      </p:sp>
      <p:sp>
        <p:nvSpPr>
          <p:cNvPr id="21" name="矩形 20"/>
          <p:cNvSpPr/>
          <p:nvPr>
            <p:custDataLst>
              <p:tags r:id="rId21"/>
            </p:custDataLst>
          </p:nvPr>
        </p:nvSpPr>
        <p:spPr bwMode="auto">
          <a:xfrm>
            <a:off x="4492281" y="4993858"/>
            <a:ext cx="1027701" cy="924931"/>
          </a:xfrm>
          <a:prstGeom prst="rect">
            <a:avLst/>
          </a:prstGeom>
          <a:solidFill>
            <a:schemeClr val="bg1">
              <a:lumMod val="95000"/>
            </a:schemeClr>
          </a:solidFill>
          <a:ln w="19050">
            <a:noFill/>
            <a:round/>
          </a:ln>
        </p:spPr>
        <p:txBody>
          <a:bodyPr rot="0" spcFirstLastPara="0" vert="horz" wrap="square" lIns="91440" tIns="45720" rIns="91440" bIns="45720" anchor="ctr" anchorCtr="0" forceAA="0" compatLnSpc="1">
            <a:normAutofit/>
          </a:bodyPr>
          <a:lstStyle/>
          <a:p>
            <a:pPr lvl="0" algn="ctr">
              <a:buClrTx/>
              <a:buSzTx/>
              <a:buFontTx/>
            </a:pPr>
            <a:r>
              <a:rPr lang="zh-CN" altLang="en-US" sz="4000" b="1" spc="300" dirty="0">
                <a:solidFill>
                  <a:schemeClr val="tx1">
                    <a:lumMod val="85000"/>
                    <a:lumOff val="15000"/>
                  </a:schemeClr>
                </a:solidFill>
                <a:uFillTx/>
                <a:latin typeface="微软雅黑" panose="020B0503020204020204" charset="-122"/>
                <a:ea typeface="微软雅黑" panose="020B0503020204020204" charset="-122"/>
                <a:sym typeface="+mn-ea"/>
              </a:rPr>
              <a:t>四</a:t>
            </a:r>
            <a:endParaRPr lang="zh-CN" altLang="en-US" sz="4000" b="1"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22" name="文本框 21"/>
          <p:cNvSpPr txBox="1"/>
          <p:nvPr>
            <p:custDataLst>
              <p:tags r:id="rId22"/>
            </p:custDataLst>
          </p:nvPr>
        </p:nvSpPr>
        <p:spPr>
          <a:xfrm>
            <a:off x="5744209" y="5080238"/>
            <a:ext cx="5256848" cy="772871"/>
          </a:xfrm>
          <a:prstGeom prst="rect">
            <a:avLst/>
          </a:prstGeom>
          <a:noFill/>
        </p:spPr>
        <p:txBody>
          <a:bodyPr wrap="square" rtlCol="0" anchor="ctr" anchorCtr="0">
            <a:normAutofit/>
          </a:bodyPr>
          <a:lstStyle/>
          <a:p>
            <a:pPr lvl="0"/>
            <a:r>
              <a:rPr lang="zh-CN" altLang="en-US" sz="3600" b="1" spc="300" dirty="0">
                <a:solidFill>
                  <a:schemeClr val="tx1">
                    <a:lumMod val="85000"/>
                    <a:lumOff val="15000"/>
                  </a:schemeClr>
                </a:solidFill>
                <a:latin typeface="微软雅黑" panose="020B0503020204020204" charset="-122"/>
                <a:ea typeface="微软雅黑" panose="020B0503020204020204" charset="-122"/>
                <a:sym typeface="+mn-ea"/>
              </a:rPr>
              <a:t>后续工作与问题分析</a:t>
            </a:r>
            <a:endParaRPr lang="zh-CN" altLang="en-US" sz="3600" b="1" spc="300" dirty="0">
              <a:solidFill>
                <a:schemeClr val="tx1">
                  <a:lumMod val="85000"/>
                  <a:lumOff val="15000"/>
                </a:schemeClr>
              </a:solidFill>
              <a:uFillTx/>
              <a:latin typeface="微软雅黑" panose="020B0503020204020204" charset="-122"/>
              <a:ea typeface="微软雅黑" panose="020B0503020204020204" charset="-122"/>
              <a:sym typeface="+mn-ea"/>
            </a:endParaRPr>
          </a:p>
        </p:txBody>
      </p:sp>
    </p:spTree>
    <p:custDataLst>
      <p:tags r:id="rId2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3312000" y="2348865"/>
            <a:ext cx="897890" cy="897890"/>
          </a:xfrm>
          <a:prstGeom prst="ellipse">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椭圆 1"/>
          <p:cNvSpPr/>
          <p:nvPr/>
        </p:nvSpPr>
        <p:spPr>
          <a:xfrm>
            <a:off x="3312000" y="2679700"/>
            <a:ext cx="1557655" cy="155765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0" y="0"/>
            <a:ext cx="12192000" cy="6858000"/>
          </a:xfrm>
          <a:prstGeom prst="rect">
            <a:avLst/>
          </a:prstGeom>
          <a:gradFill flip="none" rotWithShape="1">
            <a:gsLst>
              <a:gs pos="0">
                <a:schemeClr val="bg1">
                  <a:alpha val="41000"/>
                </a:schemeClr>
              </a:gs>
              <a:gs pos="51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3708000" y="2679483"/>
            <a:ext cx="7792720" cy="1568450"/>
            <a:chOff x="4043304" y="1967642"/>
            <a:chExt cx="7792720" cy="1568450"/>
          </a:xfrm>
        </p:grpSpPr>
        <p:sp>
          <p:nvSpPr>
            <p:cNvPr id="47" name="文本框 46"/>
            <p:cNvSpPr txBox="1"/>
            <p:nvPr/>
          </p:nvSpPr>
          <p:spPr>
            <a:xfrm>
              <a:off x="5626994" y="1967642"/>
              <a:ext cx="6209030" cy="1568450"/>
            </a:xfrm>
            <a:prstGeom prst="rect">
              <a:avLst/>
            </a:prstGeom>
            <a:noFill/>
          </p:spPr>
          <p:txBody>
            <a:bodyPr wrap="square" rtlCol="0">
              <a:spAutoFit/>
            </a:bodyPr>
            <a:lstStyle/>
            <a:p>
              <a:r>
                <a:rPr lang="zh-CN" altLang="en-US" sz="4800" b="1" dirty="0">
                  <a:solidFill>
                    <a:srgbClr val="004E98"/>
                  </a:solidFill>
                  <a:uFillTx/>
                  <a:latin typeface="微软雅黑" panose="020B0503020204020204" charset="-122"/>
                  <a:ea typeface="微软雅黑" panose="020B0503020204020204" charset="-122"/>
                </a:rPr>
                <a:t>研究背景与</a:t>
              </a:r>
              <a:endParaRPr lang="zh-CN" altLang="en-US" sz="4800" b="1" dirty="0">
                <a:solidFill>
                  <a:srgbClr val="004E98"/>
                </a:solidFill>
                <a:uFillTx/>
                <a:latin typeface="微软雅黑" panose="020B0503020204020204" charset="-122"/>
                <a:ea typeface="微软雅黑" panose="020B0503020204020204" charset="-122"/>
              </a:endParaRPr>
            </a:p>
            <a:p>
              <a:pPr marL="457200" lvl="1" indent="457200"/>
              <a:r>
                <a:rPr lang="en-US" altLang="zh-CN" sz="4800" b="1" dirty="0">
                  <a:solidFill>
                    <a:srgbClr val="004E98"/>
                  </a:solidFill>
                  <a:uFillTx/>
                  <a:latin typeface="微软雅黑" panose="020B0503020204020204" charset="-122"/>
                  <a:ea typeface="微软雅黑" panose="020B0503020204020204" charset="-122"/>
                </a:rPr>
                <a:t> </a:t>
              </a:r>
              <a:r>
                <a:rPr lang="zh-CN" altLang="en-US" sz="4800" b="1" dirty="0">
                  <a:solidFill>
                    <a:srgbClr val="004E98"/>
                  </a:solidFill>
                  <a:uFillTx/>
                  <a:latin typeface="微软雅黑" panose="020B0503020204020204" charset="-122"/>
                  <a:ea typeface="微软雅黑" panose="020B0503020204020204" charset="-122"/>
                </a:rPr>
                <a:t>课题目标</a:t>
              </a:r>
              <a:endParaRPr lang="zh-CN" altLang="en-US" sz="4800" b="1" dirty="0">
                <a:solidFill>
                  <a:srgbClr val="004E98"/>
                </a:solidFill>
                <a:uFillTx/>
                <a:latin typeface="微软雅黑" panose="020B0503020204020204" charset="-122"/>
                <a:ea typeface="微软雅黑" panose="020B0503020204020204" charset="-122"/>
              </a:endParaRPr>
            </a:p>
          </p:txBody>
        </p:sp>
        <p:sp>
          <p:nvSpPr>
            <p:cNvPr id="48" name="文本框 47"/>
            <p:cNvSpPr txBox="1"/>
            <p:nvPr/>
          </p:nvSpPr>
          <p:spPr>
            <a:xfrm>
              <a:off x="4043304" y="2327815"/>
              <a:ext cx="1719554" cy="829945"/>
            </a:xfrm>
            <a:prstGeom prst="rect">
              <a:avLst/>
            </a:prstGeom>
            <a:noFill/>
          </p:spPr>
          <p:txBody>
            <a:bodyPr wrap="square" rtlCol="0">
              <a:spAutoFit/>
            </a:bodyPr>
            <a:lstStyle/>
            <a:p>
              <a:r>
                <a:rPr lang="zh-CN" altLang="en-US" sz="4800" b="1" dirty="0">
                  <a:solidFill>
                    <a:srgbClr val="004E98"/>
                  </a:solidFill>
                  <a:latin typeface="微软雅黑" panose="020B0503020204020204" charset="-122"/>
                  <a:ea typeface="微软雅黑" panose="020B0503020204020204" charset="-122"/>
                </a:rPr>
                <a:t>一</a:t>
              </a:r>
              <a:endParaRPr lang="zh-CN" altLang="en-US" sz="4800" b="1" dirty="0">
                <a:solidFill>
                  <a:srgbClr val="004E98"/>
                </a:solidFill>
                <a:latin typeface="微软雅黑" panose="020B0503020204020204" charset="-122"/>
                <a:ea typeface="微软雅黑" panose="020B0503020204020204" charset="-122"/>
              </a:endParaRPr>
            </a:p>
          </p:txBody>
        </p:sp>
        <p:cxnSp>
          <p:nvCxnSpPr>
            <p:cNvPr id="51" name="直接连接符 50"/>
            <p:cNvCxnSpPr/>
            <p:nvPr/>
          </p:nvCxnSpPr>
          <p:spPr>
            <a:xfrm>
              <a:off x="5231751" y="2241962"/>
              <a:ext cx="0" cy="1008256"/>
            </a:xfrm>
            <a:prstGeom prst="line">
              <a:avLst/>
            </a:prstGeom>
            <a:ln w="19050">
              <a:solidFill>
                <a:srgbClr val="004E98"/>
              </a:soli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49642" y="0"/>
            <a:ext cx="1042358" cy="8987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9291294" cy="58356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一</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、研究背景与课题目标</a:t>
            </a:r>
            <a:endParaRPr lang="zh-CN" altLang="en-US" sz="32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16510" y="799465"/>
            <a:ext cx="12203430" cy="1198880"/>
          </a:xfrm>
          <a:prstGeom prst="rect">
            <a:avLst/>
          </a:prstGeom>
        </p:spPr>
        <p:txBody>
          <a:bodyPr wrap="square">
            <a:spAutoFit/>
          </a:bodyPr>
          <a:lstStyle/>
          <a:p>
            <a:pPr indent="457200">
              <a:lnSpc>
                <a:spcPct val="150000"/>
              </a:lnSpc>
            </a:pPr>
            <a:r>
              <a:rPr lang="en-US" altLang="zh-CN" sz="2400" dirty="0"/>
              <a:t>· </a:t>
            </a:r>
            <a:r>
              <a:rPr lang="zh-CN" altLang="en-US" sz="2400" dirty="0"/>
              <a:t>GNSS 掩星技术可利用弯曲角廓线反演大气温度、气压和湿度，是高精度大气探测的重要手段。</a:t>
            </a:r>
            <a:endParaRPr lang="en-US" altLang="zh-CN" sz="2400" dirty="0"/>
          </a:p>
        </p:txBody>
      </p:sp>
      <p:sp>
        <p:nvSpPr>
          <p:cNvPr id="9" name="矩形: 圆角 8"/>
          <p:cNvSpPr/>
          <p:nvPr/>
        </p:nvSpPr>
        <p:spPr>
          <a:xfrm>
            <a:off x="695960" y="2165985"/>
            <a:ext cx="10791825" cy="1260475"/>
          </a:xfrm>
          <a:prstGeom prst="roundRect">
            <a:avLst/>
          </a:prstGeom>
          <a:noFill/>
          <a:ln>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7" name="文本框 26"/>
          <p:cNvSpPr txBox="1"/>
          <p:nvPr/>
        </p:nvSpPr>
        <p:spPr>
          <a:xfrm>
            <a:off x="695960" y="4427855"/>
            <a:ext cx="2149475" cy="460375"/>
          </a:xfrm>
          <a:prstGeom prst="rect">
            <a:avLst/>
          </a:prstGeom>
          <a:noFill/>
        </p:spPr>
        <p:txBody>
          <a:bodyPr wrap="square">
            <a:spAutoFit/>
          </a:bodyPr>
          <a:lstStyle/>
          <a:p>
            <a:pPr indent="457200" algn="l"/>
            <a:r>
              <a:rPr lang="zh-CN" altLang="en-US" sz="2400" b="1" dirty="0">
                <a:solidFill>
                  <a:prstClr val="black"/>
                </a:solidFill>
                <a:latin typeface="+mj-ea"/>
                <a:ea typeface="+mj-ea"/>
              </a:rPr>
              <a:t>主要局限：</a:t>
            </a:r>
            <a:endParaRPr kumimoji="0" lang="en-US" altLang="zh-CN" sz="2400" b="1" i="0" u="none" strike="noStrike" kern="1200" cap="none" spc="0" normalizeH="0" baseline="0" noProof="0" dirty="0">
              <a:ln>
                <a:noFill/>
              </a:ln>
              <a:solidFill>
                <a:prstClr val="black"/>
              </a:solidFill>
              <a:effectLst/>
              <a:uLnTx/>
              <a:uFillTx/>
              <a:latin typeface="+mj-ea"/>
              <a:ea typeface="+mj-ea"/>
            </a:endParaRPr>
          </a:p>
        </p:txBody>
      </p:sp>
      <p:pic>
        <p:nvPicPr>
          <p:cNvPr id="3" name="图片 2"/>
          <p:cNvPicPr>
            <a:picLocks noChangeAspect="1"/>
          </p:cNvPicPr>
          <p:nvPr/>
        </p:nvPicPr>
        <p:blipFill>
          <a:blip r:embed="rId1"/>
          <a:stretch>
            <a:fillRect/>
          </a:stretch>
        </p:blipFill>
        <p:spPr>
          <a:xfrm>
            <a:off x="371475" y="6343015"/>
            <a:ext cx="8915400" cy="495300"/>
          </a:xfrm>
          <a:prstGeom prst="rect">
            <a:avLst/>
          </a:prstGeom>
        </p:spPr>
      </p:pic>
      <p:sp>
        <p:nvSpPr>
          <p:cNvPr id="11" name="文本框 10"/>
          <p:cNvSpPr txBox="1"/>
          <p:nvPr/>
        </p:nvSpPr>
        <p:spPr>
          <a:xfrm>
            <a:off x="633095" y="2564765"/>
            <a:ext cx="10800715" cy="353695"/>
          </a:xfrm>
          <a:prstGeom prst="rect">
            <a:avLst/>
          </a:prstGeom>
          <a:noFill/>
        </p:spPr>
        <p:txBody>
          <a:bodyPr wrap="square" rtlCol="0">
            <a:noAutofit/>
          </a:bodyPr>
          <a:p>
            <a:pPr indent="457200"/>
            <a:r>
              <a:rPr lang="zh-CN" altLang="en-US" sz="2400" b="1" noProof="0" dirty="0">
                <a:ln>
                  <a:noFill/>
                </a:ln>
                <a:solidFill>
                  <a:prstClr val="black"/>
                </a:solidFill>
                <a:effectLst/>
                <a:uLnTx/>
                <a:uFillTx/>
                <a:latin typeface="+mj-ea"/>
                <a:ea typeface="+mj-ea"/>
                <a:sym typeface="+mn-ea"/>
              </a:rPr>
              <a:t>传统反演流程：</a:t>
            </a:r>
            <a:r>
              <a:rPr lang="zh-CN" altLang="en-US" sz="2000" b="1" noProof="0" dirty="0">
                <a:ln>
                  <a:noFill/>
                </a:ln>
                <a:solidFill>
                  <a:prstClr val="black"/>
                </a:solidFill>
                <a:effectLst/>
                <a:uLnTx/>
                <a:uFillTx/>
                <a:latin typeface="+mj-ea"/>
                <a:ea typeface="+mj-ea"/>
                <a:sym typeface="+mn-ea"/>
              </a:rPr>
              <a:t>弯曲角 -&gt; Abel 变换 -&gt; 折射率 -&gt; 1D-Var -&gt; 气象要素</a:t>
            </a:r>
            <a:endParaRPr kumimoji="0" lang="en-US" altLang="zh-CN" sz="2000" b="1" i="0" u="none" strike="noStrike" kern="1200" cap="none" spc="0" normalizeH="0" baseline="0" noProof="0" dirty="0">
              <a:ln>
                <a:noFill/>
              </a:ln>
              <a:solidFill>
                <a:prstClr val="black"/>
              </a:solidFill>
              <a:effectLst/>
              <a:uLnTx/>
              <a:uFillTx/>
              <a:latin typeface="+mj-ea"/>
              <a:ea typeface="+mj-ea"/>
            </a:endParaRPr>
          </a:p>
          <a:p>
            <a:endParaRPr lang="zh-CN" altLang="en-US" sz="2000"/>
          </a:p>
        </p:txBody>
      </p:sp>
      <p:sp>
        <p:nvSpPr>
          <p:cNvPr id="14" name="矩形: 圆角 8"/>
          <p:cNvSpPr/>
          <p:nvPr/>
        </p:nvSpPr>
        <p:spPr>
          <a:xfrm>
            <a:off x="695960" y="4048125"/>
            <a:ext cx="10791825" cy="1260475"/>
          </a:xfrm>
          <a:prstGeom prst="roundRect">
            <a:avLst/>
          </a:prstGeom>
          <a:noFill/>
          <a:ln>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5" name="文本框 14"/>
          <p:cNvSpPr txBox="1"/>
          <p:nvPr/>
        </p:nvSpPr>
        <p:spPr>
          <a:xfrm>
            <a:off x="2855595" y="4143375"/>
            <a:ext cx="5345430" cy="1070610"/>
          </a:xfrm>
          <a:prstGeom prst="rect">
            <a:avLst/>
          </a:prstGeom>
          <a:noFill/>
        </p:spPr>
        <p:txBody>
          <a:bodyPr wrap="square" rtlCol="0">
            <a:noAutofit/>
          </a:bodyPr>
          <a:p>
            <a:r>
              <a:rPr lang="en-US" altLang="zh-CN" sz="2000" b="1"/>
              <a:t>· Abel </a:t>
            </a:r>
            <a:r>
              <a:rPr lang="zh-CN" altLang="en-US" sz="2000" b="1"/>
              <a:t>变换依赖球对称假设</a:t>
            </a:r>
            <a:endParaRPr lang="zh-CN" altLang="en-US" sz="2000" b="1"/>
          </a:p>
          <a:p>
            <a:r>
              <a:rPr lang="en-US" altLang="zh-CN" sz="2000" b="1"/>
              <a:t>· 1D-Var </a:t>
            </a:r>
            <a:r>
              <a:rPr lang="zh-CN" altLang="en-US" sz="2000" b="1"/>
              <a:t>高度依赖背景场</a:t>
            </a:r>
            <a:endParaRPr lang="zh-CN" altLang="en-US" sz="2000" b="1"/>
          </a:p>
          <a:p>
            <a:r>
              <a:rPr lang="en-US" altLang="zh-CN" sz="2000" b="1"/>
              <a:t>· </a:t>
            </a:r>
            <a:r>
              <a:rPr lang="zh-CN" altLang="en-US" sz="2000" b="1"/>
              <a:t>长链路导致误差逐级累积</a:t>
            </a:r>
            <a:endParaRPr lang="zh-CN" altLang="en-US" sz="20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2" name="文本框 1"/>
          <p:cNvSpPr txBox="1"/>
          <p:nvPr/>
        </p:nvSpPr>
        <p:spPr>
          <a:xfrm>
            <a:off x="1775996" y="47155"/>
            <a:ext cx="9291294" cy="107632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一</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lang="zh-CN" altLang="en-US" sz="32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研究背景与课题目标</a:t>
            </a:r>
            <a:endParaRPr lang="zh-CN" altLang="en-US" sz="3200" b="1" dirty="0">
              <a:solidFill>
                <a:schemeClr val="bg1"/>
              </a:solidFill>
              <a:latin typeface="微软雅黑" panose="020B0503020204020204" charset="-122"/>
              <a:ea typeface="微软雅黑" panose="020B0503020204020204" charset="-122"/>
            </a:endParaRPr>
          </a:p>
          <a:p>
            <a:pPr algn="ctr">
              <a:defRPr/>
            </a:pPr>
            <a:endParaRPr lang="zh-CN" altLang="en-US" sz="3200" b="1" dirty="0">
              <a:solidFill>
                <a:schemeClr val="bg1"/>
              </a:solidFill>
              <a:latin typeface="微软雅黑" panose="020B0503020204020204" charset="-122"/>
              <a:ea typeface="微软雅黑" panose="020B0503020204020204" charset="-122"/>
            </a:endParaRPr>
          </a:p>
        </p:txBody>
      </p:sp>
      <p:sp>
        <p:nvSpPr>
          <p:cNvPr id="3" name="矩形 2"/>
          <p:cNvSpPr/>
          <p:nvPr/>
        </p:nvSpPr>
        <p:spPr>
          <a:xfrm>
            <a:off x="646305" y="1283385"/>
            <a:ext cx="10849700" cy="443103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400" b="1" dirty="0"/>
              <a:t>研究目标</a:t>
            </a:r>
            <a:r>
              <a:rPr lang="zh-CN" altLang="en-US" sz="2400" b="1" dirty="0"/>
              <a:t>：</a:t>
            </a:r>
            <a:endParaRPr lang="en-US" altLang="zh-CN" sz="2400" b="1" dirty="0"/>
          </a:p>
          <a:p>
            <a:pPr marL="800100" lvl="1" indent="-342900">
              <a:lnSpc>
                <a:spcPct val="150000"/>
              </a:lnSpc>
              <a:buFont typeface="Wingdings" panose="05000000000000000000" pitchFamily="2" charset="2"/>
              <a:buChar char="Ø"/>
            </a:pPr>
            <a:r>
              <a:rPr lang="en-US" altLang="zh-CN" sz="2000" dirty="0">
                <a:sym typeface="+mn-ea"/>
              </a:rPr>
              <a:t>构建基于 FY-3D GNOS 数据的端到端气象要素反演系统</a:t>
            </a:r>
            <a:endParaRPr lang="en-US" altLang="zh-CN" sz="2000" dirty="0"/>
          </a:p>
          <a:p>
            <a:pPr marL="800100" lvl="1" indent="-342900">
              <a:lnSpc>
                <a:spcPct val="150000"/>
              </a:lnSpc>
              <a:buFont typeface="Wingdings" panose="05000000000000000000" pitchFamily="2" charset="2"/>
              <a:buChar char="Ø"/>
            </a:pPr>
            <a:r>
              <a:rPr lang="zh-CN" altLang="en-US" sz="2000" dirty="0"/>
              <a:t>从弯曲角廓线直接重建温度和气压廓线</a:t>
            </a:r>
            <a:endParaRPr lang="zh-CN" altLang="en-US" sz="2000" dirty="0"/>
          </a:p>
          <a:p>
            <a:pPr marL="285750" indent="-285750">
              <a:lnSpc>
                <a:spcPct val="150000"/>
              </a:lnSpc>
              <a:buFont typeface="Arial" panose="020B0604020202020204" pitchFamily="34" charset="0"/>
              <a:buChar char="•"/>
            </a:pPr>
            <a:r>
              <a:rPr lang="zh-CN" altLang="en-US" sz="2400" b="1" dirty="0"/>
              <a:t>主要研究内容</a:t>
            </a:r>
            <a:r>
              <a:rPr lang="zh-CN" altLang="en-US" sz="2000" b="1" dirty="0"/>
              <a:t>：</a:t>
            </a:r>
            <a:endParaRPr lang="en-US" altLang="zh-CN" sz="2000" b="1" dirty="0"/>
          </a:p>
          <a:p>
            <a:pPr marL="800100" lvl="1" indent="-342900">
              <a:lnSpc>
                <a:spcPct val="150000"/>
              </a:lnSpc>
              <a:buFont typeface="Wingdings" panose="05000000000000000000" pitchFamily="2" charset="2"/>
              <a:buChar char="Ø"/>
            </a:pPr>
            <a:r>
              <a:rPr lang="zh-CN" altLang="en-US" sz="2000" dirty="0"/>
              <a:t>构建</a:t>
            </a:r>
            <a:r>
              <a:rPr lang="en-US" altLang="zh-CN" sz="2000" dirty="0"/>
              <a:t> FY-3D GNOS </a:t>
            </a:r>
            <a:r>
              <a:rPr lang="zh-CN" altLang="en-US" sz="2000" dirty="0"/>
              <a:t>掩星观测数据集，并完成数据清洗</a:t>
            </a:r>
            <a:endParaRPr lang="zh-CN" altLang="en-US" sz="2000" dirty="0"/>
          </a:p>
          <a:p>
            <a:pPr marL="800100" lvl="1" indent="-342900">
              <a:lnSpc>
                <a:spcPct val="150000"/>
              </a:lnSpc>
              <a:buFont typeface="Wingdings" panose="05000000000000000000" pitchFamily="2" charset="2"/>
              <a:buChar char="Ø"/>
            </a:pPr>
            <a:r>
              <a:rPr lang="zh-CN" altLang="en-US" sz="2000" dirty="0"/>
              <a:t>设计并实现增强型条件扩散模型</a:t>
            </a:r>
            <a:endParaRPr lang="zh-CN" altLang="en-US" sz="2000" dirty="0"/>
          </a:p>
          <a:p>
            <a:pPr marL="800100" lvl="1" indent="-342900">
              <a:lnSpc>
                <a:spcPct val="150000"/>
              </a:lnSpc>
              <a:buFont typeface="Wingdings" panose="05000000000000000000" pitchFamily="2" charset="2"/>
              <a:buChar char="Ø"/>
            </a:pPr>
            <a:r>
              <a:rPr lang="zh-CN" altLang="en-US" sz="2000" dirty="0"/>
              <a:t>完成精度评估与误差分析</a:t>
            </a:r>
            <a:endParaRPr lang="zh-CN" altLang="en-US" sz="2000" dirty="0"/>
          </a:p>
          <a:p>
            <a:pPr marL="800100" lvl="1" indent="-342900">
              <a:lnSpc>
                <a:spcPct val="150000"/>
              </a:lnSpc>
              <a:buFont typeface="Wingdings" panose="05000000000000000000" pitchFamily="2" charset="2"/>
              <a:buChar char="Ø"/>
            </a:pPr>
            <a:r>
              <a:rPr lang="zh-CN" altLang="en-US" sz="2000" dirty="0"/>
              <a:t>实现系统封装与</a:t>
            </a:r>
            <a:r>
              <a:rPr lang="en-US" altLang="zh-CN" sz="2000" dirty="0"/>
              <a:t> Web </a:t>
            </a:r>
            <a:r>
              <a:rPr lang="zh-CN" altLang="en-US" sz="2000" dirty="0"/>
              <a:t>可视化展示</a:t>
            </a:r>
            <a:endParaRPr lang="en-US" altLang="zh-CN" sz="2000" dirty="0"/>
          </a:p>
          <a:p>
            <a:pPr marL="800100" lvl="1" indent="-342900">
              <a:lnSpc>
                <a:spcPct val="150000"/>
              </a:lnSpc>
              <a:buFont typeface="Wingdings" panose="05000000000000000000" pitchFamily="2" charset="2"/>
              <a:buChar char="Ø"/>
            </a:pPr>
            <a:endParaRPr lang="en-US" altLang="zh-CN" sz="2000" dirty="0"/>
          </a:p>
        </p:txBody>
      </p:sp>
      <p:pic>
        <p:nvPicPr>
          <p:cNvPr id="8" name="图片 7"/>
          <p:cNvPicPr>
            <a:picLocks noChangeAspect="1"/>
          </p:cNvPicPr>
          <p:nvPr/>
        </p:nvPicPr>
        <p:blipFill>
          <a:blip r:embed="rId1"/>
          <a:stretch>
            <a:fillRect/>
          </a:stretch>
        </p:blipFill>
        <p:spPr>
          <a:xfrm>
            <a:off x="371475" y="6343015"/>
            <a:ext cx="8915400" cy="4953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657997" y="2319934"/>
            <a:ext cx="897890" cy="897890"/>
          </a:xfrm>
          <a:prstGeom prst="ellipse">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椭圆 1"/>
          <p:cNvSpPr/>
          <p:nvPr/>
        </p:nvSpPr>
        <p:spPr>
          <a:xfrm>
            <a:off x="2657997" y="2650769"/>
            <a:ext cx="1557655" cy="155765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0" y="0"/>
            <a:ext cx="12192000" cy="6858000"/>
          </a:xfrm>
          <a:prstGeom prst="rect">
            <a:avLst/>
          </a:prstGeom>
          <a:gradFill flip="none" rotWithShape="1">
            <a:gsLst>
              <a:gs pos="0">
                <a:schemeClr val="bg1">
                  <a:alpha val="41000"/>
                </a:schemeClr>
              </a:gs>
              <a:gs pos="51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3053997" y="2639385"/>
            <a:ext cx="7321550" cy="1568450"/>
            <a:chOff x="4043304" y="1956475"/>
            <a:chExt cx="7321550" cy="1568450"/>
          </a:xfrm>
        </p:grpSpPr>
        <p:sp>
          <p:nvSpPr>
            <p:cNvPr id="47" name="文本框 46"/>
            <p:cNvSpPr txBox="1"/>
            <p:nvPr/>
          </p:nvSpPr>
          <p:spPr>
            <a:xfrm>
              <a:off x="5626994" y="1956475"/>
              <a:ext cx="5737860" cy="1568450"/>
            </a:xfrm>
            <a:prstGeom prst="rect">
              <a:avLst/>
            </a:prstGeom>
            <a:noFill/>
          </p:spPr>
          <p:txBody>
            <a:bodyPr wrap="square" rtlCol="0">
              <a:spAutoFit/>
            </a:bodyPr>
            <a:lstStyle/>
            <a:p>
              <a:r>
                <a:rPr lang="zh-CN" altLang="en-US" sz="4800" b="1" dirty="0">
                  <a:solidFill>
                    <a:srgbClr val="004E98"/>
                  </a:solidFill>
                  <a:uFillTx/>
                  <a:latin typeface="微软雅黑" panose="020B0503020204020204" charset="-122"/>
                  <a:ea typeface="微软雅黑" panose="020B0503020204020204" charset="-122"/>
                </a:rPr>
                <a:t>数据集构建与</a:t>
              </a:r>
              <a:endParaRPr lang="zh-CN" altLang="en-US" sz="4800" b="1" dirty="0">
                <a:solidFill>
                  <a:srgbClr val="004E98"/>
                </a:solidFill>
                <a:uFillTx/>
                <a:latin typeface="微软雅黑" panose="020B0503020204020204" charset="-122"/>
                <a:ea typeface="微软雅黑" panose="020B0503020204020204" charset="-122"/>
              </a:endParaRPr>
            </a:p>
            <a:p>
              <a:pPr marL="1828800" lvl="4" indent="457200"/>
              <a:r>
                <a:rPr lang="zh-CN" altLang="en-US" sz="4800" b="1" dirty="0">
                  <a:solidFill>
                    <a:srgbClr val="004E98"/>
                  </a:solidFill>
                  <a:uFillTx/>
                  <a:latin typeface="微软雅黑" panose="020B0503020204020204" charset="-122"/>
                  <a:ea typeface="微软雅黑" panose="020B0503020204020204" charset="-122"/>
                </a:rPr>
                <a:t>模型设计</a:t>
              </a:r>
              <a:endParaRPr lang="zh-CN" altLang="en-US" sz="4800" b="1" dirty="0">
                <a:solidFill>
                  <a:srgbClr val="004E98"/>
                </a:solidFill>
                <a:uFillTx/>
                <a:latin typeface="微软雅黑" panose="020B0503020204020204" charset="-122"/>
                <a:ea typeface="微软雅黑" panose="020B0503020204020204" charset="-122"/>
              </a:endParaRPr>
            </a:p>
          </p:txBody>
        </p:sp>
        <p:sp>
          <p:nvSpPr>
            <p:cNvPr id="48" name="文本框 47"/>
            <p:cNvSpPr txBox="1"/>
            <p:nvPr/>
          </p:nvSpPr>
          <p:spPr>
            <a:xfrm>
              <a:off x="4043304" y="2327815"/>
              <a:ext cx="1719554" cy="829945"/>
            </a:xfrm>
            <a:prstGeom prst="rect">
              <a:avLst/>
            </a:prstGeom>
            <a:noFill/>
          </p:spPr>
          <p:txBody>
            <a:bodyPr wrap="square" rtlCol="0">
              <a:spAutoFit/>
            </a:bodyPr>
            <a:lstStyle/>
            <a:p>
              <a:r>
                <a:rPr lang="zh-CN" altLang="en-US" sz="4800" b="1" dirty="0">
                  <a:solidFill>
                    <a:srgbClr val="004E98"/>
                  </a:solidFill>
                  <a:latin typeface="微软雅黑" panose="020B0503020204020204" charset="-122"/>
                  <a:ea typeface="微软雅黑" panose="020B0503020204020204" charset="-122"/>
                </a:rPr>
                <a:t>二</a:t>
              </a:r>
              <a:endParaRPr lang="zh-CN" altLang="en-US" sz="4800" b="1" dirty="0">
                <a:solidFill>
                  <a:srgbClr val="004E98"/>
                </a:solidFill>
                <a:latin typeface="微软雅黑" panose="020B0503020204020204" charset="-122"/>
                <a:ea typeface="微软雅黑" panose="020B0503020204020204" charset="-122"/>
              </a:endParaRPr>
            </a:p>
          </p:txBody>
        </p:sp>
        <p:cxnSp>
          <p:nvCxnSpPr>
            <p:cNvPr id="51" name="直接连接符 50"/>
            <p:cNvCxnSpPr/>
            <p:nvPr/>
          </p:nvCxnSpPr>
          <p:spPr>
            <a:xfrm>
              <a:off x="5231751" y="2241962"/>
              <a:ext cx="0" cy="1008256"/>
            </a:xfrm>
            <a:prstGeom prst="line">
              <a:avLst/>
            </a:prstGeom>
            <a:ln w="19050">
              <a:solidFill>
                <a:srgbClr val="004E98"/>
              </a:soli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49642" y="0"/>
            <a:ext cx="1042358" cy="8987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8640008" cy="583565"/>
          </a:xfrm>
          <a:prstGeom prst="rect">
            <a:avLst/>
          </a:prstGeom>
          <a:noFill/>
        </p:spPr>
        <p:txBody>
          <a:bodyPr wrap="square" rtlCol="0">
            <a:spAutoFit/>
          </a:bodyPr>
          <a:lstStyle/>
          <a:p>
            <a:pPr algn="ctr">
              <a:defRPr/>
            </a:pP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二、数据集构建与模型设计</a:t>
            </a:r>
            <a:endParaRPr lang="zh-CN" altLang="en-US" sz="3200" b="1" dirty="0">
              <a:solidFill>
                <a:schemeClr val="bg1"/>
              </a:solidFill>
              <a:latin typeface="微软雅黑" panose="020B0503020204020204" charset="-122"/>
              <a:ea typeface="微软雅黑" panose="020B0503020204020204" charset="-122"/>
            </a:endParaRPr>
          </a:p>
        </p:txBody>
      </p:sp>
      <p:grpSp>
        <p:nvGrpSpPr>
          <p:cNvPr id="15" name="组合 14"/>
          <p:cNvGrpSpPr/>
          <p:nvPr>
            <p:custDataLst>
              <p:tags r:id="rId1"/>
            </p:custDataLst>
          </p:nvPr>
        </p:nvGrpSpPr>
        <p:grpSpPr>
          <a:xfrm>
            <a:off x="564820" y="1269479"/>
            <a:ext cx="2700000" cy="857933"/>
            <a:chOff x="7476" y="97072"/>
            <a:chExt cx="2422349" cy="857933"/>
          </a:xfrm>
        </p:grpSpPr>
        <p:sp>
          <p:nvSpPr>
            <p:cNvPr id="16" name="矩形: 圆角 15"/>
            <p:cNvSpPr/>
            <p:nvPr>
              <p:custDataLst>
                <p:tags r:id="rId2"/>
              </p:custDataLst>
            </p:nvPr>
          </p:nvSpPr>
          <p:spPr>
            <a:xfrm>
              <a:off x="7476" y="97072"/>
              <a:ext cx="2422349" cy="857933"/>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矩形: 圆角 4"/>
            <p:cNvSpPr txBox="1"/>
            <p:nvPr>
              <p:custDataLst>
                <p:tags r:id="rId3"/>
              </p:custDataLst>
            </p:nvPr>
          </p:nvSpPr>
          <p:spPr>
            <a:xfrm>
              <a:off x="7476" y="97072"/>
              <a:ext cx="2422349" cy="5719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zh-CN" altLang="en-US" sz="2000" b="1" kern="1200" dirty="0"/>
                <a:t>数据来源</a:t>
              </a:r>
              <a:endParaRPr lang="zh-CN" altLang="en-US" sz="2000" b="1" kern="1200" dirty="0"/>
            </a:p>
          </p:txBody>
        </p:sp>
      </p:grpSp>
      <p:grpSp>
        <p:nvGrpSpPr>
          <p:cNvPr id="18" name="组合 17"/>
          <p:cNvGrpSpPr/>
          <p:nvPr>
            <p:custDataLst>
              <p:tags r:id="rId4"/>
            </p:custDataLst>
          </p:nvPr>
        </p:nvGrpSpPr>
        <p:grpSpPr>
          <a:xfrm>
            <a:off x="720000" y="1841433"/>
            <a:ext cx="3240003" cy="3780000"/>
            <a:chOff x="295540" y="669027"/>
            <a:chExt cx="2838509" cy="3571200"/>
          </a:xfrm>
        </p:grpSpPr>
        <p:sp>
          <p:nvSpPr>
            <p:cNvPr id="19" name="矩形: 圆角 18"/>
            <p:cNvSpPr/>
            <p:nvPr>
              <p:custDataLst>
                <p:tags r:id="rId5"/>
              </p:custDataLst>
            </p:nvPr>
          </p:nvSpPr>
          <p:spPr>
            <a:xfrm>
              <a:off x="295540" y="669027"/>
              <a:ext cx="2838509" cy="357120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0" name="矩形: 圆角 4"/>
            <p:cNvSpPr txBox="1"/>
            <p:nvPr>
              <p:custDataLst>
                <p:tags r:id="rId6"/>
              </p:custDataLst>
            </p:nvPr>
          </p:nvSpPr>
          <p:spPr>
            <a:xfrm>
              <a:off x="378677" y="752164"/>
              <a:ext cx="2672235" cy="340492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3792" tIns="113792" rIns="113792" bIns="113792" numCol="1" spcCol="1270" anchor="t" anchorCtr="0">
              <a:noAutofit/>
            </a:bodyPr>
            <a:lstStyle/>
            <a:p>
              <a:pPr marL="171450" lvl="1" indent="-171450" algn="l" defTabSz="711200">
                <a:lnSpc>
                  <a:spcPct val="150000"/>
                </a:lnSpc>
                <a:spcBef>
                  <a:spcPct val="0"/>
                </a:spcBef>
                <a:spcAft>
                  <a:spcPct val="15000"/>
                </a:spcAft>
                <a:buChar char="•"/>
              </a:pPr>
              <a:r>
                <a:rPr lang="zh-CN" altLang="en-US" b="1" kern="1200" dirty="0">
                  <a:solidFill>
                    <a:srgbClr val="13568D"/>
                  </a:solidFill>
                </a:rPr>
                <a:t>研究内容</a:t>
              </a:r>
              <a:r>
                <a:rPr lang="zh-CN" altLang="en-US" kern="1200" dirty="0"/>
                <a:t>：</a:t>
              </a:r>
              <a:r>
                <a:rPr lang="en-US" altLang="zh-CN" kern="1200" dirty="0"/>
                <a:t>采用 FY-3D GNOS L2 ATP 产品作为主要数据来源</a:t>
              </a:r>
              <a:r>
                <a:rPr lang="zh-CN" altLang="en-US" kern="1200" dirty="0"/>
                <a:t>，</a:t>
              </a:r>
              <a:r>
                <a:rPr lang="en-US" altLang="zh-CN" kern="1200" dirty="0"/>
                <a:t>使用弯曲角、温度、气压与高度变量构建监督样本</a:t>
              </a:r>
              <a:endParaRPr lang="zh-CN" altLang="en-US" kern="1200" dirty="0"/>
            </a:p>
          </p:txBody>
        </p:sp>
      </p:grpSp>
      <p:grpSp>
        <p:nvGrpSpPr>
          <p:cNvPr id="21" name="组合 20"/>
          <p:cNvGrpSpPr/>
          <p:nvPr>
            <p:custDataLst>
              <p:tags r:id="rId7"/>
            </p:custDataLst>
          </p:nvPr>
        </p:nvGrpSpPr>
        <p:grpSpPr>
          <a:xfrm>
            <a:off x="4499589" y="1269479"/>
            <a:ext cx="2700000" cy="857933"/>
            <a:chOff x="7476" y="97072"/>
            <a:chExt cx="2422349" cy="857933"/>
          </a:xfrm>
        </p:grpSpPr>
        <p:sp>
          <p:nvSpPr>
            <p:cNvPr id="22" name="矩形: 圆角 21"/>
            <p:cNvSpPr/>
            <p:nvPr>
              <p:custDataLst>
                <p:tags r:id="rId8"/>
              </p:custDataLst>
            </p:nvPr>
          </p:nvSpPr>
          <p:spPr>
            <a:xfrm>
              <a:off x="7476" y="97072"/>
              <a:ext cx="2422349" cy="857933"/>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矩形: 圆角 4"/>
            <p:cNvSpPr txBox="1"/>
            <p:nvPr>
              <p:custDataLst>
                <p:tags r:id="rId9"/>
              </p:custDataLst>
            </p:nvPr>
          </p:nvSpPr>
          <p:spPr>
            <a:xfrm>
              <a:off x="7476" y="97072"/>
              <a:ext cx="2422349" cy="5719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zh-CN" altLang="en-US" sz="2000" b="1" kern="1200" dirty="0"/>
                <a:t>路线选择</a:t>
              </a:r>
              <a:endParaRPr lang="zh-CN" altLang="en-US" sz="2000" b="1" kern="1200" dirty="0"/>
            </a:p>
          </p:txBody>
        </p:sp>
      </p:grpSp>
      <p:grpSp>
        <p:nvGrpSpPr>
          <p:cNvPr id="24" name="组合 23"/>
          <p:cNvGrpSpPr/>
          <p:nvPr>
            <p:custDataLst>
              <p:tags r:id="rId10"/>
            </p:custDataLst>
          </p:nvPr>
        </p:nvGrpSpPr>
        <p:grpSpPr>
          <a:xfrm>
            <a:off x="4654769" y="1841433"/>
            <a:ext cx="3240003" cy="3780000"/>
            <a:chOff x="295540" y="669027"/>
            <a:chExt cx="2838509" cy="3571200"/>
          </a:xfrm>
        </p:grpSpPr>
        <p:sp>
          <p:nvSpPr>
            <p:cNvPr id="25" name="矩形: 圆角 24"/>
            <p:cNvSpPr/>
            <p:nvPr>
              <p:custDataLst>
                <p:tags r:id="rId11"/>
              </p:custDataLst>
            </p:nvPr>
          </p:nvSpPr>
          <p:spPr>
            <a:xfrm>
              <a:off x="295540" y="669027"/>
              <a:ext cx="2838509" cy="357120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矩形: 圆角 4"/>
            <p:cNvSpPr txBox="1"/>
            <p:nvPr>
              <p:custDataLst>
                <p:tags r:id="rId12"/>
              </p:custDataLst>
            </p:nvPr>
          </p:nvSpPr>
          <p:spPr>
            <a:xfrm>
              <a:off x="378677" y="752164"/>
              <a:ext cx="2672235" cy="340492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3792" tIns="113792" rIns="113792" bIns="113792" numCol="1" spcCol="1270" anchor="t" anchorCtr="0">
              <a:noAutofit/>
            </a:bodyPr>
            <a:lstStyle/>
            <a:p>
              <a:pPr marL="171450" lvl="1" indent="-171450" algn="l" defTabSz="711200">
                <a:lnSpc>
                  <a:spcPct val="150000"/>
                </a:lnSpc>
                <a:spcBef>
                  <a:spcPct val="0"/>
                </a:spcBef>
                <a:spcAft>
                  <a:spcPct val="15000"/>
                </a:spcAft>
                <a:buChar char="•"/>
              </a:pPr>
              <a:r>
                <a:rPr lang="zh-CN" altLang="en-US" b="1" kern="1200" dirty="0">
                  <a:solidFill>
                    <a:srgbClr val="13568D"/>
                  </a:solidFill>
                </a:rPr>
                <a:t>研究内容</a:t>
              </a:r>
              <a:r>
                <a:rPr lang="zh-CN" altLang="en-US" kern="1200" dirty="0"/>
                <a:t>：</a:t>
              </a:r>
              <a:r>
                <a:rPr lang="en-US" altLang="zh-CN" kern="1200" dirty="0"/>
                <a:t>前期尝试 L1 原始数据推导弯曲角</a:t>
              </a:r>
              <a:r>
                <a:rPr lang="zh-CN" altLang="en-US" kern="1200" dirty="0"/>
                <a:t>，</a:t>
              </a:r>
              <a:r>
                <a:rPr lang="en-US" altLang="zh-CN" kern="1200" dirty="0"/>
                <a:t>因几何光学反演异常，中期阶段转向官方 L2 产品</a:t>
              </a:r>
              <a:endParaRPr lang="zh-CN" altLang="en-US" kern="1200" dirty="0"/>
            </a:p>
          </p:txBody>
        </p:sp>
      </p:grpSp>
      <p:grpSp>
        <p:nvGrpSpPr>
          <p:cNvPr id="27" name="组合 26"/>
          <p:cNvGrpSpPr/>
          <p:nvPr>
            <p:custDataLst>
              <p:tags r:id="rId13"/>
            </p:custDataLst>
          </p:nvPr>
        </p:nvGrpSpPr>
        <p:grpSpPr>
          <a:xfrm>
            <a:off x="3516057" y="1269479"/>
            <a:ext cx="888787" cy="603094"/>
            <a:chOff x="2849065" y="81502"/>
            <a:chExt cx="888787" cy="603094"/>
          </a:xfrm>
        </p:grpSpPr>
        <p:sp>
          <p:nvSpPr>
            <p:cNvPr id="28" name="箭头: 右 27"/>
            <p:cNvSpPr/>
            <p:nvPr>
              <p:custDataLst>
                <p:tags r:id="rId14"/>
              </p:custDataLst>
            </p:nvPr>
          </p:nvSpPr>
          <p:spPr>
            <a:xfrm>
              <a:off x="2849065" y="81502"/>
              <a:ext cx="888787" cy="60309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9" name="箭头: 右 4"/>
            <p:cNvSpPr txBox="1"/>
            <p:nvPr/>
          </p:nvSpPr>
          <p:spPr>
            <a:xfrm>
              <a:off x="2849065" y="202121"/>
              <a:ext cx="707859" cy="3618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grpSp>
        <p:nvGrpSpPr>
          <p:cNvPr id="30" name="组合 29"/>
          <p:cNvGrpSpPr/>
          <p:nvPr>
            <p:custDataLst>
              <p:tags r:id="rId15"/>
            </p:custDataLst>
          </p:nvPr>
        </p:nvGrpSpPr>
        <p:grpSpPr>
          <a:xfrm>
            <a:off x="8384707" y="1269479"/>
            <a:ext cx="2700000" cy="857933"/>
            <a:chOff x="7476" y="97072"/>
            <a:chExt cx="2422349" cy="857933"/>
          </a:xfrm>
        </p:grpSpPr>
        <p:sp>
          <p:nvSpPr>
            <p:cNvPr id="31" name="矩形: 圆角 30"/>
            <p:cNvSpPr/>
            <p:nvPr>
              <p:custDataLst>
                <p:tags r:id="rId16"/>
              </p:custDataLst>
            </p:nvPr>
          </p:nvSpPr>
          <p:spPr>
            <a:xfrm>
              <a:off x="7476" y="97072"/>
              <a:ext cx="2422349" cy="857933"/>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2" name="矩形: 圆角 4"/>
            <p:cNvSpPr txBox="1"/>
            <p:nvPr>
              <p:custDataLst>
                <p:tags r:id="rId17"/>
              </p:custDataLst>
            </p:nvPr>
          </p:nvSpPr>
          <p:spPr>
            <a:xfrm>
              <a:off x="7476" y="97072"/>
              <a:ext cx="2422349" cy="5719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zh-CN" altLang="en-US" sz="2000" b="1" kern="1200" dirty="0"/>
                <a:t>质量控制</a:t>
              </a:r>
              <a:endParaRPr lang="zh-CN" altLang="en-US" sz="2000" b="1" kern="1200" dirty="0"/>
            </a:p>
          </p:txBody>
        </p:sp>
      </p:grpSp>
      <p:grpSp>
        <p:nvGrpSpPr>
          <p:cNvPr id="33" name="组合 32"/>
          <p:cNvGrpSpPr/>
          <p:nvPr>
            <p:custDataLst>
              <p:tags r:id="rId18"/>
            </p:custDataLst>
          </p:nvPr>
        </p:nvGrpSpPr>
        <p:grpSpPr>
          <a:xfrm>
            <a:off x="8539887" y="1841433"/>
            <a:ext cx="3240003" cy="3780000"/>
            <a:chOff x="295540" y="669027"/>
            <a:chExt cx="2838509" cy="3571200"/>
          </a:xfrm>
        </p:grpSpPr>
        <p:sp>
          <p:nvSpPr>
            <p:cNvPr id="34" name="矩形: 圆角 33"/>
            <p:cNvSpPr/>
            <p:nvPr>
              <p:custDataLst>
                <p:tags r:id="rId19"/>
              </p:custDataLst>
            </p:nvPr>
          </p:nvSpPr>
          <p:spPr>
            <a:xfrm>
              <a:off x="295540" y="669027"/>
              <a:ext cx="2838509" cy="3571200"/>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35" name="矩形: 圆角 4"/>
            <p:cNvSpPr txBox="1"/>
            <p:nvPr>
              <p:custDataLst>
                <p:tags r:id="rId20"/>
              </p:custDataLst>
            </p:nvPr>
          </p:nvSpPr>
          <p:spPr>
            <a:xfrm>
              <a:off x="378677" y="752164"/>
              <a:ext cx="2672235" cy="340492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3792" tIns="113792" rIns="113792" bIns="113792" numCol="1" spcCol="1270" anchor="t" anchorCtr="0">
              <a:noAutofit/>
            </a:bodyPr>
            <a:lstStyle/>
            <a:p>
              <a:pPr marL="171450" lvl="1" indent="-171450" algn="l" defTabSz="711200">
                <a:lnSpc>
                  <a:spcPct val="150000"/>
                </a:lnSpc>
                <a:spcBef>
                  <a:spcPct val="0"/>
                </a:spcBef>
                <a:spcAft>
                  <a:spcPct val="15000"/>
                </a:spcAft>
                <a:buChar char="•"/>
              </a:pPr>
              <a:r>
                <a:rPr lang="zh-CN" altLang="en-US" b="1" kern="1200" dirty="0">
                  <a:solidFill>
                    <a:srgbClr val="13568D"/>
                  </a:solidFill>
                </a:rPr>
                <a:t>研究内容</a:t>
              </a:r>
              <a:r>
                <a:rPr lang="zh-CN" altLang="en-US" kern="1200" dirty="0"/>
                <a:t>：</a:t>
              </a:r>
              <a:r>
                <a:rPr lang="en-US" altLang="zh-CN" kern="1200" dirty="0"/>
                <a:t>构建 7 项 QC 规则过滤异常廓线</a:t>
              </a:r>
              <a:r>
                <a:rPr lang="zh-CN" altLang="en-US" kern="1200" dirty="0"/>
                <a:t>，</a:t>
              </a:r>
              <a:r>
                <a:rPr lang="en-US" altLang="zh-CN" kern="1200" dirty="0"/>
                <a:t>保证样本物理可信、数值稳定、格式统一</a:t>
              </a:r>
              <a:endParaRPr lang="zh-CN" altLang="en-US" kern="1200" dirty="0"/>
            </a:p>
          </p:txBody>
        </p:sp>
      </p:grpSp>
      <p:grpSp>
        <p:nvGrpSpPr>
          <p:cNvPr id="36" name="组合 35"/>
          <p:cNvGrpSpPr/>
          <p:nvPr>
            <p:custDataLst>
              <p:tags r:id="rId21"/>
            </p:custDataLst>
          </p:nvPr>
        </p:nvGrpSpPr>
        <p:grpSpPr>
          <a:xfrm>
            <a:off x="7400310" y="1269479"/>
            <a:ext cx="888787" cy="603094"/>
            <a:chOff x="2849065" y="81502"/>
            <a:chExt cx="888787" cy="603094"/>
          </a:xfrm>
        </p:grpSpPr>
        <p:sp>
          <p:nvSpPr>
            <p:cNvPr id="37" name="箭头: 右 36"/>
            <p:cNvSpPr/>
            <p:nvPr>
              <p:custDataLst>
                <p:tags r:id="rId22"/>
              </p:custDataLst>
            </p:nvPr>
          </p:nvSpPr>
          <p:spPr>
            <a:xfrm>
              <a:off x="2849065" y="81502"/>
              <a:ext cx="888787" cy="60309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8" name="箭头: 右 4"/>
            <p:cNvSpPr txBox="1"/>
            <p:nvPr/>
          </p:nvSpPr>
          <p:spPr>
            <a:xfrm>
              <a:off x="2849065" y="202121"/>
              <a:ext cx="707859" cy="3618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p>
          </p:txBody>
        </p:sp>
      </p:grpSp>
      <p:pic>
        <p:nvPicPr>
          <p:cNvPr id="8" name="图片 7"/>
          <p:cNvPicPr>
            <a:picLocks noChangeAspect="1"/>
          </p:cNvPicPr>
          <p:nvPr/>
        </p:nvPicPr>
        <p:blipFill>
          <a:blip r:embed="rId23"/>
          <a:stretch>
            <a:fillRect/>
          </a:stretch>
        </p:blipFill>
        <p:spPr>
          <a:xfrm>
            <a:off x="371475" y="6343015"/>
            <a:ext cx="8915400" cy="495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2" name="文本框 1"/>
          <p:cNvSpPr txBox="1"/>
          <p:nvPr/>
        </p:nvSpPr>
        <p:spPr>
          <a:xfrm>
            <a:off x="1775996" y="47155"/>
            <a:ext cx="9291294" cy="58356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二</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lang="zh-CN" altLang="en-US" sz="32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数据集构建与模型设计</a:t>
            </a:r>
            <a:endParaRPr lang="zh-CN" altLang="en-US" sz="3200" b="1" dirty="0">
              <a:solidFill>
                <a:schemeClr val="bg1"/>
              </a:solidFill>
              <a:latin typeface="微软雅黑" panose="020B0503020204020204" charset="-122"/>
              <a:ea typeface="微软雅黑" panose="020B0503020204020204" charset="-122"/>
            </a:endParaRPr>
          </a:p>
        </p:txBody>
      </p:sp>
      <p:sp>
        <p:nvSpPr>
          <p:cNvPr id="3" name="矩形 2"/>
          <p:cNvSpPr/>
          <p:nvPr/>
        </p:nvSpPr>
        <p:spPr>
          <a:xfrm>
            <a:off x="646305" y="947470"/>
            <a:ext cx="10849700" cy="452310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400" b="1" dirty="0"/>
              <a:t>高度统一化处理</a:t>
            </a:r>
            <a:r>
              <a:rPr lang="en-US" altLang="zh-CN" sz="2400" b="1" dirty="0"/>
              <a:t>：</a:t>
            </a:r>
            <a:r>
              <a:rPr lang="zh-CN" altLang="en-US" sz="2400" dirty="0"/>
              <a:t>将样本插值到 0-60 km、301 层标准网格，分辨率 0.2 km</a:t>
            </a:r>
            <a:endParaRPr lang="zh-CN" altLang="en-US" sz="2400" dirty="0"/>
          </a:p>
          <a:p>
            <a:pPr marL="285750" indent="-285750">
              <a:lnSpc>
                <a:spcPct val="150000"/>
              </a:lnSpc>
              <a:buFont typeface="Arial" panose="020B0604020202020204" pitchFamily="34" charset="0"/>
              <a:buChar char="•"/>
            </a:pPr>
            <a:r>
              <a:rPr lang="zh-CN" altLang="en-US" sz="2400" b="1" dirty="0"/>
              <a:t>数值预处理：</a:t>
            </a:r>
            <a:endParaRPr lang="zh-CN" altLang="en-US" sz="2400" dirty="0"/>
          </a:p>
          <a:p>
            <a:pPr marL="800100" lvl="1" indent="-342900" algn="l">
              <a:lnSpc>
                <a:spcPct val="150000"/>
              </a:lnSpc>
              <a:buFont typeface="Wingdings" panose="05000000000000000000" pitchFamily="2" charset="2"/>
              <a:buChar char="Ø"/>
            </a:pPr>
            <a:r>
              <a:rPr lang="zh-CN" altLang="en-US" sz="2000" dirty="0"/>
              <a:t>弯曲角进行对数相关变换</a:t>
            </a:r>
            <a:endParaRPr lang="zh-CN" altLang="en-US" sz="2000" dirty="0"/>
          </a:p>
          <a:p>
            <a:pPr marL="800100" lvl="1" indent="-342900" algn="l">
              <a:lnSpc>
                <a:spcPct val="150000"/>
              </a:lnSpc>
              <a:buFont typeface="Wingdings" panose="05000000000000000000" pitchFamily="2" charset="2"/>
              <a:buChar char="Ø"/>
            </a:pPr>
            <a:r>
              <a:rPr lang="zh-CN" altLang="en-US" sz="2000" dirty="0"/>
              <a:t>气压直接进行</a:t>
            </a:r>
            <a:r>
              <a:rPr lang="en-US" altLang="zh-CN" sz="2000" dirty="0"/>
              <a:t> log10(P) </a:t>
            </a:r>
            <a:r>
              <a:rPr lang="zh-CN" altLang="en-US" sz="2000" dirty="0"/>
              <a:t>变换</a:t>
            </a:r>
            <a:endParaRPr lang="zh-CN" altLang="en-US" sz="2000" dirty="0"/>
          </a:p>
          <a:p>
            <a:pPr marL="800100" lvl="1" indent="-342900" algn="l">
              <a:lnSpc>
                <a:spcPct val="150000"/>
              </a:lnSpc>
              <a:buFont typeface="Wingdings" panose="05000000000000000000" pitchFamily="2" charset="2"/>
              <a:buChar char="Ø"/>
            </a:pPr>
            <a:r>
              <a:rPr lang="zh-CN" altLang="en-US" sz="2000" dirty="0"/>
              <a:t>温度保持原值后做</a:t>
            </a:r>
            <a:r>
              <a:rPr lang="en-US" altLang="zh-CN" sz="2000" dirty="0"/>
              <a:t> Z-Score </a:t>
            </a:r>
            <a:r>
              <a:rPr lang="zh-CN" altLang="en-US" sz="2000" dirty="0"/>
              <a:t>标准化</a:t>
            </a:r>
            <a:endParaRPr lang="zh-CN" altLang="en-US" sz="2400" dirty="0"/>
          </a:p>
          <a:p>
            <a:pPr marL="285750" indent="-285750">
              <a:lnSpc>
                <a:spcPct val="150000"/>
              </a:lnSpc>
              <a:buFont typeface="Arial" panose="020B0604020202020204" pitchFamily="34" charset="0"/>
              <a:buChar char="•"/>
            </a:pPr>
            <a:r>
              <a:rPr lang="zh-CN" altLang="en-US" sz="2400" b="1" dirty="0"/>
              <a:t>数据集划分：</a:t>
            </a:r>
            <a:endParaRPr lang="en-US" altLang="zh-CN" sz="2400" b="1" dirty="0"/>
          </a:p>
          <a:p>
            <a:pPr marL="800100" lvl="1" indent="-342900">
              <a:lnSpc>
                <a:spcPct val="150000"/>
              </a:lnSpc>
              <a:buFont typeface="Wingdings" panose="05000000000000000000" pitchFamily="2" charset="2"/>
              <a:buChar char="Ø"/>
            </a:pPr>
            <a:r>
              <a:rPr lang="zh-CN" altLang="en-US" sz="2000" dirty="0"/>
              <a:t>训练集：</a:t>
            </a:r>
            <a:r>
              <a:rPr lang="en-US" altLang="zh-CN" sz="2000" dirty="0"/>
              <a:t>26,019</a:t>
            </a:r>
            <a:endParaRPr lang="en-US" altLang="zh-CN" sz="2000" dirty="0"/>
          </a:p>
          <a:p>
            <a:pPr marL="800100" lvl="1" indent="-342900">
              <a:lnSpc>
                <a:spcPct val="150000"/>
              </a:lnSpc>
              <a:buFont typeface="Wingdings" panose="05000000000000000000" pitchFamily="2" charset="2"/>
              <a:buChar char="Ø"/>
            </a:pPr>
            <a:r>
              <a:rPr lang="zh-CN" altLang="en-US" sz="2000" dirty="0"/>
              <a:t>验证集：</a:t>
            </a:r>
            <a:r>
              <a:rPr lang="en-US" altLang="zh-CN" sz="2000" dirty="0"/>
              <a:t>5,575</a:t>
            </a:r>
            <a:endParaRPr lang="en-US" altLang="zh-CN" sz="2000" dirty="0"/>
          </a:p>
          <a:p>
            <a:pPr marL="800100" lvl="1" indent="-342900">
              <a:lnSpc>
                <a:spcPct val="150000"/>
              </a:lnSpc>
              <a:buFont typeface="Wingdings" panose="05000000000000000000" pitchFamily="2" charset="2"/>
              <a:buChar char="Ø"/>
            </a:pPr>
            <a:r>
              <a:rPr lang="zh-CN" altLang="en-US" sz="2000" dirty="0"/>
              <a:t>测试集：</a:t>
            </a:r>
            <a:r>
              <a:rPr lang="en-US" altLang="zh-CN" sz="2000" dirty="0"/>
              <a:t>5,577</a:t>
            </a:r>
            <a:endParaRPr lang="en-US" altLang="zh-CN" sz="2000" dirty="0"/>
          </a:p>
        </p:txBody>
      </p:sp>
      <p:pic>
        <p:nvPicPr>
          <p:cNvPr id="8" name="图片 7"/>
          <p:cNvPicPr>
            <a:picLocks noChangeAspect="1"/>
          </p:cNvPicPr>
          <p:nvPr/>
        </p:nvPicPr>
        <p:blipFill>
          <a:blip r:embed="rId1"/>
          <a:stretch>
            <a:fillRect/>
          </a:stretch>
        </p:blipFill>
        <p:spPr>
          <a:xfrm>
            <a:off x="371475" y="6343015"/>
            <a:ext cx="8915400" cy="4953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9291294" cy="58356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二</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lang="zh-CN" altLang="en-US" sz="32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、数据集构建</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模型设计</a:t>
            </a:r>
            <a:endParaRPr lang="zh-CN" altLang="en-US" sz="32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503048" y="740580"/>
            <a:ext cx="10992957" cy="580415"/>
          </a:xfrm>
          <a:prstGeom prst="rect">
            <a:avLst/>
          </a:prstGeom>
        </p:spPr>
        <p:txBody>
          <a:bodyPr wrap="square">
            <a:spAutoFit/>
          </a:bodyPr>
          <a:lstStyle/>
          <a:p>
            <a:pPr>
              <a:lnSpc>
                <a:spcPct val="150000"/>
              </a:lnSpc>
            </a:pPr>
            <a:r>
              <a:rPr lang="zh-CN" altLang="en-US" sz="2400" dirty="0"/>
              <a:t>项目采用 DDPM 条件扩散模型，以增强型一维条件 U-Net 作为核心去噪网络。</a:t>
            </a:r>
            <a:endParaRPr lang="en-US" altLang="zh-CN" sz="2400" dirty="0"/>
          </a:p>
        </p:txBody>
      </p:sp>
      <p:grpSp>
        <p:nvGrpSpPr>
          <p:cNvPr id="8" name="组合 7"/>
          <p:cNvGrpSpPr/>
          <p:nvPr/>
        </p:nvGrpSpPr>
        <p:grpSpPr>
          <a:xfrm>
            <a:off x="1775460" y="1430805"/>
            <a:ext cx="3402965" cy="4636645"/>
            <a:chOff x="1081" y="2252"/>
            <a:chExt cx="5359" cy="7302"/>
          </a:xfrm>
        </p:grpSpPr>
        <p:sp>
          <p:nvSpPr>
            <p:cNvPr id="6" name="文本框 5"/>
            <p:cNvSpPr txBox="1"/>
            <p:nvPr>
              <p:custDataLst>
                <p:tags r:id="rId1"/>
              </p:custDataLst>
            </p:nvPr>
          </p:nvSpPr>
          <p:spPr>
            <a:xfrm>
              <a:off x="1183" y="2437"/>
              <a:ext cx="4934" cy="1598"/>
            </a:xfrm>
            <a:prstGeom prst="rect">
              <a:avLst/>
            </a:prstGeom>
            <a:noFill/>
          </p:spPr>
          <p:txBody>
            <a:bodyPr wrap="square">
              <a:spAutoFit/>
            </a:bodyPr>
            <a:lstStyle/>
            <a:p>
              <a:pPr indent="0" algn="ctr">
                <a:lnSpc>
                  <a:spcPct val="125000"/>
                </a:lnSpc>
                <a:buFont typeface="Arial" panose="020B0604020202020204" pitchFamily="34" charset="0"/>
                <a:buNone/>
              </a:pPr>
              <a:r>
                <a:rPr lang="zh-CN" altLang="en-US" sz="2400" b="1" dirty="0">
                  <a:latin typeface="+mj-ea"/>
                  <a:ea typeface="+mj-ea"/>
                </a:rPr>
                <a:t>扩散模型框架</a:t>
              </a:r>
              <a:endParaRPr lang="en-US" altLang="zh-CN" sz="2400" b="1" dirty="0">
                <a:latin typeface="+mj-ea"/>
                <a:ea typeface="+mj-ea"/>
              </a:endParaRPr>
            </a:p>
            <a:p>
              <a:pPr marL="285750" indent="0" algn="ctr">
                <a:lnSpc>
                  <a:spcPct val="125000"/>
                </a:lnSpc>
                <a:buFont typeface="Arial" panose="020B0604020202020204" pitchFamily="34" charset="0"/>
                <a:buNone/>
              </a:pPr>
              <a:endParaRPr lang="en-US" altLang="zh-CN" sz="2400" b="1" dirty="0">
                <a:latin typeface="+mj-ea"/>
                <a:ea typeface="+mj-ea"/>
              </a:endParaRPr>
            </a:p>
          </p:txBody>
        </p:sp>
        <p:sp>
          <p:nvSpPr>
            <p:cNvPr id="9" name="矩形: 圆角 8"/>
            <p:cNvSpPr/>
            <p:nvPr>
              <p:custDataLst>
                <p:tags r:id="rId2"/>
              </p:custDataLst>
            </p:nvPr>
          </p:nvSpPr>
          <p:spPr>
            <a:xfrm>
              <a:off x="1096" y="2252"/>
              <a:ext cx="5342" cy="7302"/>
            </a:xfrm>
            <a:prstGeom prst="roundRect">
              <a:avLst/>
            </a:prstGeom>
            <a:noFill/>
            <a:ln>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2" name="文本框 11"/>
            <p:cNvSpPr txBox="1"/>
            <p:nvPr>
              <p:custDataLst>
                <p:tags r:id="rId3"/>
              </p:custDataLst>
            </p:nvPr>
          </p:nvSpPr>
          <p:spPr>
            <a:xfrm>
              <a:off x="1081" y="3614"/>
              <a:ext cx="5359" cy="3756"/>
            </a:xfrm>
            <a:prstGeom prst="rect">
              <a:avLst/>
            </a:prstGeom>
            <a:noFill/>
          </p:spPr>
          <p:txBody>
            <a:bodyPr wrap="square">
              <a:noAutofit/>
            </a:bodyPr>
            <a:lstStyle/>
            <a:p>
              <a:pPr indent="457200" algn="l"/>
              <a:r>
                <a:rPr kumimoji="0" lang="zh-CN" altLang="en-US" sz="2000" i="0" u="none" strike="noStrike" kern="1200" cap="none" spc="0" normalizeH="0" baseline="0" noProof="0" dirty="0">
                  <a:ln>
                    <a:noFill/>
                  </a:ln>
                  <a:solidFill>
                    <a:prstClr val="black"/>
                  </a:solidFill>
                  <a:effectLst/>
                  <a:uLnTx/>
                  <a:uFillTx/>
                  <a:latin typeface="+mj-ea"/>
                  <a:ea typeface="+mj-ea"/>
                </a:rPr>
                <a:t>通过前向加噪和反向去噪学习大气廓线分布，从噪声中逐步恢复目标廓线。</a:t>
              </a:r>
              <a:endParaRPr kumimoji="0" lang="en-US" altLang="zh-CN" sz="2000" i="0" u="none" strike="noStrike" kern="1200" cap="none" spc="0" normalizeH="0" baseline="0" noProof="0" dirty="0">
                <a:ln>
                  <a:noFill/>
                </a:ln>
                <a:solidFill>
                  <a:prstClr val="black"/>
                </a:solidFill>
                <a:effectLst/>
                <a:uLnTx/>
                <a:uFillTx/>
                <a:latin typeface="+mj-ea"/>
                <a:ea typeface="+mj-ea"/>
              </a:endParaRPr>
            </a:p>
          </p:txBody>
        </p:sp>
      </p:grpSp>
      <p:pic>
        <p:nvPicPr>
          <p:cNvPr id="3" name="图片 2"/>
          <p:cNvPicPr>
            <a:picLocks noChangeAspect="1"/>
          </p:cNvPicPr>
          <p:nvPr/>
        </p:nvPicPr>
        <p:blipFill>
          <a:blip r:embed="rId4"/>
          <a:stretch>
            <a:fillRect/>
          </a:stretch>
        </p:blipFill>
        <p:spPr>
          <a:xfrm>
            <a:off x="371475" y="6343015"/>
            <a:ext cx="8915400" cy="495300"/>
          </a:xfrm>
          <a:prstGeom prst="rect">
            <a:avLst/>
          </a:prstGeom>
        </p:spPr>
      </p:pic>
      <p:grpSp>
        <p:nvGrpSpPr>
          <p:cNvPr id="10" name="组合 9"/>
          <p:cNvGrpSpPr/>
          <p:nvPr/>
        </p:nvGrpSpPr>
        <p:grpSpPr>
          <a:xfrm>
            <a:off x="6642160" y="1400960"/>
            <a:ext cx="3403540" cy="4636645"/>
            <a:chOff x="12087" y="2253"/>
            <a:chExt cx="5360" cy="7302"/>
          </a:xfrm>
        </p:grpSpPr>
        <p:sp>
          <p:nvSpPr>
            <p:cNvPr id="26" name="矩形: 圆角 25"/>
            <p:cNvSpPr/>
            <p:nvPr>
              <p:custDataLst>
                <p:tags r:id="rId5"/>
              </p:custDataLst>
            </p:nvPr>
          </p:nvSpPr>
          <p:spPr>
            <a:xfrm>
              <a:off x="12087" y="2253"/>
              <a:ext cx="5342" cy="7302"/>
            </a:xfrm>
            <a:prstGeom prst="roundRect">
              <a:avLst/>
            </a:prstGeom>
            <a:noFill/>
            <a:ln>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7" name="文本框 26"/>
            <p:cNvSpPr txBox="1"/>
            <p:nvPr>
              <p:custDataLst>
                <p:tags r:id="rId6"/>
              </p:custDataLst>
            </p:nvPr>
          </p:nvSpPr>
          <p:spPr>
            <a:xfrm>
              <a:off x="12088" y="2485"/>
              <a:ext cx="5347" cy="871"/>
            </a:xfrm>
            <a:prstGeom prst="rect">
              <a:avLst/>
            </a:prstGeom>
            <a:noFill/>
          </p:spPr>
          <p:txBody>
            <a:bodyPr wrap="square">
              <a:spAutoFit/>
            </a:bodyPr>
            <a:lstStyle/>
            <a:p>
              <a:pPr indent="0" algn="ctr">
                <a:lnSpc>
                  <a:spcPct val="125000"/>
                </a:lnSpc>
                <a:buFont typeface="Arial" panose="020B0604020202020204" pitchFamily="34" charset="0"/>
                <a:buNone/>
              </a:pPr>
              <a:r>
                <a:rPr lang="zh-CN" altLang="en-US" sz="2400" b="1" dirty="0">
                  <a:latin typeface="+mj-ea"/>
                  <a:ea typeface="+mj-ea"/>
                  <a:sym typeface="+mn-ea"/>
                </a:rPr>
                <a:t>增强</a:t>
              </a:r>
              <a:r>
                <a:rPr kumimoji="0" lang="zh-CN" altLang="en-US" sz="2400" b="1" i="0" u="none" strike="noStrike" kern="1200" cap="none" spc="0" normalizeH="0" baseline="0" noProof="0" dirty="0">
                  <a:ln>
                    <a:noFill/>
                  </a:ln>
                  <a:solidFill>
                    <a:prstClr val="black"/>
                  </a:solidFill>
                  <a:effectLst/>
                  <a:uLnTx/>
                  <a:uFillTx/>
                  <a:latin typeface="+mj-ea"/>
                  <a:ea typeface="+mj-ea"/>
                </a:rPr>
                <a:t>型一维条件</a:t>
              </a:r>
              <a:r>
                <a:rPr kumimoji="0" lang="en-US" altLang="zh-CN" sz="2400" b="1" i="0" u="none" strike="noStrike" kern="1200" cap="none" spc="0" normalizeH="0" baseline="0" noProof="0" dirty="0">
                  <a:ln>
                    <a:noFill/>
                  </a:ln>
                  <a:solidFill>
                    <a:prstClr val="black"/>
                  </a:solidFill>
                  <a:effectLst/>
                  <a:uLnTx/>
                  <a:uFillTx/>
                  <a:latin typeface="+mj-ea"/>
                  <a:ea typeface="+mj-ea"/>
                </a:rPr>
                <a:t> U-Net</a:t>
              </a:r>
              <a:endParaRPr kumimoji="0" lang="en-US" altLang="zh-CN" sz="2400" b="1" i="0" u="none" strike="noStrike" kern="1200" cap="none" spc="0" normalizeH="0" baseline="0" noProof="0" dirty="0">
                <a:ln>
                  <a:noFill/>
                </a:ln>
                <a:solidFill>
                  <a:prstClr val="black"/>
                </a:solidFill>
                <a:effectLst/>
                <a:uLnTx/>
                <a:uFillTx/>
                <a:latin typeface="+mj-ea"/>
                <a:ea typeface="+mj-ea"/>
              </a:endParaRPr>
            </a:p>
          </p:txBody>
        </p:sp>
        <p:sp>
          <p:nvSpPr>
            <p:cNvPr id="7" name="文本框 6"/>
            <p:cNvSpPr txBox="1"/>
            <p:nvPr>
              <p:custDataLst>
                <p:tags r:id="rId7"/>
              </p:custDataLst>
            </p:nvPr>
          </p:nvSpPr>
          <p:spPr>
            <a:xfrm>
              <a:off x="12088" y="3761"/>
              <a:ext cx="5359" cy="3756"/>
            </a:xfrm>
            <a:prstGeom prst="rect">
              <a:avLst/>
            </a:prstGeom>
            <a:noFill/>
          </p:spPr>
          <p:txBody>
            <a:bodyPr wrap="square">
              <a:noAutofit/>
            </a:bodyPr>
            <a:lstStyle/>
            <a:p>
              <a:pPr indent="457200" algn="l"/>
              <a:r>
                <a:rPr kumimoji="0" lang="zh-CN" altLang="en-US" sz="2000" i="0" u="none" strike="noStrike" kern="1200" cap="none" spc="0" normalizeH="0" baseline="0" noProof="0" dirty="0">
                  <a:ln>
                    <a:noFill/>
                  </a:ln>
                  <a:solidFill>
                    <a:prstClr val="black"/>
                  </a:solidFill>
                  <a:effectLst/>
                  <a:uLnTx/>
                  <a:uFillTx/>
                  <a:latin typeface="+mj-ea"/>
                  <a:ea typeface="+mj-ea"/>
                </a:rPr>
                <a:t>既能够通过编码器提取较大尺度特征，又能通过跳跃连接保留局部细节，因此比较适合重建连续的大气廓线。</a:t>
              </a:r>
              <a:endParaRPr kumimoji="0" lang="zh-CN" altLang="en-US" sz="2000" i="0" u="none" strike="noStrike" kern="1200" cap="none" spc="0" normalizeH="0" baseline="0" noProof="0" dirty="0">
                <a:ln>
                  <a:noFill/>
                </a:ln>
                <a:solidFill>
                  <a:prstClr val="black"/>
                </a:solidFill>
                <a:effectLst/>
                <a:uLnTx/>
                <a:uFillTx/>
                <a:latin typeface="+mj-ea"/>
                <a:ea typeface="+mj-e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9291294" cy="58356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二</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lang="zh-CN" altLang="en-US" sz="32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、数据集构建</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模型设计</a:t>
            </a:r>
            <a:endParaRPr lang="zh-CN" altLang="en-US" sz="32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503048" y="740580"/>
            <a:ext cx="10992957" cy="580415"/>
          </a:xfrm>
          <a:prstGeom prst="rect">
            <a:avLst/>
          </a:prstGeom>
        </p:spPr>
        <p:txBody>
          <a:bodyPr wrap="square">
            <a:spAutoFit/>
          </a:bodyPr>
          <a:lstStyle/>
          <a:p>
            <a:pPr>
              <a:lnSpc>
                <a:spcPct val="150000"/>
              </a:lnSpc>
            </a:pPr>
            <a:r>
              <a:rPr lang="zh-CN" altLang="en-US" sz="2400" dirty="0"/>
              <a:t>项目采用 DDPM 条件扩散模型，以增强型一维条件 U-Net 作为核心去噪网络。</a:t>
            </a:r>
            <a:endParaRPr lang="en-US" altLang="zh-CN" sz="2400" dirty="0"/>
          </a:p>
        </p:txBody>
      </p:sp>
      <p:grpSp>
        <p:nvGrpSpPr>
          <p:cNvPr id="8" name="组合 7"/>
          <p:cNvGrpSpPr/>
          <p:nvPr/>
        </p:nvGrpSpPr>
        <p:grpSpPr>
          <a:xfrm>
            <a:off x="1775460" y="1430655"/>
            <a:ext cx="3402965" cy="4636770"/>
            <a:chOff x="1081" y="2252"/>
            <a:chExt cx="5359" cy="7302"/>
          </a:xfrm>
        </p:grpSpPr>
        <p:sp>
          <p:nvSpPr>
            <p:cNvPr id="6" name="文本框 5"/>
            <p:cNvSpPr txBox="1"/>
            <p:nvPr>
              <p:custDataLst>
                <p:tags r:id="rId1"/>
              </p:custDataLst>
            </p:nvPr>
          </p:nvSpPr>
          <p:spPr>
            <a:xfrm>
              <a:off x="1183" y="2437"/>
              <a:ext cx="4934" cy="871"/>
            </a:xfrm>
            <a:prstGeom prst="rect">
              <a:avLst/>
            </a:prstGeom>
            <a:noFill/>
          </p:spPr>
          <p:txBody>
            <a:bodyPr wrap="square">
              <a:spAutoFit/>
            </a:bodyPr>
            <a:lstStyle/>
            <a:p>
              <a:pPr marL="285750" indent="0" algn="ctr">
                <a:lnSpc>
                  <a:spcPct val="125000"/>
                </a:lnSpc>
                <a:buFont typeface="Arial" panose="020B0604020202020204" pitchFamily="34" charset="0"/>
                <a:buNone/>
              </a:pPr>
              <a:r>
                <a:rPr lang="zh-CN" sz="2400" b="1" dirty="0">
                  <a:latin typeface="+mj-ea"/>
                  <a:ea typeface="+mj-ea"/>
                </a:rPr>
                <a:t>交叉注意力机制</a:t>
              </a:r>
              <a:endParaRPr lang="zh-CN" sz="2400" b="1" dirty="0">
                <a:latin typeface="+mj-ea"/>
                <a:ea typeface="+mj-ea"/>
              </a:endParaRPr>
            </a:p>
          </p:txBody>
        </p:sp>
        <p:sp>
          <p:nvSpPr>
            <p:cNvPr id="9" name="矩形: 圆角 8"/>
            <p:cNvSpPr/>
            <p:nvPr>
              <p:custDataLst>
                <p:tags r:id="rId2"/>
              </p:custDataLst>
            </p:nvPr>
          </p:nvSpPr>
          <p:spPr>
            <a:xfrm>
              <a:off x="1096" y="2252"/>
              <a:ext cx="5342" cy="7302"/>
            </a:xfrm>
            <a:prstGeom prst="roundRect">
              <a:avLst/>
            </a:prstGeom>
            <a:noFill/>
            <a:ln>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2" name="文本框 11"/>
            <p:cNvSpPr txBox="1"/>
            <p:nvPr>
              <p:custDataLst>
                <p:tags r:id="rId3"/>
              </p:custDataLst>
            </p:nvPr>
          </p:nvSpPr>
          <p:spPr>
            <a:xfrm>
              <a:off x="1081" y="3614"/>
              <a:ext cx="5359" cy="3756"/>
            </a:xfrm>
            <a:prstGeom prst="rect">
              <a:avLst/>
            </a:prstGeom>
            <a:noFill/>
          </p:spPr>
          <p:txBody>
            <a:bodyPr wrap="square">
              <a:noAutofit/>
            </a:bodyPr>
            <a:lstStyle/>
            <a:p>
              <a:pPr indent="457200" algn="l"/>
              <a:r>
                <a:rPr kumimoji="0" lang="zh-CN" altLang="en-US" sz="2000" i="0" u="none" strike="noStrike" kern="1200" cap="none" spc="0" normalizeH="0" baseline="0" noProof="0" dirty="0">
                  <a:ln>
                    <a:noFill/>
                  </a:ln>
                  <a:solidFill>
                    <a:prstClr val="black"/>
                  </a:solidFill>
                  <a:effectLst/>
                  <a:uLnTx/>
                  <a:uFillTx/>
                  <a:latin typeface="+mj-ea"/>
                  <a:ea typeface="+mj-ea"/>
                </a:rPr>
                <a:t>与简单特征拼接方案相比，交叉注意力使模型能够在去噪过程中动态且自适应地聚焦于弯曲角廓线中与当前去噪状态最相关的高度区间，实现了更精细的条件信息引导。采用</a:t>
              </a:r>
              <a:r>
                <a:rPr kumimoji="0" lang="en-US" altLang="zh-CN" sz="2000" i="0" u="none" strike="noStrike" kern="1200" cap="none" spc="0" normalizeH="0" baseline="0" noProof="0" dirty="0">
                  <a:ln>
                    <a:noFill/>
                  </a:ln>
                  <a:solidFill>
                    <a:prstClr val="black"/>
                  </a:solidFill>
                  <a:effectLst/>
                  <a:uLnTx/>
                  <a:uFillTx/>
                  <a:latin typeface="+mj-ea"/>
                  <a:ea typeface="+mj-ea"/>
                </a:rPr>
                <a:t> 4 </a:t>
              </a:r>
              <a:r>
                <a:rPr kumimoji="0" lang="zh-CN" altLang="en-US" sz="2000" i="0" u="none" strike="noStrike" kern="1200" cap="none" spc="0" normalizeH="0" baseline="0" noProof="0" dirty="0">
                  <a:ln>
                    <a:noFill/>
                  </a:ln>
                  <a:solidFill>
                    <a:prstClr val="black"/>
                  </a:solidFill>
                  <a:effectLst/>
                  <a:uLnTx/>
                  <a:uFillTx/>
                  <a:latin typeface="+mj-ea"/>
                  <a:ea typeface="+mj-ea"/>
                </a:rPr>
                <a:t>个注意力头（</a:t>
              </a:r>
              <a:r>
                <a:rPr kumimoji="0" lang="en-US" altLang="zh-CN" sz="2000" i="0" u="none" strike="noStrike" kern="1200" cap="none" spc="0" normalizeH="0" baseline="0" noProof="0" dirty="0">
                  <a:ln>
                    <a:noFill/>
                  </a:ln>
                  <a:solidFill>
                    <a:prstClr val="black"/>
                  </a:solidFill>
                  <a:effectLst/>
                  <a:uLnTx/>
                  <a:uFillTx/>
                  <a:latin typeface="+mj-ea"/>
                  <a:ea typeface="+mj-ea"/>
                </a:rPr>
                <a:t>Multi-Head Attention</a:t>
              </a:r>
              <a:r>
                <a:rPr kumimoji="0" lang="zh-CN" altLang="en-US" sz="2000" i="0" u="none" strike="noStrike" kern="1200" cap="none" spc="0" normalizeH="0" baseline="0" noProof="0" dirty="0">
                  <a:ln>
                    <a:noFill/>
                  </a:ln>
                  <a:solidFill>
                    <a:prstClr val="black"/>
                  </a:solidFill>
                  <a:effectLst/>
                  <a:uLnTx/>
                  <a:uFillTx/>
                  <a:latin typeface="+mj-ea"/>
                  <a:ea typeface="+mj-ea"/>
                </a:rPr>
                <a:t>）进一步增强了特征表达的多样性。</a:t>
              </a:r>
              <a:endParaRPr kumimoji="0" lang="en-US" altLang="zh-CN" sz="2000" i="0" u="none" strike="noStrike" kern="1200" cap="none" spc="0" normalizeH="0" baseline="0" noProof="0" dirty="0">
                <a:ln>
                  <a:noFill/>
                </a:ln>
                <a:solidFill>
                  <a:prstClr val="black"/>
                </a:solidFill>
                <a:effectLst/>
                <a:uLnTx/>
                <a:uFillTx/>
                <a:latin typeface="+mj-ea"/>
                <a:ea typeface="+mj-ea"/>
              </a:endParaRPr>
            </a:p>
          </p:txBody>
        </p:sp>
      </p:grpSp>
      <p:pic>
        <p:nvPicPr>
          <p:cNvPr id="3" name="图片 2"/>
          <p:cNvPicPr>
            <a:picLocks noChangeAspect="1"/>
          </p:cNvPicPr>
          <p:nvPr/>
        </p:nvPicPr>
        <p:blipFill>
          <a:blip r:embed="rId4"/>
          <a:stretch>
            <a:fillRect/>
          </a:stretch>
        </p:blipFill>
        <p:spPr>
          <a:xfrm>
            <a:off x="371475" y="6343015"/>
            <a:ext cx="8915400" cy="495300"/>
          </a:xfrm>
          <a:prstGeom prst="rect">
            <a:avLst/>
          </a:prstGeom>
        </p:spPr>
      </p:pic>
      <p:grpSp>
        <p:nvGrpSpPr>
          <p:cNvPr id="10" name="组合 9"/>
          <p:cNvGrpSpPr/>
          <p:nvPr/>
        </p:nvGrpSpPr>
        <p:grpSpPr>
          <a:xfrm>
            <a:off x="6642160" y="1400960"/>
            <a:ext cx="3403540" cy="4636645"/>
            <a:chOff x="12087" y="2253"/>
            <a:chExt cx="5360" cy="7302"/>
          </a:xfrm>
        </p:grpSpPr>
        <p:sp>
          <p:nvSpPr>
            <p:cNvPr id="26" name="矩形: 圆角 25"/>
            <p:cNvSpPr/>
            <p:nvPr>
              <p:custDataLst>
                <p:tags r:id="rId5"/>
              </p:custDataLst>
            </p:nvPr>
          </p:nvSpPr>
          <p:spPr>
            <a:xfrm>
              <a:off x="12087" y="2253"/>
              <a:ext cx="5342" cy="7302"/>
            </a:xfrm>
            <a:prstGeom prst="roundRect">
              <a:avLst/>
            </a:prstGeom>
            <a:noFill/>
            <a:ln>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7" name="文本框 26"/>
            <p:cNvSpPr txBox="1"/>
            <p:nvPr>
              <p:custDataLst>
                <p:tags r:id="rId6"/>
              </p:custDataLst>
            </p:nvPr>
          </p:nvSpPr>
          <p:spPr>
            <a:xfrm>
              <a:off x="12088" y="2485"/>
              <a:ext cx="5347" cy="871"/>
            </a:xfrm>
            <a:prstGeom prst="rect">
              <a:avLst/>
            </a:prstGeom>
            <a:noFill/>
          </p:spPr>
          <p:txBody>
            <a:bodyPr wrap="square">
              <a:spAutoFit/>
            </a:bodyPr>
            <a:lstStyle/>
            <a:p>
              <a:pPr indent="0" algn="ctr">
                <a:lnSpc>
                  <a:spcPct val="125000"/>
                </a:lnSpc>
                <a:buFont typeface="Arial" panose="020B0604020202020204" pitchFamily="34" charset="0"/>
                <a:buNone/>
              </a:pPr>
              <a:r>
                <a:rPr kumimoji="0" lang="zh-CN" altLang="en-US" sz="2400" b="1" i="0" u="none" strike="noStrike" kern="1200" cap="none" spc="0" normalizeH="0" baseline="0" noProof="0" dirty="0">
                  <a:ln>
                    <a:noFill/>
                  </a:ln>
                  <a:solidFill>
                    <a:prstClr val="black"/>
                  </a:solidFill>
                  <a:effectLst/>
                  <a:uLnTx/>
                  <a:uFillTx/>
                  <a:latin typeface="+mj-ea"/>
                  <a:ea typeface="+mj-ea"/>
                </a:rPr>
                <a:t>残差块与时间步嵌入</a:t>
              </a:r>
              <a:endParaRPr kumimoji="0" lang="en-US" altLang="zh-CN" sz="2400" b="1" i="0" u="none" strike="noStrike" kern="1200" cap="none" spc="0" normalizeH="0" baseline="0" noProof="0" dirty="0">
                <a:ln>
                  <a:noFill/>
                </a:ln>
                <a:solidFill>
                  <a:prstClr val="black"/>
                </a:solidFill>
                <a:effectLst/>
                <a:uLnTx/>
                <a:uFillTx/>
                <a:latin typeface="+mj-ea"/>
                <a:ea typeface="+mj-ea"/>
              </a:endParaRPr>
            </a:p>
          </p:txBody>
        </p:sp>
        <p:sp>
          <p:nvSpPr>
            <p:cNvPr id="7" name="文本框 6"/>
            <p:cNvSpPr txBox="1"/>
            <p:nvPr>
              <p:custDataLst>
                <p:tags r:id="rId7"/>
              </p:custDataLst>
            </p:nvPr>
          </p:nvSpPr>
          <p:spPr>
            <a:xfrm>
              <a:off x="12088" y="3761"/>
              <a:ext cx="5359" cy="3756"/>
            </a:xfrm>
            <a:prstGeom prst="rect">
              <a:avLst/>
            </a:prstGeom>
            <a:noFill/>
          </p:spPr>
          <p:txBody>
            <a:bodyPr wrap="square">
              <a:noAutofit/>
            </a:bodyPr>
            <a:lstStyle/>
            <a:p>
              <a:pPr indent="457200" algn="l"/>
              <a:r>
                <a:rPr kumimoji="0" lang="zh-CN" altLang="en-US" sz="2000" i="0" u="none" strike="noStrike" kern="1200" cap="none" spc="0" normalizeH="0" baseline="0" noProof="0" dirty="0">
                  <a:ln>
                    <a:noFill/>
                  </a:ln>
                  <a:solidFill>
                    <a:prstClr val="black"/>
                  </a:solidFill>
                  <a:effectLst/>
                  <a:uLnTx/>
                  <a:uFillTx/>
                  <a:latin typeface="+mj-ea"/>
                  <a:ea typeface="+mj-ea"/>
                </a:rPr>
                <a:t>采用残差块作为网络的基本计算单元，改善深层网络训练稳定性、增强梯度传播能力；由于扩散模型在不同去噪步的任务难度不同，采用时间步嵌入结构，使模型能够根据当前噪声水平自适应地调整去噪策略。</a:t>
              </a:r>
              <a:endParaRPr kumimoji="0" lang="zh-CN" altLang="en-US" sz="2000" i="0" u="none" strike="noStrike" kern="1200" cap="none" spc="0" normalizeH="0" baseline="0" noProof="0" dirty="0">
                <a:ln>
                  <a:noFill/>
                </a:ln>
                <a:solidFill>
                  <a:prstClr val="black"/>
                </a:solidFill>
                <a:effectLst/>
                <a:uLnTx/>
                <a:uFillTx/>
                <a:latin typeface="+mj-ea"/>
                <a:ea typeface="+mj-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825530" y="2319934"/>
            <a:ext cx="897890" cy="897890"/>
          </a:xfrm>
          <a:prstGeom prst="ellipse">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椭圆 1"/>
          <p:cNvSpPr/>
          <p:nvPr/>
        </p:nvSpPr>
        <p:spPr>
          <a:xfrm>
            <a:off x="2825530" y="2650769"/>
            <a:ext cx="1557655" cy="155765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0" y="0"/>
            <a:ext cx="12192000" cy="6858000"/>
          </a:xfrm>
          <a:prstGeom prst="rect">
            <a:avLst/>
          </a:prstGeom>
          <a:gradFill flip="none" rotWithShape="1">
            <a:gsLst>
              <a:gs pos="0">
                <a:schemeClr val="bg1">
                  <a:alpha val="41000"/>
                </a:schemeClr>
              </a:gs>
              <a:gs pos="51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3185530" y="2650552"/>
            <a:ext cx="7686690" cy="1568450"/>
            <a:chOff x="4043304" y="1967642"/>
            <a:chExt cx="7686690" cy="1568450"/>
          </a:xfrm>
        </p:grpSpPr>
        <p:sp>
          <p:nvSpPr>
            <p:cNvPr id="47" name="文本框 46"/>
            <p:cNvSpPr txBox="1"/>
            <p:nvPr/>
          </p:nvSpPr>
          <p:spPr>
            <a:xfrm>
              <a:off x="5447304" y="1967642"/>
              <a:ext cx="6282690" cy="1568450"/>
            </a:xfrm>
            <a:prstGeom prst="rect">
              <a:avLst/>
            </a:prstGeom>
            <a:noFill/>
          </p:spPr>
          <p:txBody>
            <a:bodyPr wrap="square" rtlCol="0">
              <a:spAutoFit/>
            </a:bodyPr>
            <a:lstStyle/>
            <a:p>
              <a:r>
                <a:rPr lang="zh-CN" altLang="en-US" sz="4800" b="1" dirty="0">
                  <a:solidFill>
                    <a:srgbClr val="004E98"/>
                  </a:solidFill>
                  <a:latin typeface="微软雅黑" panose="020B0503020204020204" charset="-122"/>
                  <a:ea typeface="微软雅黑" panose="020B0503020204020204" charset="-122"/>
                </a:rPr>
                <a:t>测试结果与</a:t>
              </a:r>
              <a:endParaRPr lang="zh-CN" altLang="en-US" sz="4800" b="1" dirty="0">
                <a:solidFill>
                  <a:srgbClr val="004E98"/>
                </a:solidFill>
                <a:latin typeface="微软雅黑" panose="020B0503020204020204" charset="-122"/>
                <a:ea typeface="微软雅黑" panose="020B0503020204020204" charset="-122"/>
              </a:endParaRPr>
            </a:p>
            <a:p>
              <a:pPr marL="1371600" lvl="3" indent="457200"/>
              <a:r>
                <a:rPr lang="zh-CN" altLang="en-US" sz="4800" b="1" dirty="0">
                  <a:solidFill>
                    <a:srgbClr val="004E98"/>
                  </a:solidFill>
                  <a:latin typeface="微软雅黑" panose="020B0503020204020204" charset="-122"/>
                  <a:ea typeface="微软雅黑" panose="020B0503020204020204" charset="-122"/>
                </a:rPr>
                <a:t>性能评估</a:t>
              </a:r>
              <a:endParaRPr lang="zh-CN" altLang="en-US" sz="4800" b="1" dirty="0">
                <a:solidFill>
                  <a:srgbClr val="004E98"/>
                </a:solidFill>
                <a:latin typeface="微软雅黑" panose="020B0503020204020204" charset="-122"/>
                <a:ea typeface="微软雅黑" panose="020B0503020204020204" charset="-122"/>
              </a:endParaRPr>
            </a:p>
          </p:txBody>
        </p:sp>
        <p:sp>
          <p:nvSpPr>
            <p:cNvPr id="48" name="文本框 47"/>
            <p:cNvSpPr txBox="1"/>
            <p:nvPr/>
          </p:nvSpPr>
          <p:spPr>
            <a:xfrm>
              <a:off x="4043304" y="2327815"/>
              <a:ext cx="1719554" cy="829945"/>
            </a:xfrm>
            <a:prstGeom prst="rect">
              <a:avLst/>
            </a:prstGeom>
            <a:noFill/>
          </p:spPr>
          <p:txBody>
            <a:bodyPr wrap="square" rtlCol="0">
              <a:spAutoFit/>
            </a:bodyPr>
            <a:lstStyle/>
            <a:p>
              <a:r>
                <a:rPr lang="zh-CN" altLang="en-US" sz="4800" b="1" dirty="0">
                  <a:solidFill>
                    <a:srgbClr val="004E98"/>
                  </a:solidFill>
                  <a:latin typeface="微软雅黑" panose="020B0503020204020204" charset="-122"/>
                  <a:ea typeface="微软雅黑" panose="020B0503020204020204" charset="-122"/>
                </a:rPr>
                <a:t>三</a:t>
              </a:r>
              <a:endParaRPr lang="zh-CN" altLang="en-US" sz="4800" b="1" dirty="0">
                <a:solidFill>
                  <a:srgbClr val="004E98"/>
                </a:solidFill>
                <a:latin typeface="微软雅黑" panose="020B0503020204020204" charset="-122"/>
                <a:ea typeface="微软雅黑" panose="020B0503020204020204" charset="-122"/>
              </a:endParaRPr>
            </a:p>
          </p:txBody>
        </p:sp>
        <p:cxnSp>
          <p:nvCxnSpPr>
            <p:cNvPr id="51" name="直接连接符 50"/>
            <p:cNvCxnSpPr/>
            <p:nvPr/>
          </p:nvCxnSpPr>
          <p:spPr>
            <a:xfrm>
              <a:off x="5231751" y="2241962"/>
              <a:ext cx="0" cy="1008256"/>
            </a:xfrm>
            <a:prstGeom prst="line">
              <a:avLst/>
            </a:prstGeom>
            <a:ln w="19050">
              <a:solidFill>
                <a:srgbClr val="004E98"/>
              </a:soli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49642" y="0"/>
            <a:ext cx="1042358" cy="8987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2" name="文本框 1"/>
          <p:cNvSpPr txBox="1"/>
          <p:nvPr/>
        </p:nvSpPr>
        <p:spPr>
          <a:xfrm>
            <a:off x="1775996" y="47155"/>
            <a:ext cx="9291294" cy="95313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三</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、测试结果与性能评估</a:t>
            </a:r>
            <a:endParaRPr kumimoji="0" lang="zh-CN" altLang="en-US"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a:p>
            <a:pPr algn="ctr">
              <a:defRPr/>
            </a:pPr>
            <a:endParaRPr kumimoji="0" lang="zh-CN" altLang="en-US"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矩形 2"/>
          <p:cNvSpPr/>
          <p:nvPr/>
        </p:nvSpPr>
        <p:spPr>
          <a:xfrm>
            <a:off x="646430" y="691515"/>
            <a:ext cx="10849610" cy="4907915"/>
          </a:xfrm>
          <a:prstGeom prst="rect">
            <a:avLst/>
          </a:prstGeom>
        </p:spPr>
        <p:txBody>
          <a:bodyPr wrap="square">
            <a:noAutofit/>
          </a:bodyPr>
          <a:lstStyle/>
          <a:p>
            <a:pPr marL="285750" indent="-285750">
              <a:lnSpc>
                <a:spcPct val="150000"/>
              </a:lnSpc>
              <a:buFont typeface="Arial" panose="020B0604020202020204" pitchFamily="34" charset="0"/>
              <a:buChar char="•"/>
            </a:pPr>
            <a:r>
              <a:rPr lang="en-US" altLang="zh-CN" sz="2400" b="1" dirty="0"/>
              <a:t>训练</a:t>
            </a:r>
            <a:r>
              <a:rPr lang="zh-CN" altLang="en-US" sz="2400" b="1" dirty="0"/>
              <a:t>配置：</a:t>
            </a:r>
            <a:endParaRPr lang="zh-CN" altLang="en-US" sz="2400" b="1" dirty="0"/>
          </a:p>
          <a:p>
            <a:pPr marL="800100" lvl="1" indent="-342900" algn="l">
              <a:lnSpc>
                <a:spcPct val="150000"/>
              </a:lnSpc>
              <a:buFont typeface="Wingdings" panose="05000000000000000000" pitchFamily="2" charset="2"/>
              <a:buChar char="Ø"/>
            </a:pPr>
            <a:r>
              <a:rPr lang="en-US" altLang="zh-CN" sz="2000" dirty="0">
                <a:sym typeface="+mn-ea"/>
              </a:rPr>
              <a:t>GPU</a:t>
            </a:r>
            <a:r>
              <a:rPr lang="zh-CN" altLang="en-US" sz="2000" dirty="0">
                <a:sym typeface="+mn-ea"/>
              </a:rPr>
              <a:t>：</a:t>
            </a:r>
            <a:r>
              <a:rPr lang="en-US" altLang="zh-CN" sz="2000" dirty="0">
                <a:sym typeface="+mn-ea"/>
              </a:rPr>
              <a:t>Tesla V100-PCIE-32GB</a:t>
            </a:r>
            <a:endParaRPr lang="en-US" altLang="zh-CN" sz="2000" dirty="0"/>
          </a:p>
          <a:p>
            <a:pPr marL="800100" lvl="1" indent="-342900" algn="l">
              <a:lnSpc>
                <a:spcPct val="150000"/>
              </a:lnSpc>
              <a:buFont typeface="Wingdings" panose="05000000000000000000" pitchFamily="2" charset="2"/>
              <a:buChar char="Ø"/>
            </a:pPr>
            <a:r>
              <a:rPr lang="zh-CN" altLang="en-US" sz="2000" dirty="0">
                <a:sym typeface="+mn-ea"/>
              </a:rPr>
              <a:t>优化器：</a:t>
            </a:r>
            <a:r>
              <a:rPr lang="en-US" altLang="zh-CN" sz="2000" dirty="0">
                <a:sym typeface="+mn-ea"/>
              </a:rPr>
              <a:t>Adam</a:t>
            </a:r>
            <a:endParaRPr lang="en-US" altLang="zh-CN" sz="2000" dirty="0">
              <a:sym typeface="+mn-ea"/>
            </a:endParaRPr>
          </a:p>
          <a:p>
            <a:pPr marL="800100" lvl="1" indent="-342900" algn="l">
              <a:lnSpc>
                <a:spcPct val="150000"/>
              </a:lnSpc>
              <a:buFont typeface="Wingdings" panose="05000000000000000000" pitchFamily="2" charset="2"/>
              <a:buChar char="Ø"/>
            </a:pPr>
            <a:r>
              <a:rPr lang="zh-CN" altLang="en-US" sz="2000" dirty="0">
                <a:sym typeface="+mn-ea"/>
              </a:rPr>
              <a:t>学习率：</a:t>
            </a:r>
            <a:r>
              <a:rPr lang="en-US" altLang="zh-CN" sz="2000" dirty="0">
                <a:sym typeface="+mn-ea"/>
              </a:rPr>
              <a:t>1</a:t>
            </a:r>
            <a:r>
              <a:rPr lang="en-US" altLang="zh-CN" sz="2000" dirty="0"/>
              <a:t>e-4</a:t>
            </a:r>
            <a:endParaRPr lang="en-US" altLang="zh-CN" sz="2000" dirty="0"/>
          </a:p>
          <a:p>
            <a:pPr marL="800100" lvl="1" indent="-342900" algn="l">
              <a:lnSpc>
                <a:spcPct val="150000"/>
              </a:lnSpc>
              <a:buFont typeface="Wingdings" panose="05000000000000000000" pitchFamily="2" charset="2"/>
              <a:buChar char="Ø"/>
            </a:pPr>
            <a:r>
              <a:rPr lang="en-US" altLang="zh-CN" sz="2000" dirty="0">
                <a:sym typeface="+mn-ea"/>
              </a:rPr>
              <a:t>Batch Size</a:t>
            </a:r>
            <a:r>
              <a:rPr lang="zh-CN" altLang="en-US" sz="2000" dirty="0">
                <a:sym typeface="+mn-ea"/>
              </a:rPr>
              <a:t>：</a:t>
            </a:r>
            <a:r>
              <a:rPr lang="en-US" altLang="zh-CN" sz="2000" dirty="0">
                <a:sym typeface="+mn-ea"/>
              </a:rPr>
              <a:t>64</a:t>
            </a:r>
            <a:endParaRPr lang="en-US" altLang="zh-CN" sz="2000" dirty="0"/>
          </a:p>
          <a:p>
            <a:pPr marL="800100" lvl="1" indent="-342900" algn="l">
              <a:lnSpc>
                <a:spcPct val="150000"/>
              </a:lnSpc>
              <a:buFont typeface="Wingdings" panose="05000000000000000000" pitchFamily="2" charset="2"/>
              <a:buChar char="Ø"/>
            </a:pPr>
            <a:r>
              <a:rPr lang="zh-CN" altLang="en-US" sz="2000" dirty="0">
                <a:sym typeface="+mn-ea"/>
              </a:rPr>
              <a:t>最大</a:t>
            </a:r>
            <a:r>
              <a:rPr lang="en-US" altLang="zh-CN" sz="2000" dirty="0">
                <a:sym typeface="+mn-ea"/>
              </a:rPr>
              <a:t> Epoch </a:t>
            </a:r>
            <a:r>
              <a:rPr lang="zh-CN" altLang="en-US" sz="2000" dirty="0">
                <a:sym typeface="+mn-ea"/>
              </a:rPr>
              <a:t>：</a:t>
            </a:r>
            <a:r>
              <a:rPr lang="en-US" altLang="zh-CN" sz="2000" dirty="0">
                <a:sym typeface="+mn-ea"/>
              </a:rPr>
              <a:t>100</a:t>
            </a:r>
            <a:endParaRPr lang="en-US" altLang="zh-CN" sz="2000" dirty="0"/>
          </a:p>
          <a:p>
            <a:pPr marL="800100" lvl="1" indent="-342900" algn="l">
              <a:lnSpc>
                <a:spcPct val="150000"/>
              </a:lnSpc>
              <a:buFont typeface="Wingdings" panose="05000000000000000000" pitchFamily="2" charset="2"/>
              <a:buChar char="Ø"/>
            </a:pPr>
            <a:r>
              <a:rPr lang="zh-CN" altLang="en-US" sz="2000" dirty="0">
                <a:sym typeface="+mn-ea"/>
              </a:rPr>
              <a:t>正则化：梯度裁剪</a:t>
            </a:r>
            <a:r>
              <a:rPr lang="en-US" altLang="zh-CN" sz="2000" dirty="0">
                <a:sym typeface="+mn-ea"/>
              </a:rPr>
              <a:t> + Early Stopping</a:t>
            </a:r>
            <a:endParaRPr lang="zh-CN" altLang="en-US" sz="2400" b="1" dirty="0"/>
          </a:p>
          <a:p>
            <a:pPr marL="0" lvl="1" indent="-285750">
              <a:lnSpc>
                <a:spcPct val="150000"/>
              </a:lnSpc>
              <a:buFont typeface="Arial" panose="020B0604020202020204" pitchFamily="34" charset="0"/>
              <a:buChar char="•"/>
            </a:pPr>
            <a:r>
              <a:rPr lang="zh-CN" altLang="en-US" sz="2400" b="1" dirty="0">
                <a:sym typeface="+mn-ea"/>
              </a:rPr>
              <a:t>验证</a:t>
            </a:r>
            <a:r>
              <a:rPr lang="en-US" altLang="zh-CN" sz="2400" b="1" dirty="0">
                <a:sym typeface="+mn-ea"/>
              </a:rPr>
              <a:t>结果：</a:t>
            </a:r>
            <a:endParaRPr lang="en-US" altLang="zh-CN" sz="2400" b="1" dirty="0">
              <a:sym typeface="+mn-ea"/>
            </a:endParaRPr>
          </a:p>
          <a:p>
            <a:pPr marL="0" lvl="1" indent="457200">
              <a:lnSpc>
                <a:spcPct val="150000"/>
              </a:lnSpc>
              <a:buFont typeface="Arial" panose="020B0604020202020204" pitchFamily="34" charset="0"/>
              <a:buNone/>
            </a:pPr>
            <a:r>
              <a:rPr lang="en-US" altLang="zh-CN" sz="2000" dirty="0">
                <a:sym typeface="+mn-ea"/>
              </a:rPr>
              <a:t>Q1 全季度数据训练样本 26,019，最优验证损失达</a:t>
            </a:r>
            <a:r>
              <a:rPr lang="zh-CN" altLang="en-US" sz="2000" dirty="0">
                <a:sym typeface="+mn-ea"/>
              </a:rPr>
              <a:t>为</a:t>
            </a:r>
            <a:r>
              <a:rPr lang="en-US" altLang="zh-CN" sz="2000" dirty="0">
                <a:sym typeface="+mn-ea"/>
              </a:rPr>
              <a:t>0.014280，模型已稳定收敛。 </a:t>
            </a:r>
            <a:endParaRPr lang="en-US" altLang="zh-CN" sz="2000" dirty="0"/>
          </a:p>
          <a:p>
            <a:pPr marL="285750" indent="-285750">
              <a:lnSpc>
                <a:spcPct val="150000"/>
              </a:lnSpc>
              <a:buFont typeface="Arial" panose="020B0604020202020204" pitchFamily="34" charset="0"/>
              <a:buChar char="•"/>
            </a:pPr>
            <a:endParaRPr lang="en-US" altLang="zh-CN" sz="2400" b="1" dirty="0"/>
          </a:p>
          <a:p>
            <a:pPr lvl="1" indent="0">
              <a:lnSpc>
                <a:spcPct val="150000"/>
              </a:lnSpc>
              <a:buFont typeface="Wingdings" panose="05000000000000000000" pitchFamily="2" charset="2"/>
              <a:buNone/>
            </a:pPr>
            <a:endParaRPr lang="en-US" altLang="zh-CN" sz="2000" dirty="0"/>
          </a:p>
        </p:txBody>
      </p:sp>
      <p:pic>
        <p:nvPicPr>
          <p:cNvPr id="8" name="图片 7"/>
          <p:cNvPicPr>
            <a:picLocks noChangeAspect="1"/>
          </p:cNvPicPr>
          <p:nvPr/>
        </p:nvPicPr>
        <p:blipFill>
          <a:blip r:embed="rId1"/>
          <a:stretch>
            <a:fillRect/>
          </a:stretch>
        </p:blipFill>
        <p:spPr>
          <a:xfrm>
            <a:off x="371475" y="6343015"/>
            <a:ext cx="8915400" cy="4953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8640008" cy="584775"/>
          </a:xfrm>
          <a:prstGeom prst="rect">
            <a:avLst/>
          </a:prstGeom>
          <a:noFill/>
        </p:spPr>
        <p:txBody>
          <a:bodyPr wrap="square" rtlCol="0">
            <a:spAutoFit/>
          </a:bodyPr>
          <a:lstStyle/>
          <a:p>
            <a:pPr algn="ctr">
              <a:defRPr/>
            </a:pP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三、测试结果与性能评估</a:t>
            </a:r>
            <a:endParaRPr lang="zh-CN" altLang="en-US" sz="3200" b="1" dirty="0">
              <a:solidFill>
                <a:schemeClr val="bg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1"/>
          <a:stretch>
            <a:fillRect/>
          </a:stretch>
        </p:blipFill>
        <p:spPr>
          <a:xfrm>
            <a:off x="371475" y="6343015"/>
            <a:ext cx="8915400" cy="495300"/>
          </a:xfrm>
          <a:prstGeom prst="rect">
            <a:avLst/>
          </a:prstGeom>
        </p:spPr>
      </p:pic>
      <p:grpSp>
        <p:nvGrpSpPr>
          <p:cNvPr id="6" name="组合 5"/>
          <p:cNvGrpSpPr/>
          <p:nvPr/>
        </p:nvGrpSpPr>
        <p:grpSpPr>
          <a:xfrm>
            <a:off x="552450" y="2623820"/>
            <a:ext cx="10796270" cy="2458720"/>
            <a:chOff x="1147" y="2678"/>
            <a:chExt cx="17002" cy="3872"/>
          </a:xfrm>
        </p:grpSpPr>
        <p:pic>
          <p:nvPicPr>
            <p:cNvPr id="2" name="图片 1"/>
            <p:cNvPicPr>
              <a:picLocks noChangeAspect="1"/>
            </p:cNvPicPr>
            <p:nvPr/>
          </p:nvPicPr>
          <p:blipFill>
            <a:blip r:embed="rId2"/>
            <a:stretch>
              <a:fillRect/>
            </a:stretch>
          </p:blipFill>
          <p:spPr>
            <a:xfrm>
              <a:off x="1520" y="3340"/>
              <a:ext cx="16160" cy="3210"/>
            </a:xfrm>
            <a:prstGeom prst="rect">
              <a:avLst/>
            </a:prstGeom>
          </p:spPr>
        </p:pic>
        <p:sp>
          <p:nvSpPr>
            <p:cNvPr id="3" name="文本框 2"/>
            <p:cNvSpPr txBox="1"/>
            <p:nvPr/>
          </p:nvSpPr>
          <p:spPr>
            <a:xfrm>
              <a:off x="1147" y="2678"/>
              <a:ext cx="17002" cy="580"/>
            </a:xfrm>
            <a:prstGeom prst="rect">
              <a:avLst/>
            </a:prstGeom>
            <a:noFill/>
          </p:spPr>
          <p:txBody>
            <a:bodyPr wrap="square" rtlCol="0">
              <a:spAutoFit/>
            </a:bodyPr>
            <a:p>
              <a:pPr algn="ctr"/>
              <a:r>
                <a:rPr lang="zh-CN" altLang="en-US"/>
                <a:t>表</a:t>
              </a:r>
              <a:r>
                <a:rPr lang="en-US" altLang="zh-CN"/>
                <a:t>3 </a:t>
              </a:r>
              <a:r>
                <a:rPr lang="zh-CN" altLang="en-US"/>
                <a:t>模型推理性能整体定量评估结果</a:t>
              </a:r>
              <a:endParaRPr lang="zh-CN" altLang="en-US"/>
            </a:p>
          </p:txBody>
        </p:sp>
      </p:grpSp>
      <p:sp>
        <p:nvSpPr>
          <p:cNvPr id="7" name="文本框 6"/>
          <p:cNvSpPr txBox="1"/>
          <p:nvPr/>
        </p:nvSpPr>
        <p:spPr>
          <a:xfrm>
            <a:off x="695960" y="1423035"/>
            <a:ext cx="10765790" cy="829945"/>
          </a:xfrm>
          <a:prstGeom prst="rect">
            <a:avLst/>
          </a:prstGeom>
          <a:noFill/>
        </p:spPr>
        <p:txBody>
          <a:bodyPr wrap="square" rtlCol="0">
            <a:spAutoFit/>
          </a:bodyPr>
          <a:p>
            <a:r>
              <a:rPr lang="zh-CN" altLang="en-US" sz="2400"/>
              <a:t>测试过程采用</a:t>
            </a:r>
            <a:r>
              <a:rPr lang="en-US" altLang="zh-CN" sz="2400"/>
              <a:t> DDPM 1000 </a:t>
            </a:r>
            <a:r>
              <a:rPr lang="zh-CN" altLang="en-US" sz="2400"/>
              <a:t>步采样，评估指标主要采用</a:t>
            </a:r>
            <a:r>
              <a:rPr lang="en-US" altLang="zh-CN" sz="2400"/>
              <a:t>RMSE</a:t>
            </a:r>
            <a:r>
              <a:rPr lang="zh-CN" altLang="en-US" sz="2400"/>
              <a:t>、</a:t>
            </a:r>
            <a:r>
              <a:rPr lang="en-US" altLang="zh-CN" sz="2400"/>
              <a:t>Bias</a:t>
            </a:r>
            <a:r>
              <a:rPr lang="zh-CN" altLang="en-US" sz="2400"/>
              <a:t>以及相关系数</a:t>
            </a:r>
            <a:r>
              <a:rPr lang="en-US" altLang="zh-CN" sz="2400"/>
              <a:t>CC</a:t>
            </a:r>
            <a:r>
              <a:rPr lang="zh-CN" altLang="en-US" sz="2400"/>
              <a:t>，初步结论可以看出气压反演可行性较强，温度反演仍需进一步优化。</a:t>
            </a:r>
            <a:endParaRPr lang="zh-CN"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9291294" cy="58356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三</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kumimoji="0" lang="zh-CN"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测试结果与性能评估</a:t>
            </a:r>
            <a:endParaRPr lang="zh-CN" sz="32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503048" y="902505"/>
            <a:ext cx="10992957" cy="645160"/>
          </a:xfrm>
          <a:prstGeom prst="rect">
            <a:avLst/>
          </a:prstGeom>
        </p:spPr>
        <p:txBody>
          <a:bodyPr wrap="square">
            <a:spAutoFit/>
          </a:bodyPr>
          <a:lstStyle/>
          <a:p>
            <a:pPr>
              <a:lnSpc>
                <a:spcPct val="150000"/>
              </a:lnSpc>
            </a:pPr>
            <a:r>
              <a:rPr lang="zh-CN" altLang="en-US" sz="2400" dirty="0"/>
              <a:t>从结果看，气压反演结果明显优于温度反演。原因如下：</a:t>
            </a:r>
            <a:endParaRPr lang="en-US" altLang="zh-CN" sz="2400" dirty="0"/>
          </a:p>
        </p:txBody>
      </p:sp>
      <p:sp>
        <p:nvSpPr>
          <p:cNvPr id="12" name="文本框 11"/>
          <p:cNvSpPr txBox="1"/>
          <p:nvPr>
            <p:custDataLst>
              <p:tags r:id="rId1"/>
            </p:custDataLst>
          </p:nvPr>
        </p:nvSpPr>
        <p:spPr>
          <a:xfrm>
            <a:off x="615950" y="1547495"/>
            <a:ext cx="10727690" cy="1938020"/>
          </a:xfrm>
          <a:prstGeom prst="rect">
            <a:avLst/>
          </a:prstGeom>
          <a:noFill/>
        </p:spPr>
        <p:txBody>
          <a:bodyPr wrap="square">
            <a:spAutoFit/>
          </a:bodyPr>
          <a:lstStyle/>
          <a:p>
            <a:pPr marL="800100" lvl="1" indent="-342900" algn="l">
              <a:lnSpc>
                <a:spcPct val="150000"/>
              </a:lnSpc>
              <a:buFont typeface="Wingdings" panose="05000000000000000000" pitchFamily="2" charset="2"/>
              <a:buChar char="Ø"/>
            </a:pPr>
            <a:r>
              <a:rPr kumimoji="0" lang="zh-CN" altLang="en-US" sz="2000" b="1" i="0" u="none" strike="noStrike" kern="1200" cap="none" spc="0" normalizeH="0" baseline="0" noProof="0" dirty="0">
                <a:ln>
                  <a:noFill/>
                </a:ln>
                <a:solidFill>
                  <a:prstClr val="black"/>
                </a:solidFill>
                <a:effectLst/>
                <a:uLnTx/>
                <a:uFillTx/>
                <a:latin typeface="+mj-ea"/>
                <a:ea typeface="+mj-ea"/>
              </a:rPr>
              <a:t>弯曲角与折射率联系更直接，气压项贡献更明显</a:t>
            </a:r>
            <a:endParaRPr kumimoji="0" lang="zh-CN" altLang="en-US" sz="2000" b="1" i="0" u="none" strike="noStrike" kern="1200" cap="none" spc="0" normalizeH="0" baseline="0" noProof="0" dirty="0">
              <a:ln>
                <a:noFill/>
              </a:ln>
              <a:solidFill>
                <a:prstClr val="black"/>
              </a:solidFill>
              <a:effectLst/>
              <a:uLnTx/>
              <a:uFillTx/>
              <a:latin typeface="+mj-ea"/>
              <a:ea typeface="+mj-ea"/>
            </a:endParaRPr>
          </a:p>
          <a:p>
            <a:pPr marL="800100" lvl="1" indent="-342900" algn="l">
              <a:lnSpc>
                <a:spcPct val="150000"/>
              </a:lnSpc>
              <a:buFont typeface="Wingdings" panose="05000000000000000000" pitchFamily="2" charset="2"/>
              <a:buChar char="Ø"/>
            </a:pPr>
            <a:r>
              <a:rPr lang="zh-CN" altLang="en-US" sz="2000" b="1" noProof="0" dirty="0">
                <a:ln>
                  <a:noFill/>
                </a:ln>
                <a:solidFill>
                  <a:prstClr val="black"/>
                </a:solidFill>
                <a:effectLst/>
                <a:uLnTx/>
                <a:uFillTx/>
                <a:latin typeface="+mj-ea"/>
                <a:ea typeface="+mj-ea"/>
                <a:sym typeface="+mn-ea"/>
              </a:rPr>
              <a:t>温度在对流层与湿度强耦合，导致信息分离更困难，且当前数据集只采用了</a:t>
            </a:r>
            <a:r>
              <a:rPr lang="en-US" altLang="zh-CN" sz="2000" b="1" noProof="0" dirty="0">
                <a:ln>
                  <a:noFill/>
                </a:ln>
                <a:solidFill>
                  <a:prstClr val="black"/>
                </a:solidFill>
                <a:effectLst/>
                <a:uLnTx/>
                <a:uFillTx/>
                <a:latin typeface="+mj-ea"/>
                <a:ea typeface="+mj-ea"/>
                <a:sym typeface="+mn-ea"/>
              </a:rPr>
              <a:t>ATP</a:t>
            </a:r>
            <a:r>
              <a:rPr lang="zh-CN" altLang="en-US" sz="2000" b="1" noProof="0" dirty="0">
                <a:ln>
                  <a:noFill/>
                </a:ln>
                <a:solidFill>
                  <a:prstClr val="black"/>
                </a:solidFill>
                <a:effectLst/>
                <a:uLnTx/>
                <a:uFillTx/>
                <a:latin typeface="+mj-ea"/>
                <a:ea typeface="+mj-ea"/>
                <a:sym typeface="+mn-ea"/>
              </a:rPr>
              <a:t>干大气廓线，没有采用</a:t>
            </a:r>
            <a:r>
              <a:rPr lang="en-US" altLang="zh-CN" sz="2000" b="1" noProof="0" dirty="0">
                <a:ln>
                  <a:noFill/>
                </a:ln>
                <a:solidFill>
                  <a:prstClr val="black"/>
                </a:solidFill>
                <a:effectLst/>
                <a:uLnTx/>
                <a:uFillTx/>
                <a:latin typeface="+mj-ea"/>
                <a:ea typeface="+mj-ea"/>
                <a:sym typeface="+mn-ea"/>
              </a:rPr>
              <a:t>WAP</a:t>
            </a:r>
            <a:r>
              <a:rPr lang="zh-CN" altLang="en-US" sz="2000" b="1" noProof="0" dirty="0">
                <a:ln>
                  <a:noFill/>
                </a:ln>
                <a:solidFill>
                  <a:prstClr val="black"/>
                </a:solidFill>
                <a:effectLst/>
                <a:uLnTx/>
                <a:uFillTx/>
                <a:latin typeface="+mj-ea"/>
                <a:ea typeface="+mj-ea"/>
                <a:sym typeface="+mn-ea"/>
              </a:rPr>
              <a:t>湿大气廓线。</a:t>
            </a:r>
            <a:endParaRPr kumimoji="0" lang="en-US" altLang="zh-CN" sz="2000" b="1" i="0" u="none" strike="noStrike" kern="1200" cap="none" spc="0" normalizeH="0" baseline="0" noProof="0" dirty="0">
              <a:ln>
                <a:noFill/>
              </a:ln>
              <a:solidFill>
                <a:prstClr val="black"/>
              </a:solidFill>
              <a:effectLst/>
              <a:uLnTx/>
              <a:uFillTx/>
              <a:latin typeface="+mj-ea"/>
              <a:ea typeface="+mj-ea"/>
            </a:endParaRPr>
          </a:p>
          <a:p>
            <a:pPr marL="800100" lvl="1" indent="-342900" algn="l">
              <a:lnSpc>
                <a:spcPct val="150000"/>
              </a:lnSpc>
              <a:buFont typeface="Wingdings" panose="05000000000000000000" pitchFamily="2" charset="2"/>
              <a:buChar char="Ø"/>
            </a:pPr>
            <a:endParaRPr kumimoji="0" lang="en-US" altLang="zh-CN" sz="2000" b="1" i="0" u="none" strike="noStrike" kern="1200" cap="none" spc="0" normalizeH="0" baseline="0" noProof="0" dirty="0">
              <a:ln>
                <a:noFill/>
              </a:ln>
              <a:solidFill>
                <a:prstClr val="black"/>
              </a:solidFill>
              <a:effectLst/>
              <a:uLnTx/>
              <a:uFillTx/>
              <a:latin typeface="+mj-ea"/>
              <a:ea typeface="+mj-ea"/>
            </a:endParaRPr>
          </a:p>
        </p:txBody>
      </p:sp>
      <p:pic>
        <p:nvPicPr>
          <p:cNvPr id="3" name="图片 2"/>
          <p:cNvPicPr>
            <a:picLocks noChangeAspect="1"/>
          </p:cNvPicPr>
          <p:nvPr/>
        </p:nvPicPr>
        <p:blipFill>
          <a:blip r:embed="rId2"/>
          <a:stretch>
            <a:fillRect/>
          </a:stretch>
        </p:blipFill>
        <p:spPr>
          <a:xfrm>
            <a:off x="371475" y="6343015"/>
            <a:ext cx="8915400" cy="495300"/>
          </a:xfrm>
          <a:prstGeom prst="rect">
            <a:avLst/>
          </a:prstGeom>
        </p:spPr>
      </p:pic>
      <p:sp>
        <p:nvSpPr>
          <p:cNvPr id="11" name="矩形 10"/>
          <p:cNvSpPr/>
          <p:nvPr/>
        </p:nvSpPr>
        <p:spPr>
          <a:xfrm>
            <a:off x="502920" y="3235325"/>
            <a:ext cx="10993120" cy="2352040"/>
          </a:xfrm>
          <a:prstGeom prst="rect">
            <a:avLst/>
          </a:prstGeom>
        </p:spPr>
        <p:txBody>
          <a:bodyPr wrap="square">
            <a:noAutofit/>
          </a:bodyPr>
          <a:lstStyle/>
          <a:p>
            <a:pPr>
              <a:lnSpc>
                <a:spcPct val="150000"/>
              </a:lnSpc>
            </a:pPr>
            <a:r>
              <a:rPr lang="zh-CN" altLang="en-US" sz="2400" dirty="0"/>
              <a:t>此外，推理过程还存在一定的效率瓶颈，</a:t>
            </a:r>
            <a:r>
              <a:rPr lang="en-US" altLang="zh-CN" sz="2400" dirty="0"/>
              <a:t>DDPM 1000 </a:t>
            </a:r>
            <a:r>
              <a:rPr lang="zh-CN" altLang="en-US" sz="2400" dirty="0"/>
              <a:t>步采样处理</a:t>
            </a:r>
            <a:r>
              <a:rPr lang="en-US" altLang="zh-CN" sz="2400" dirty="0"/>
              <a:t> 5,577 </a:t>
            </a:r>
            <a:r>
              <a:rPr lang="zh-CN" altLang="en-US" sz="2400" dirty="0"/>
              <a:t>个测试样本约需</a:t>
            </a:r>
            <a:r>
              <a:rPr lang="en-US" altLang="zh-CN" sz="2400" dirty="0"/>
              <a:t> 36 </a:t>
            </a:r>
            <a:r>
              <a:rPr lang="zh-CN" altLang="en-US" sz="2400" dirty="0"/>
              <a:t>分钟，单样本平均约</a:t>
            </a:r>
            <a:r>
              <a:rPr lang="en-US" altLang="zh-CN" sz="2400" dirty="0"/>
              <a:t> 0.39 </a:t>
            </a:r>
            <a:r>
              <a:rPr lang="zh-CN" altLang="en-US" sz="2400" dirty="0"/>
              <a:t>秒。尝试应用</a:t>
            </a:r>
            <a:r>
              <a:rPr lang="en-US" altLang="zh-CN" sz="2400" dirty="0"/>
              <a:t> DDIM </a:t>
            </a:r>
            <a:r>
              <a:rPr lang="zh-CN" altLang="en-US" sz="2400" dirty="0"/>
              <a:t>将采样步数由</a:t>
            </a:r>
            <a:r>
              <a:rPr lang="en-US" altLang="zh-CN" sz="2400" dirty="0"/>
              <a:t> 1000 </a:t>
            </a:r>
            <a:r>
              <a:rPr lang="zh-CN" altLang="en-US" sz="2400" dirty="0"/>
              <a:t>步削减至</a:t>
            </a:r>
            <a:r>
              <a:rPr lang="en-US" altLang="zh-CN" sz="2400" dirty="0"/>
              <a:t> 50 </a:t>
            </a:r>
            <a:r>
              <a:rPr lang="zh-CN" altLang="en-US" sz="2400" dirty="0"/>
              <a:t>步时，输出结果严重失真，相关系数趋近于</a:t>
            </a:r>
            <a:r>
              <a:rPr lang="en-US" altLang="zh-CN" sz="2400" dirty="0"/>
              <a:t>0</a:t>
            </a:r>
            <a:r>
              <a:rPr lang="zh-CN" altLang="en-US" sz="2400" dirty="0"/>
              <a:t>，还需要进行进一步的调优。</a:t>
            </a:r>
            <a:endParaRPr lang="zh-CN" altLang="en-US" sz="2400" dirty="0"/>
          </a:p>
          <a:p>
            <a:pPr>
              <a:lnSpc>
                <a:spcPct val="150000"/>
              </a:lnSpc>
            </a:pPr>
            <a:endParaRPr lang="zh-CN"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3624131" y="2329180"/>
            <a:ext cx="897890" cy="897890"/>
          </a:xfrm>
          <a:prstGeom prst="ellipse">
            <a:avLst/>
          </a:prstGeom>
          <a:solidFill>
            <a:schemeClr val="bg1">
              <a:lumMod val="6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椭圆 1"/>
          <p:cNvSpPr/>
          <p:nvPr/>
        </p:nvSpPr>
        <p:spPr>
          <a:xfrm>
            <a:off x="3624131" y="2660015"/>
            <a:ext cx="1557655" cy="155765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0" y="0"/>
            <a:ext cx="12192000" cy="6858000"/>
          </a:xfrm>
          <a:prstGeom prst="rect">
            <a:avLst/>
          </a:prstGeom>
          <a:gradFill flip="none" rotWithShape="1">
            <a:gsLst>
              <a:gs pos="0">
                <a:schemeClr val="bg1">
                  <a:alpha val="41000"/>
                </a:schemeClr>
              </a:gs>
              <a:gs pos="51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3983990" y="2660015"/>
            <a:ext cx="7780655" cy="1568450"/>
            <a:chOff x="4043304" y="1956847"/>
            <a:chExt cx="7780670" cy="1579320"/>
          </a:xfrm>
        </p:grpSpPr>
        <p:sp>
          <p:nvSpPr>
            <p:cNvPr id="47" name="文本框 46"/>
            <p:cNvSpPr txBox="1"/>
            <p:nvPr/>
          </p:nvSpPr>
          <p:spPr>
            <a:xfrm>
              <a:off x="5541284" y="1956847"/>
              <a:ext cx="6282690" cy="1579320"/>
            </a:xfrm>
            <a:prstGeom prst="rect">
              <a:avLst/>
            </a:prstGeom>
            <a:noFill/>
          </p:spPr>
          <p:txBody>
            <a:bodyPr wrap="square" rtlCol="0">
              <a:spAutoFit/>
            </a:bodyPr>
            <a:lstStyle/>
            <a:p>
              <a:r>
                <a:rPr lang="zh-CN" altLang="en-US" sz="4800" b="1" dirty="0">
                  <a:solidFill>
                    <a:srgbClr val="004E98"/>
                  </a:solidFill>
                  <a:latin typeface="微软雅黑" panose="020B0503020204020204" charset="-122"/>
                  <a:ea typeface="微软雅黑" panose="020B0503020204020204" charset="-122"/>
                </a:rPr>
                <a:t>后续工作与</a:t>
              </a:r>
              <a:endParaRPr lang="zh-CN" altLang="en-US" sz="4800" b="1" dirty="0">
                <a:solidFill>
                  <a:srgbClr val="004E98"/>
                </a:solidFill>
                <a:latin typeface="微软雅黑" panose="020B0503020204020204" charset="-122"/>
                <a:ea typeface="微软雅黑" panose="020B0503020204020204" charset="-122"/>
              </a:endParaRPr>
            </a:p>
            <a:p>
              <a:pPr marL="457200" lvl="1" indent="457200"/>
              <a:r>
                <a:rPr lang="zh-CN" altLang="en-US" sz="4800" b="1" dirty="0">
                  <a:solidFill>
                    <a:srgbClr val="004E98"/>
                  </a:solidFill>
                  <a:latin typeface="微软雅黑" panose="020B0503020204020204" charset="-122"/>
                  <a:ea typeface="微软雅黑" panose="020B0503020204020204" charset="-122"/>
                </a:rPr>
                <a:t>问题分析</a:t>
              </a:r>
              <a:endParaRPr lang="zh-CN" altLang="en-US" sz="4800" b="1" dirty="0">
                <a:solidFill>
                  <a:srgbClr val="004E98"/>
                </a:solidFill>
                <a:uFillTx/>
                <a:latin typeface="微软雅黑" panose="020B0503020204020204" charset="-122"/>
                <a:ea typeface="微软雅黑" panose="020B0503020204020204" charset="-122"/>
              </a:endParaRPr>
            </a:p>
          </p:txBody>
        </p:sp>
        <p:sp>
          <p:nvSpPr>
            <p:cNvPr id="48" name="文本框 47"/>
            <p:cNvSpPr txBox="1"/>
            <p:nvPr/>
          </p:nvSpPr>
          <p:spPr>
            <a:xfrm>
              <a:off x="4043304" y="2327815"/>
              <a:ext cx="1719554" cy="835697"/>
            </a:xfrm>
            <a:prstGeom prst="rect">
              <a:avLst/>
            </a:prstGeom>
            <a:noFill/>
          </p:spPr>
          <p:txBody>
            <a:bodyPr wrap="square" rtlCol="0">
              <a:spAutoFit/>
            </a:bodyPr>
            <a:lstStyle/>
            <a:p>
              <a:r>
                <a:rPr lang="zh-CN" altLang="en-US" sz="4800" b="1" dirty="0">
                  <a:solidFill>
                    <a:srgbClr val="004E98"/>
                  </a:solidFill>
                  <a:latin typeface="微软雅黑" panose="020B0503020204020204" charset="-122"/>
                  <a:ea typeface="微软雅黑" panose="020B0503020204020204" charset="-122"/>
                </a:rPr>
                <a:t>四</a:t>
              </a:r>
              <a:endParaRPr lang="zh-CN" altLang="en-US" sz="4800" b="1" dirty="0">
                <a:solidFill>
                  <a:srgbClr val="004E98"/>
                </a:solidFill>
                <a:latin typeface="微软雅黑" panose="020B0503020204020204" charset="-122"/>
                <a:ea typeface="微软雅黑" panose="020B0503020204020204" charset="-122"/>
              </a:endParaRPr>
            </a:p>
          </p:txBody>
        </p:sp>
        <p:cxnSp>
          <p:nvCxnSpPr>
            <p:cNvPr id="51" name="直接连接符 50"/>
            <p:cNvCxnSpPr/>
            <p:nvPr/>
          </p:nvCxnSpPr>
          <p:spPr>
            <a:xfrm>
              <a:off x="5231751" y="2241962"/>
              <a:ext cx="0" cy="1008256"/>
            </a:xfrm>
            <a:prstGeom prst="line">
              <a:avLst/>
            </a:prstGeom>
            <a:ln w="19050">
              <a:solidFill>
                <a:srgbClr val="004E98"/>
              </a:solidFill>
            </a:ln>
          </p:spPr>
          <p:style>
            <a:lnRef idx="1">
              <a:schemeClr val="accent1"/>
            </a:lnRef>
            <a:fillRef idx="0">
              <a:schemeClr val="accent1"/>
            </a:fillRef>
            <a:effectRef idx="0">
              <a:schemeClr val="accent1"/>
            </a:effectRef>
            <a:fontRef idx="minor">
              <a:schemeClr val="tx1"/>
            </a:fontRef>
          </p:style>
        </p:cxn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49642" y="0"/>
            <a:ext cx="1042358" cy="8987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8640008" cy="58477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四</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、后续工作计划</a:t>
            </a: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——进度安排与预期目标</a:t>
            </a:r>
            <a:endParaRPr lang="zh-CN" altLang="en-US" sz="3200" b="1" dirty="0">
              <a:solidFill>
                <a:schemeClr val="bg1"/>
              </a:solidFill>
              <a:latin typeface="微软雅黑" panose="020B0503020204020204" charset="-122"/>
              <a:ea typeface="微软雅黑" panose="020B0503020204020204" charset="-122"/>
            </a:endParaRPr>
          </a:p>
        </p:txBody>
      </p:sp>
      <p:sp>
        <p:nvSpPr>
          <p:cNvPr id="8" name="任意多边形 5"/>
          <p:cNvSpPr/>
          <p:nvPr>
            <p:custDataLst>
              <p:tags r:id="rId1"/>
            </p:custDataLst>
          </p:nvPr>
        </p:nvSpPr>
        <p:spPr>
          <a:xfrm>
            <a:off x="880744" y="900003"/>
            <a:ext cx="4909421" cy="777580"/>
          </a:xfrm>
          <a:custGeom>
            <a:avLst/>
            <a:gdLst>
              <a:gd name="connsiteX0" fmla="*/ 0 w 4826782"/>
              <a:gd name="connsiteY0" fmla="*/ 0 h 817656"/>
              <a:gd name="connsiteX1" fmla="*/ 4826782 w 4826782"/>
              <a:gd name="connsiteY1" fmla="*/ 0 h 817656"/>
              <a:gd name="connsiteX2" fmla="*/ 4060626 w 4826782"/>
              <a:gd name="connsiteY2" fmla="*/ 817656 h 817656"/>
              <a:gd name="connsiteX3" fmla="*/ 0 w 4826782"/>
              <a:gd name="connsiteY3" fmla="*/ 817656 h 817656"/>
            </a:gdLst>
            <a:ahLst/>
            <a:cxnLst>
              <a:cxn ang="0">
                <a:pos x="connsiteX0" y="connsiteY0"/>
              </a:cxn>
              <a:cxn ang="0">
                <a:pos x="connsiteX1" y="connsiteY1"/>
              </a:cxn>
              <a:cxn ang="0">
                <a:pos x="connsiteX2" y="connsiteY2"/>
              </a:cxn>
              <a:cxn ang="0">
                <a:pos x="connsiteX3" y="connsiteY3"/>
              </a:cxn>
            </a:cxnLst>
            <a:rect l="l" t="t" r="r" b="b"/>
            <a:pathLst>
              <a:path w="4826782" h="817656">
                <a:moveTo>
                  <a:pt x="0" y="0"/>
                </a:moveTo>
                <a:lnTo>
                  <a:pt x="4826782" y="0"/>
                </a:lnTo>
                <a:lnTo>
                  <a:pt x="4060626" y="817656"/>
                </a:lnTo>
                <a:lnTo>
                  <a:pt x="0" y="817656"/>
                </a:lnTo>
                <a:close/>
              </a:path>
            </a:pathLst>
          </a:custGeom>
          <a:solidFill>
            <a:srgbClr val="004E98"/>
          </a:solidFill>
          <a:ln>
            <a:noFill/>
          </a:ln>
        </p:spPr>
        <p:style>
          <a:lnRef idx="2">
            <a:srgbClr val="5B9BD5">
              <a:shade val="50000"/>
            </a:srgbClr>
          </a:lnRef>
          <a:fillRef idx="1">
            <a:srgbClr val="5B9BD5"/>
          </a:fillRef>
          <a:effectRef idx="0">
            <a:srgbClr val="5B9BD5"/>
          </a:effectRef>
          <a:fontRef idx="minor">
            <a:sysClr val="window" lastClr="FFFFFF"/>
          </a:fontRef>
        </p:style>
        <p:txBody>
          <a:bodyPr wrap="square" rtlCol="0" anchor="ctr">
            <a:normAutofit/>
          </a:bodyPr>
          <a:lstStyle/>
          <a:p>
            <a:pPr algn="ctr" fontAlgn="base">
              <a:spcBef>
                <a:spcPct val="0"/>
              </a:spcBef>
              <a:spcAft>
                <a:spcPct val="0"/>
              </a:spcAft>
            </a:pPr>
            <a:r>
              <a:rPr lang="zh-CN" altLang="en-US" sz="2400" b="1" dirty="0">
                <a:solidFill>
                  <a:srgbClr val="FFFFFF"/>
                </a:solidFill>
                <a:latin typeface="微软雅黑" panose="020B0503020204020204" charset="-122"/>
                <a:ea typeface="微软雅黑" panose="020B0503020204020204" charset="-122"/>
              </a:rPr>
              <a:t>进度安排</a:t>
            </a:r>
            <a:endParaRPr lang="zh-CN" altLang="en-US" sz="2400" b="1" dirty="0">
              <a:solidFill>
                <a:srgbClr val="FFFFFF"/>
              </a:solidFill>
              <a:latin typeface="微软雅黑" panose="020B0503020204020204" charset="-122"/>
              <a:ea typeface="微软雅黑" panose="020B0503020204020204" charset="-122"/>
            </a:endParaRPr>
          </a:p>
        </p:txBody>
      </p:sp>
      <p:sp>
        <p:nvSpPr>
          <p:cNvPr id="10" name="任意多边形 10"/>
          <p:cNvSpPr/>
          <p:nvPr>
            <p:custDataLst>
              <p:tags r:id="rId2"/>
            </p:custDataLst>
          </p:nvPr>
        </p:nvSpPr>
        <p:spPr>
          <a:xfrm>
            <a:off x="6401835" y="900003"/>
            <a:ext cx="5031657" cy="777580"/>
          </a:xfrm>
          <a:custGeom>
            <a:avLst/>
            <a:gdLst>
              <a:gd name="connsiteX0" fmla="*/ 1174384 w 9112656"/>
              <a:gd name="connsiteY0" fmla="*/ 0 h 1625600"/>
              <a:gd name="connsiteX1" fmla="*/ 9112656 w 9112656"/>
              <a:gd name="connsiteY1" fmla="*/ 0 h 1625600"/>
              <a:gd name="connsiteX2" fmla="*/ 9112656 w 9112656"/>
              <a:gd name="connsiteY2" fmla="*/ 1625600 h 1625600"/>
              <a:gd name="connsiteX3" fmla="*/ 0 w 9112656"/>
              <a:gd name="connsiteY3" fmla="*/ 1625600 h 1625600"/>
            </a:gdLst>
            <a:ahLst/>
            <a:cxnLst>
              <a:cxn ang="0">
                <a:pos x="connsiteX0" y="connsiteY0"/>
              </a:cxn>
              <a:cxn ang="0">
                <a:pos x="connsiteX1" y="connsiteY1"/>
              </a:cxn>
              <a:cxn ang="0">
                <a:pos x="connsiteX2" y="connsiteY2"/>
              </a:cxn>
              <a:cxn ang="0">
                <a:pos x="connsiteX3" y="connsiteY3"/>
              </a:cxn>
            </a:cxnLst>
            <a:rect l="l" t="t" r="r" b="b"/>
            <a:pathLst>
              <a:path w="9112656" h="1625600">
                <a:moveTo>
                  <a:pt x="1174384" y="0"/>
                </a:moveTo>
                <a:lnTo>
                  <a:pt x="9112656" y="0"/>
                </a:lnTo>
                <a:lnTo>
                  <a:pt x="9112656" y="1625600"/>
                </a:lnTo>
                <a:lnTo>
                  <a:pt x="0" y="1625600"/>
                </a:lnTo>
                <a:close/>
              </a:path>
            </a:pathLst>
          </a:custGeom>
          <a:solidFill>
            <a:srgbClr val="FF0000"/>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normAutofit/>
          </a:bodyPr>
          <a:lstStyle/>
          <a:p>
            <a:pPr algn="ctr"/>
            <a:r>
              <a:rPr lang="zh-CN" altLang="en-US" sz="2400" b="1" dirty="0">
                <a:solidFill>
                  <a:srgbClr val="FFFFFF"/>
                </a:solidFill>
                <a:latin typeface="微软雅黑" panose="020B0503020204020204" charset="-122"/>
                <a:ea typeface="微软雅黑" panose="020B0503020204020204" charset="-122"/>
              </a:rPr>
              <a:t>预期目标</a:t>
            </a:r>
            <a:endParaRPr lang="zh-CN" altLang="en-US" sz="2400" b="1" dirty="0">
              <a:solidFill>
                <a:srgbClr val="FFFFFF"/>
              </a:solidFill>
              <a:latin typeface="微软雅黑" panose="020B0503020204020204" charset="-122"/>
              <a:ea typeface="微软雅黑" panose="020B0503020204020204" charset="-122"/>
            </a:endParaRPr>
          </a:p>
        </p:txBody>
      </p:sp>
      <p:sp>
        <p:nvSpPr>
          <p:cNvPr id="12" name="文本框 27"/>
          <p:cNvSpPr txBox="1"/>
          <p:nvPr>
            <p:custDataLst>
              <p:tags r:id="rId3"/>
            </p:custDataLst>
          </p:nvPr>
        </p:nvSpPr>
        <p:spPr>
          <a:xfrm>
            <a:off x="6912149" y="2118127"/>
            <a:ext cx="4463298" cy="943542"/>
          </a:xfrm>
          <a:prstGeom prst="rect">
            <a:avLst/>
          </a:prstGeom>
          <a:noFill/>
          <a:ln w="9525">
            <a:noFill/>
            <a:miter/>
          </a:ln>
        </p:spPr>
        <p:txBody>
          <a:bodyPr wrap="square" anchor="t">
            <a:normAutofit/>
          </a:bodyPr>
          <a:lstStyle/>
          <a:p>
            <a:r>
              <a:rPr lang="zh-CN" altLang="en-US" dirty="0"/>
              <a:t>完成湿大气数据扩充</a:t>
            </a:r>
            <a:endParaRPr lang="zh-CN" altLang="zh-CN" dirty="0"/>
          </a:p>
        </p:txBody>
      </p:sp>
      <p:sp>
        <p:nvSpPr>
          <p:cNvPr id="13" name="椭圆 12"/>
          <p:cNvSpPr>
            <a:spLocks noChangeAspect="1"/>
          </p:cNvSpPr>
          <p:nvPr/>
        </p:nvSpPr>
        <p:spPr>
          <a:xfrm>
            <a:off x="6412377" y="2085099"/>
            <a:ext cx="496596" cy="496596"/>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p:txBody>
      </p:sp>
      <p:sp>
        <p:nvSpPr>
          <p:cNvPr id="14" name="椭圆 13"/>
          <p:cNvSpPr>
            <a:spLocks noChangeAspect="1"/>
          </p:cNvSpPr>
          <p:nvPr>
            <p:custDataLst>
              <p:tags r:id="rId4"/>
            </p:custDataLst>
          </p:nvPr>
        </p:nvSpPr>
        <p:spPr>
          <a:xfrm>
            <a:off x="6415072" y="3061777"/>
            <a:ext cx="496596" cy="496596"/>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dirty="0">
                <a:latin typeface="微软雅黑" panose="020B0503020204020204" charset="-122"/>
                <a:ea typeface="微软雅黑" panose="020B0503020204020204" charset="-122"/>
              </a:rPr>
              <a:t>2</a:t>
            </a:r>
            <a:endParaRPr lang="en-US" altLang="zh-CN" b="1" dirty="0">
              <a:latin typeface="微软雅黑" panose="020B0503020204020204" charset="-122"/>
              <a:ea typeface="微软雅黑" panose="020B0503020204020204" charset="-122"/>
            </a:endParaRPr>
          </a:p>
        </p:txBody>
      </p:sp>
      <p:sp>
        <p:nvSpPr>
          <p:cNvPr id="15" name="椭圆 14"/>
          <p:cNvSpPr>
            <a:spLocks noChangeAspect="1"/>
          </p:cNvSpPr>
          <p:nvPr>
            <p:custDataLst>
              <p:tags r:id="rId5"/>
            </p:custDataLst>
          </p:nvPr>
        </p:nvSpPr>
        <p:spPr>
          <a:xfrm>
            <a:off x="6412377" y="4091579"/>
            <a:ext cx="496596" cy="496596"/>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p:txBody>
      </p:sp>
      <p:sp>
        <p:nvSpPr>
          <p:cNvPr id="16" name="椭圆 15"/>
          <p:cNvSpPr>
            <a:spLocks noChangeAspect="1"/>
          </p:cNvSpPr>
          <p:nvPr>
            <p:custDataLst>
              <p:tags r:id="rId6"/>
            </p:custDataLst>
          </p:nvPr>
        </p:nvSpPr>
        <p:spPr>
          <a:xfrm>
            <a:off x="6415072" y="4977635"/>
            <a:ext cx="496596" cy="496596"/>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p:txBody>
      </p:sp>
      <p:sp>
        <p:nvSpPr>
          <p:cNvPr id="17" name="文本框 27"/>
          <p:cNvSpPr txBox="1"/>
          <p:nvPr>
            <p:custDataLst>
              <p:tags r:id="rId7"/>
            </p:custDataLst>
          </p:nvPr>
        </p:nvSpPr>
        <p:spPr>
          <a:xfrm>
            <a:off x="6908972" y="3114369"/>
            <a:ext cx="4207252" cy="960731"/>
          </a:xfrm>
          <a:prstGeom prst="rect">
            <a:avLst/>
          </a:prstGeom>
          <a:noFill/>
          <a:ln w="9525">
            <a:noFill/>
            <a:miter/>
          </a:ln>
        </p:spPr>
        <p:txBody>
          <a:bodyPr wrap="square" anchor="t">
            <a:normAutofit/>
          </a:bodyPr>
          <a:lstStyle/>
          <a:p>
            <a:r>
              <a:rPr lang="zh-CN" altLang="en-US" dirty="0"/>
              <a:t>推进采样加速优化</a:t>
            </a:r>
            <a:endParaRPr lang="zh-CN" altLang="zh-CN" dirty="0"/>
          </a:p>
        </p:txBody>
      </p:sp>
      <p:sp>
        <p:nvSpPr>
          <p:cNvPr id="18" name="文本框 17"/>
          <p:cNvSpPr txBox="1"/>
          <p:nvPr/>
        </p:nvSpPr>
        <p:spPr>
          <a:xfrm>
            <a:off x="6912146" y="4127465"/>
            <a:ext cx="4463299" cy="369332"/>
          </a:xfrm>
          <a:prstGeom prst="rect">
            <a:avLst/>
          </a:prstGeom>
          <a:noFill/>
        </p:spPr>
        <p:txBody>
          <a:bodyPr wrap="square">
            <a:spAutoFit/>
          </a:bodyPr>
          <a:lstStyle/>
          <a:p>
            <a:r>
              <a:rPr lang="zh-CN" altLang="en-US" dirty="0"/>
              <a:t>提升温度反演精度</a:t>
            </a:r>
            <a:endParaRPr lang="zh-CN" altLang="zh-CN" dirty="0"/>
          </a:p>
        </p:txBody>
      </p:sp>
      <p:sp>
        <p:nvSpPr>
          <p:cNvPr id="19" name="文本框 18"/>
          <p:cNvSpPr txBox="1"/>
          <p:nvPr/>
        </p:nvSpPr>
        <p:spPr>
          <a:xfrm>
            <a:off x="6912146" y="5066272"/>
            <a:ext cx="4463299" cy="369332"/>
          </a:xfrm>
          <a:prstGeom prst="rect">
            <a:avLst/>
          </a:prstGeom>
          <a:noFill/>
        </p:spPr>
        <p:txBody>
          <a:bodyPr wrap="square">
            <a:spAutoFit/>
          </a:bodyPr>
          <a:lstStyle/>
          <a:p>
            <a:r>
              <a:rPr lang="zh-CN" altLang="en-US" dirty="0"/>
              <a:t>完成论文撰写与答辩准备</a:t>
            </a:r>
            <a:endParaRPr lang="zh-CN" altLang="zh-CN" dirty="0"/>
          </a:p>
        </p:txBody>
      </p:sp>
      <p:sp>
        <p:nvSpPr>
          <p:cNvPr id="21" name="文本框 27"/>
          <p:cNvSpPr txBox="1"/>
          <p:nvPr>
            <p:custDataLst>
              <p:tags r:id="rId8"/>
            </p:custDataLst>
          </p:nvPr>
        </p:nvSpPr>
        <p:spPr>
          <a:xfrm>
            <a:off x="1273537" y="2085099"/>
            <a:ext cx="4463298" cy="777574"/>
          </a:xfrm>
          <a:prstGeom prst="rect">
            <a:avLst/>
          </a:prstGeom>
          <a:noFill/>
          <a:ln w="9525">
            <a:noFill/>
            <a:miter/>
          </a:ln>
        </p:spPr>
        <p:txBody>
          <a:bodyPr wrap="square" anchor="t">
            <a:normAutofit/>
          </a:bodyPr>
          <a:lstStyle/>
          <a:p>
            <a:r>
              <a:rPr lang="en-US" altLang="zh-CN" dirty="0">
                <a:latin typeface="+mj-ea"/>
                <a:ea typeface="+mj-ea"/>
              </a:rPr>
              <a:t>2026</a:t>
            </a:r>
            <a:r>
              <a:rPr lang="zh-CN" altLang="en-US" dirty="0">
                <a:latin typeface="+mj-ea"/>
                <a:ea typeface="+mj-ea"/>
              </a:rPr>
              <a:t>年</a:t>
            </a:r>
            <a:r>
              <a:rPr lang="en-US" altLang="zh-CN" dirty="0">
                <a:latin typeface="+mj-ea"/>
                <a:ea typeface="+mj-ea"/>
              </a:rPr>
              <a:t>3</a:t>
            </a:r>
            <a:r>
              <a:rPr lang="zh-CN" altLang="en-US" dirty="0">
                <a:latin typeface="+mj-ea"/>
                <a:ea typeface="+mj-ea"/>
              </a:rPr>
              <a:t>月上旬</a:t>
            </a:r>
            <a:r>
              <a:rPr lang="en-US" altLang="zh-CN" dirty="0">
                <a:latin typeface="+mj-ea"/>
                <a:ea typeface="+mj-ea"/>
              </a:rPr>
              <a:t>至</a:t>
            </a:r>
            <a:r>
              <a:rPr lang="zh-CN" altLang="en-US" dirty="0">
                <a:latin typeface="+mj-ea"/>
                <a:ea typeface="+mj-ea"/>
              </a:rPr>
              <a:t>2026</a:t>
            </a:r>
            <a:r>
              <a:rPr lang="en-US" altLang="zh-CN" dirty="0">
                <a:latin typeface="+mj-ea"/>
                <a:ea typeface="+mj-ea"/>
              </a:rPr>
              <a:t>年</a:t>
            </a:r>
            <a:r>
              <a:rPr lang="zh-CN" altLang="en-US" dirty="0">
                <a:latin typeface="+mj-ea"/>
                <a:ea typeface="+mj-ea"/>
              </a:rPr>
              <a:t>3月中旬：完善加速采样与系统封装</a:t>
            </a:r>
            <a:endParaRPr lang="zh-CN" altLang="zh-CN" dirty="0">
              <a:latin typeface="+mj-ea"/>
              <a:ea typeface="+mj-ea"/>
            </a:endParaRPr>
          </a:p>
        </p:txBody>
      </p:sp>
      <p:sp>
        <p:nvSpPr>
          <p:cNvPr id="22" name="椭圆 21"/>
          <p:cNvSpPr>
            <a:spLocks noChangeAspect="1"/>
          </p:cNvSpPr>
          <p:nvPr/>
        </p:nvSpPr>
        <p:spPr>
          <a:xfrm>
            <a:off x="776941" y="2085099"/>
            <a:ext cx="496596" cy="496596"/>
          </a:xfrm>
          <a:prstGeom prst="ellipse">
            <a:avLst/>
          </a:prstGeom>
          <a:solidFill>
            <a:srgbClr val="004E9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dirty="0">
                <a:latin typeface="+mj-ea"/>
                <a:ea typeface="+mj-ea"/>
              </a:rPr>
              <a:t>1</a:t>
            </a:r>
            <a:endParaRPr lang="en-US" altLang="zh-CN" b="1" dirty="0">
              <a:latin typeface="+mj-ea"/>
              <a:ea typeface="+mj-ea"/>
            </a:endParaRPr>
          </a:p>
        </p:txBody>
      </p:sp>
      <p:sp>
        <p:nvSpPr>
          <p:cNvPr id="23" name="椭圆 22"/>
          <p:cNvSpPr>
            <a:spLocks noChangeAspect="1"/>
          </p:cNvSpPr>
          <p:nvPr>
            <p:custDataLst>
              <p:tags r:id="rId9"/>
            </p:custDataLst>
          </p:nvPr>
        </p:nvSpPr>
        <p:spPr>
          <a:xfrm>
            <a:off x="779636" y="3062145"/>
            <a:ext cx="496596" cy="496596"/>
          </a:xfrm>
          <a:prstGeom prst="ellipse">
            <a:avLst/>
          </a:prstGeom>
          <a:solidFill>
            <a:srgbClr val="004E9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dirty="0">
                <a:latin typeface="+mj-ea"/>
                <a:ea typeface="+mj-ea"/>
              </a:rPr>
              <a:t>2</a:t>
            </a:r>
            <a:endParaRPr lang="en-US" altLang="zh-CN" b="1" dirty="0">
              <a:latin typeface="+mj-ea"/>
              <a:ea typeface="+mj-ea"/>
            </a:endParaRPr>
          </a:p>
        </p:txBody>
      </p:sp>
      <p:sp>
        <p:nvSpPr>
          <p:cNvPr id="24" name="椭圆 23"/>
          <p:cNvSpPr>
            <a:spLocks noChangeAspect="1"/>
          </p:cNvSpPr>
          <p:nvPr>
            <p:custDataLst>
              <p:tags r:id="rId10"/>
            </p:custDataLst>
          </p:nvPr>
        </p:nvSpPr>
        <p:spPr>
          <a:xfrm>
            <a:off x="776940" y="4156771"/>
            <a:ext cx="496596" cy="496596"/>
          </a:xfrm>
          <a:prstGeom prst="ellipse">
            <a:avLst/>
          </a:prstGeom>
          <a:solidFill>
            <a:srgbClr val="004E9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a:latin typeface="+mj-ea"/>
                <a:ea typeface="+mj-ea"/>
              </a:rPr>
              <a:t>3</a:t>
            </a:r>
            <a:endParaRPr lang="en-US" altLang="zh-CN" b="1">
              <a:latin typeface="+mj-ea"/>
              <a:ea typeface="+mj-ea"/>
            </a:endParaRPr>
          </a:p>
        </p:txBody>
      </p:sp>
      <p:sp>
        <p:nvSpPr>
          <p:cNvPr id="25" name="椭圆 24"/>
          <p:cNvSpPr>
            <a:spLocks noChangeAspect="1"/>
          </p:cNvSpPr>
          <p:nvPr>
            <p:custDataLst>
              <p:tags r:id="rId11"/>
            </p:custDataLst>
          </p:nvPr>
        </p:nvSpPr>
        <p:spPr>
          <a:xfrm>
            <a:off x="779635" y="4989730"/>
            <a:ext cx="496596" cy="496596"/>
          </a:xfrm>
          <a:prstGeom prst="ellipse">
            <a:avLst/>
          </a:prstGeom>
          <a:solidFill>
            <a:srgbClr val="004E9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b="1">
                <a:latin typeface="+mj-ea"/>
                <a:ea typeface="+mj-ea"/>
              </a:rPr>
              <a:t>4</a:t>
            </a:r>
            <a:endParaRPr lang="en-US" altLang="zh-CN" b="1">
              <a:latin typeface="+mj-ea"/>
              <a:ea typeface="+mj-ea"/>
            </a:endParaRPr>
          </a:p>
        </p:txBody>
      </p:sp>
      <p:sp>
        <p:nvSpPr>
          <p:cNvPr id="26" name="文本框 27"/>
          <p:cNvSpPr txBox="1"/>
          <p:nvPr>
            <p:custDataLst>
              <p:tags r:id="rId12"/>
            </p:custDataLst>
          </p:nvPr>
        </p:nvSpPr>
        <p:spPr>
          <a:xfrm>
            <a:off x="1273537" y="3029009"/>
            <a:ext cx="4463298" cy="797890"/>
          </a:xfrm>
          <a:prstGeom prst="rect">
            <a:avLst/>
          </a:prstGeom>
          <a:noFill/>
          <a:ln w="9525">
            <a:noFill/>
            <a:miter/>
          </a:ln>
        </p:spPr>
        <p:txBody>
          <a:bodyPr wrap="square" anchor="t">
            <a:noAutofit/>
          </a:bodyPr>
          <a:lstStyle/>
          <a:p>
            <a:pPr lvl="0" indent="0" fontAlgn="auto">
              <a:lnSpc>
                <a:spcPct val="110000"/>
              </a:lnSpc>
            </a:pPr>
            <a:r>
              <a:rPr lang="en-US" altLang="zh-CN" dirty="0">
                <a:latin typeface="+mj-ea"/>
                <a:ea typeface="+mj-ea"/>
              </a:rPr>
              <a:t>2026</a:t>
            </a:r>
            <a:r>
              <a:rPr lang="zh-CN" altLang="en-US" dirty="0">
                <a:latin typeface="+mj-ea"/>
                <a:ea typeface="+mj-ea"/>
              </a:rPr>
              <a:t>年</a:t>
            </a:r>
            <a:r>
              <a:rPr lang="en-US" altLang="zh-CN" dirty="0">
                <a:latin typeface="+mj-ea"/>
                <a:ea typeface="+mj-ea"/>
              </a:rPr>
              <a:t>3</a:t>
            </a:r>
            <a:r>
              <a:rPr lang="zh-CN" altLang="en-US" dirty="0">
                <a:latin typeface="+mj-ea"/>
                <a:ea typeface="+mj-ea"/>
              </a:rPr>
              <a:t>月下旬</a:t>
            </a:r>
            <a:r>
              <a:rPr lang="en-US" altLang="zh-CN" dirty="0">
                <a:latin typeface="+mj-ea"/>
                <a:ea typeface="+mj-ea"/>
              </a:rPr>
              <a:t>至</a:t>
            </a:r>
            <a:r>
              <a:rPr lang="zh-CN" altLang="en-US" dirty="0">
                <a:latin typeface="+mj-ea"/>
                <a:ea typeface="+mj-ea"/>
              </a:rPr>
              <a:t>2026</a:t>
            </a:r>
            <a:r>
              <a:rPr lang="en-US" altLang="zh-CN" dirty="0">
                <a:latin typeface="+mj-ea"/>
                <a:ea typeface="+mj-ea"/>
              </a:rPr>
              <a:t>年</a:t>
            </a:r>
            <a:r>
              <a:rPr lang="zh-CN" altLang="en-US" dirty="0">
                <a:latin typeface="+mj-ea"/>
                <a:ea typeface="+mj-ea"/>
              </a:rPr>
              <a:t>4月上旬：扩充湿度数据并优化模型</a:t>
            </a:r>
            <a:endParaRPr lang="zh-CN" altLang="en-US" dirty="0">
              <a:latin typeface="+mj-ea"/>
              <a:ea typeface="+mj-ea"/>
            </a:endParaRPr>
          </a:p>
        </p:txBody>
      </p:sp>
      <p:sp>
        <p:nvSpPr>
          <p:cNvPr id="27" name="文本框 26"/>
          <p:cNvSpPr txBox="1"/>
          <p:nvPr/>
        </p:nvSpPr>
        <p:spPr>
          <a:xfrm>
            <a:off x="1276075" y="3936472"/>
            <a:ext cx="4463299" cy="458908"/>
          </a:xfrm>
          <a:prstGeom prst="rect">
            <a:avLst/>
          </a:prstGeom>
          <a:noFill/>
        </p:spPr>
        <p:txBody>
          <a:bodyPr wrap="square">
            <a:spAutoFit/>
          </a:bodyPr>
          <a:lstStyle/>
          <a:p>
            <a:pPr lvl="0" indent="0" fontAlgn="auto">
              <a:lnSpc>
                <a:spcPct val="150000"/>
              </a:lnSpc>
            </a:pPr>
            <a:r>
              <a:rPr lang="en-US" altLang="zh-CN" dirty="0">
                <a:latin typeface="+mj-ea"/>
                <a:ea typeface="+mj-ea"/>
              </a:rPr>
              <a:t>2026</a:t>
            </a:r>
            <a:r>
              <a:rPr lang="zh-CN" altLang="en-US" dirty="0">
                <a:latin typeface="+mj-ea"/>
                <a:ea typeface="+mj-ea"/>
              </a:rPr>
              <a:t>年</a:t>
            </a:r>
            <a:r>
              <a:rPr lang="en-US" altLang="zh-CN" dirty="0">
                <a:latin typeface="+mj-ea"/>
                <a:ea typeface="+mj-ea"/>
              </a:rPr>
              <a:t>4</a:t>
            </a:r>
            <a:r>
              <a:rPr lang="zh-CN" altLang="en-US" dirty="0">
                <a:latin typeface="+mj-ea"/>
                <a:ea typeface="+mj-ea"/>
              </a:rPr>
              <a:t>月中旬</a:t>
            </a:r>
            <a:r>
              <a:rPr lang="en-US" altLang="zh-CN" dirty="0">
                <a:latin typeface="+mj-ea"/>
                <a:ea typeface="+mj-ea"/>
              </a:rPr>
              <a:t>至</a:t>
            </a:r>
            <a:r>
              <a:rPr lang="zh-CN" altLang="en-US" dirty="0">
                <a:latin typeface="+mj-ea"/>
                <a:ea typeface="+mj-ea"/>
              </a:rPr>
              <a:t>2026</a:t>
            </a:r>
            <a:r>
              <a:rPr lang="en-US" altLang="zh-CN" dirty="0">
                <a:latin typeface="+mj-ea"/>
                <a:ea typeface="+mj-ea"/>
              </a:rPr>
              <a:t>年</a:t>
            </a:r>
            <a:r>
              <a:rPr lang="zh-CN" altLang="en-US" dirty="0">
                <a:latin typeface="+mj-ea"/>
                <a:ea typeface="+mj-ea"/>
              </a:rPr>
              <a:t>4月下旬：完成论文写作与材料整理</a:t>
            </a:r>
            <a:endParaRPr lang="zh-CN" altLang="en-US" dirty="0">
              <a:latin typeface="+mj-ea"/>
              <a:ea typeface="+mj-ea"/>
            </a:endParaRPr>
          </a:p>
        </p:txBody>
      </p:sp>
      <p:sp>
        <p:nvSpPr>
          <p:cNvPr id="28" name="文本框 27"/>
          <p:cNvSpPr txBox="1"/>
          <p:nvPr/>
        </p:nvSpPr>
        <p:spPr>
          <a:xfrm>
            <a:off x="1276075" y="4976889"/>
            <a:ext cx="4463299" cy="458459"/>
          </a:xfrm>
          <a:prstGeom prst="rect">
            <a:avLst/>
          </a:prstGeom>
          <a:noFill/>
        </p:spPr>
        <p:txBody>
          <a:bodyPr wrap="square">
            <a:spAutoFit/>
          </a:bodyPr>
          <a:lstStyle/>
          <a:p>
            <a:pPr lvl="0" indent="0" fontAlgn="auto">
              <a:lnSpc>
                <a:spcPct val="150000"/>
              </a:lnSpc>
            </a:pPr>
            <a:r>
              <a:rPr lang="en-US" altLang="zh-CN" dirty="0">
                <a:latin typeface="+mj-ea"/>
                <a:ea typeface="+mj-ea"/>
              </a:rPr>
              <a:t>2026</a:t>
            </a:r>
            <a:r>
              <a:rPr lang="zh-CN" altLang="en-US" dirty="0">
                <a:latin typeface="+mj-ea"/>
                <a:ea typeface="+mj-ea"/>
              </a:rPr>
              <a:t>年</a:t>
            </a:r>
            <a:r>
              <a:rPr lang="en-US" altLang="zh-CN" dirty="0">
                <a:latin typeface="+mj-ea"/>
                <a:ea typeface="+mj-ea"/>
              </a:rPr>
              <a:t>4</a:t>
            </a:r>
            <a:r>
              <a:rPr lang="zh-CN" altLang="en-US" dirty="0">
                <a:latin typeface="+mj-ea"/>
                <a:ea typeface="+mj-ea"/>
              </a:rPr>
              <a:t>月下旬至2026年5月：完成最终答辩准备与系统完善</a:t>
            </a:r>
            <a:endParaRPr lang="zh-CN" altLang="en-US" dirty="0">
              <a:latin typeface="+mj-ea"/>
              <a:ea typeface="+mj-ea"/>
            </a:endParaRPr>
          </a:p>
        </p:txBody>
      </p:sp>
      <p:pic>
        <p:nvPicPr>
          <p:cNvPr id="2" name="图片 1"/>
          <p:cNvPicPr>
            <a:picLocks noChangeAspect="1"/>
          </p:cNvPicPr>
          <p:nvPr/>
        </p:nvPicPr>
        <p:blipFill>
          <a:blip r:embed="rId13"/>
          <a:stretch>
            <a:fillRect/>
          </a:stretch>
        </p:blipFill>
        <p:spPr>
          <a:xfrm>
            <a:off x="371475" y="6343015"/>
            <a:ext cx="8915400" cy="495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6095" y="46990"/>
            <a:ext cx="9721850" cy="58356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四</a:t>
            </a:r>
            <a:r>
              <a:rPr kumimoji="0" lang="zh-CN" altLang="en-US" sz="32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lang="zh-CN" altLang="en-US" sz="32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后续工作计划</a:t>
            </a:r>
            <a:endParaRPr lang="zh-CN" altLang="en-US" sz="32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646430" y="832485"/>
            <a:ext cx="10787380" cy="4788535"/>
          </a:xfrm>
          <a:prstGeom prst="rect">
            <a:avLst/>
          </a:prstGeom>
        </p:spPr>
        <p:txBody>
          <a:bodyPr wrap="square">
            <a:noAutofit/>
          </a:bodyPr>
          <a:lstStyle/>
          <a:p>
            <a:pPr>
              <a:lnSpc>
                <a:spcPct val="150000"/>
              </a:lnSpc>
            </a:pPr>
            <a:r>
              <a:rPr lang="zh-CN" altLang="en-US" sz="2400" b="1" dirty="0"/>
              <a:t>当前困难：</a:t>
            </a:r>
            <a:endParaRPr lang="zh-CN" altLang="en-US" sz="2400" dirty="0"/>
          </a:p>
          <a:p>
            <a:pPr marL="742950" lvl="1" indent="-285750">
              <a:lnSpc>
                <a:spcPct val="150000"/>
              </a:lnSpc>
              <a:buFont typeface="Arial" panose="020B0604020202020204" pitchFamily="34" charset="0"/>
              <a:buChar char="•"/>
            </a:pPr>
            <a:r>
              <a:rPr lang="en-US" altLang="zh-CN" sz="2000" dirty="0"/>
              <a:t>WAP 湿大气数据获取与时空匹配复杂</a:t>
            </a:r>
            <a:endParaRPr lang="en-US" altLang="zh-CN" sz="2000" dirty="0"/>
          </a:p>
          <a:p>
            <a:pPr marL="742950" lvl="1" indent="-285750">
              <a:lnSpc>
                <a:spcPct val="150000"/>
              </a:lnSpc>
              <a:buFont typeface="Arial" panose="020B0604020202020204" pitchFamily="34" charset="0"/>
              <a:buChar char="•"/>
            </a:pPr>
            <a:r>
              <a:rPr lang="en-US" altLang="zh-CN" sz="2000" dirty="0"/>
              <a:t>DDIM 大步长采样存在崩溃风险</a:t>
            </a:r>
            <a:endParaRPr lang="en-US" altLang="zh-CN" sz="2000" dirty="0"/>
          </a:p>
          <a:p>
            <a:pPr marL="742950" lvl="1" indent="-285750">
              <a:lnSpc>
                <a:spcPct val="150000"/>
              </a:lnSpc>
              <a:buFont typeface="Arial" panose="020B0604020202020204" pitchFamily="34" charset="0"/>
              <a:buChar char="•"/>
            </a:pPr>
            <a:r>
              <a:rPr lang="en-US" altLang="zh-CN" sz="2000" dirty="0"/>
              <a:t>温湿耦合导致温度精度提升困难</a:t>
            </a:r>
            <a:endParaRPr lang="zh-CN" altLang="en-US" sz="2000" dirty="0"/>
          </a:p>
          <a:p>
            <a:pPr marL="285750" indent="-285750">
              <a:lnSpc>
                <a:spcPct val="150000"/>
              </a:lnSpc>
              <a:buFont typeface="Arial" panose="020B0604020202020204" pitchFamily="34" charset="0"/>
              <a:buChar char="•"/>
            </a:pPr>
            <a:endParaRPr lang="zh-CN" altLang="en-US" sz="2000" dirty="0"/>
          </a:p>
          <a:p>
            <a:pPr>
              <a:lnSpc>
                <a:spcPct val="150000"/>
              </a:lnSpc>
            </a:pPr>
            <a:r>
              <a:rPr lang="zh-CN" altLang="en-US" sz="2400" b="1" dirty="0"/>
              <a:t>解决方案：</a:t>
            </a:r>
            <a:endParaRPr lang="zh-CN" altLang="en-US" sz="2400" dirty="0"/>
          </a:p>
          <a:p>
            <a:pPr marL="742950" lvl="1" indent="-285750">
              <a:lnSpc>
                <a:spcPct val="150000"/>
              </a:lnSpc>
              <a:buFont typeface="Arial" panose="020B0604020202020204" pitchFamily="34" charset="0"/>
              <a:buChar char="•"/>
            </a:pPr>
            <a:r>
              <a:rPr lang="en-US" altLang="zh-CN" sz="2000" dirty="0"/>
              <a:t>优先引入 WAP </a:t>
            </a:r>
            <a:r>
              <a:rPr lang="zh-CN" altLang="en-US" sz="2000" dirty="0"/>
              <a:t>作为湿度标签补充</a:t>
            </a:r>
            <a:endParaRPr lang="en-US" altLang="zh-CN" sz="2000" dirty="0"/>
          </a:p>
          <a:p>
            <a:pPr marL="742950" lvl="1" indent="-285750">
              <a:lnSpc>
                <a:spcPct val="150000"/>
              </a:lnSpc>
              <a:buFont typeface="Arial" panose="020B0604020202020204" pitchFamily="34" charset="0"/>
              <a:buChar char="•"/>
            </a:pPr>
            <a:r>
              <a:rPr lang="zh-CN" altLang="en-US" sz="2000" dirty="0"/>
              <a:t>采用渐进降步实验与</a:t>
            </a:r>
            <a:r>
              <a:rPr lang="en-US" altLang="zh-CN" sz="2000" dirty="0"/>
              <a:t> DPM-Solver </a:t>
            </a:r>
            <a:r>
              <a:rPr lang="zh-CN" altLang="en-US" sz="2000" dirty="0"/>
              <a:t>替代方案</a:t>
            </a:r>
            <a:endParaRPr lang="zh-CN" altLang="en-US" sz="2000" dirty="0"/>
          </a:p>
          <a:p>
            <a:pPr marL="742950" lvl="1" indent="-285750">
              <a:lnSpc>
                <a:spcPct val="150000"/>
              </a:lnSpc>
              <a:buFont typeface="Arial" panose="020B0604020202020204" pitchFamily="34" charset="0"/>
              <a:buChar char="•"/>
            </a:pPr>
            <a:r>
              <a:rPr lang="zh-CN" altLang="en-US" sz="2000" dirty="0"/>
              <a:t>引入物理约束正则化与多任务学习</a:t>
            </a:r>
            <a:endParaRPr lang="zh-CN" altLang="en-US" sz="2000" dirty="0"/>
          </a:p>
          <a:p>
            <a:pPr>
              <a:lnSpc>
                <a:spcPct val="150000"/>
              </a:lnSpc>
            </a:pPr>
            <a:endParaRPr lang="zh-CN" altLang="en-US" sz="2400" dirty="0"/>
          </a:p>
          <a:p>
            <a:pPr marL="285750" indent="-285750">
              <a:lnSpc>
                <a:spcPct val="150000"/>
              </a:lnSpc>
              <a:buFont typeface="Arial" panose="020B0604020202020204" pitchFamily="34" charset="0"/>
              <a:buChar char="•"/>
            </a:pPr>
            <a:endParaRPr lang="zh-CN" altLang="en-US" sz="2000" dirty="0"/>
          </a:p>
        </p:txBody>
      </p:sp>
      <p:pic>
        <p:nvPicPr>
          <p:cNvPr id="8" name="图片 7"/>
          <p:cNvPicPr>
            <a:picLocks noChangeAspect="1"/>
          </p:cNvPicPr>
          <p:nvPr/>
        </p:nvPicPr>
        <p:blipFill>
          <a:blip r:embed="rId1"/>
          <a:stretch>
            <a:fillRect/>
          </a:stretch>
        </p:blipFill>
        <p:spPr>
          <a:xfrm>
            <a:off x="371475" y="6343015"/>
            <a:ext cx="8915400" cy="495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normAutofit fontScale="92500" lnSpcReduction="10000"/>
          </a:bodyPr>
          <a:lstStyle/>
          <a:p>
            <a:fld id="{49AE70B2-8BF9-45C0-BB95-33D1B9D3A854}" type="slidenum">
              <a:rPr lang="zh-CN" altLang="en-US" smtClean="0"/>
            </a:fld>
            <a:r>
              <a:rPr lang="en-US" altLang="zh-CN" dirty="0">
                <a:sym typeface="+mn-ea"/>
              </a:rPr>
              <a:t>/18</a:t>
            </a:r>
            <a:endParaRPr lang="zh-CN" altLang="en-US" dirty="0"/>
          </a:p>
        </p:txBody>
      </p:sp>
      <p:sp>
        <p:nvSpPr>
          <p:cNvPr id="5" name="文本框 4"/>
          <p:cNvSpPr txBox="1"/>
          <p:nvPr/>
        </p:nvSpPr>
        <p:spPr>
          <a:xfrm>
            <a:off x="1775996" y="47155"/>
            <a:ext cx="8640008" cy="584775"/>
          </a:xfrm>
          <a:prstGeom prst="rect">
            <a:avLst/>
          </a:prstGeom>
          <a:noFill/>
        </p:spPr>
        <p:txBody>
          <a:bodyPr wrap="square" rtlCol="0">
            <a:spAutoFit/>
          </a:bodyPr>
          <a:lstStyle/>
          <a:p>
            <a:pPr algn="ctr">
              <a:defRPr/>
            </a:pPr>
            <a:r>
              <a:rPr lang="zh-CN" altLang="en-US" sz="3200" b="1" dirty="0">
                <a:solidFill>
                  <a:schemeClr val="bg1"/>
                </a:solidFill>
                <a:latin typeface="微软雅黑" panose="020B0503020204020204" charset="-122"/>
                <a:ea typeface="微软雅黑" panose="020B0503020204020204" charset="-122"/>
                <a:cs typeface="微软雅黑" panose="020B0503020204020204" charset="-122"/>
              </a:rPr>
              <a:t>中期总结</a:t>
            </a:r>
            <a:endParaRPr lang="zh-CN" altLang="en-US" sz="32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646305" y="691565"/>
            <a:ext cx="10849700" cy="7277735"/>
          </a:xfrm>
          <a:prstGeom prst="rect">
            <a:avLst/>
          </a:prstGeom>
        </p:spPr>
        <p:txBody>
          <a:bodyPr wrap="square">
            <a:spAutoFit/>
          </a:bodyPr>
          <a:lstStyle/>
          <a:p>
            <a:pPr>
              <a:lnSpc>
                <a:spcPct val="150000"/>
              </a:lnSpc>
            </a:pPr>
            <a:r>
              <a:rPr lang="zh-CN" altLang="en-US" sz="2400" b="1" dirty="0">
                <a:sym typeface="+mn-ea"/>
              </a:rPr>
              <a:t>已完成部分：</a:t>
            </a:r>
            <a:endParaRPr lang="zh-CN" altLang="en-US" sz="2400" b="1" dirty="0">
              <a:sym typeface="+mn-ea"/>
            </a:endParaRPr>
          </a:p>
          <a:p>
            <a:pPr marL="742950" lvl="1" indent="-285750">
              <a:lnSpc>
                <a:spcPct val="150000"/>
              </a:lnSpc>
              <a:buFont typeface="Arial" panose="020B0604020202020204" pitchFamily="34" charset="0"/>
              <a:buChar char="•"/>
            </a:pPr>
            <a:r>
              <a:rPr lang="zh-CN" altLang="en-US" sz="2000" dirty="0">
                <a:sym typeface="+mn-ea"/>
              </a:rPr>
              <a:t>跑通数据处理链路</a:t>
            </a:r>
            <a:endParaRPr lang="zh-CN" altLang="en-US" sz="2000" dirty="0"/>
          </a:p>
          <a:p>
            <a:pPr marL="742950" lvl="1" indent="-285750">
              <a:lnSpc>
                <a:spcPct val="150000"/>
              </a:lnSpc>
              <a:buFont typeface="Arial" panose="020B0604020202020204" pitchFamily="34" charset="0"/>
              <a:buChar char="•"/>
            </a:pPr>
            <a:r>
              <a:rPr lang="zh-CN" altLang="en-US" sz="2000" dirty="0">
                <a:sym typeface="+mn-ea"/>
              </a:rPr>
              <a:t>完成系统模型设计与训练</a:t>
            </a:r>
            <a:endParaRPr lang="zh-CN" altLang="en-US" sz="2000" dirty="0">
              <a:sym typeface="+mn-ea"/>
            </a:endParaRPr>
          </a:p>
          <a:p>
            <a:pPr marL="742950" lvl="1" indent="-285750">
              <a:lnSpc>
                <a:spcPct val="150000"/>
              </a:lnSpc>
              <a:buFont typeface="Arial" panose="020B0604020202020204" pitchFamily="34" charset="0"/>
              <a:buChar char="•"/>
            </a:pPr>
            <a:r>
              <a:rPr lang="zh-CN" altLang="en-US" sz="2000" dirty="0">
                <a:sym typeface="+mn-ea"/>
              </a:rPr>
              <a:t>测试集评估以及简单的系统原型实现</a:t>
            </a:r>
            <a:endParaRPr lang="zh-CN" altLang="en-US" sz="2000" b="1" dirty="0">
              <a:sym typeface="+mn-ea"/>
            </a:endParaRPr>
          </a:p>
          <a:p>
            <a:pPr marL="0" lvl="1">
              <a:lnSpc>
                <a:spcPct val="150000"/>
              </a:lnSpc>
            </a:pPr>
            <a:r>
              <a:rPr lang="zh-CN" altLang="en-US" sz="2400" b="1" dirty="0">
                <a:sym typeface="+mn-ea"/>
              </a:rPr>
              <a:t>当前结论：</a:t>
            </a:r>
            <a:endParaRPr lang="zh-CN" altLang="en-US" sz="2400" b="1" dirty="0">
              <a:sym typeface="+mn-ea"/>
            </a:endParaRPr>
          </a:p>
          <a:p>
            <a:pPr marL="742950" lvl="1" indent="-285750" algn="l">
              <a:lnSpc>
                <a:spcPct val="150000"/>
              </a:lnSpc>
              <a:buFont typeface="Arial" panose="020B0604020202020204" pitchFamily="34" charset="0"/>
              <a:buChar char="•"/>
            </a:pPr>
            <a:r>
              <a:rPr lang="zh-CN" altLang="en-US" sz="2000" dirty="0">
                <a:sym typeface="+mn-ea"/>
              </a:rPr>
              <a:t>气压反演整体流程已跑通，效果较好，验证了方法可行性</a:t>
            </a:r>
            <a:endParaRPr lang="zh-CN" altLang="en-US" sz="2400" b="1" dirty="0">
              <a:sym typeface="+mn-ea"/>
            </a:endParaRPr>
          </a:p>
          <a:p>
            <a:pPr marL="0" lvl="1">
              <a:lnSpc>
                <a:spcPct val="150000"/>
              </a:lnSpc>
            </a:pPr>
            <a:r>
              <a:rPr lang="zh-CN" altLang="en-US" sz="2400" b="1" dirty="0"/>
              <a:t>下一阶段重点：</a:t>
            </a:r>
            <a:endParaRPr lang="zh-CN" altLang="en-US" sz="2400" b="1" dirty="0"/>
          </a:p>
          <a:p>
            <a:pPr marL="742950" lvl="1" indent="-285750">
              <a:lnSpc>
                <a:spcPct val="150000"/>
              </a:lnSpc>
              <a:buFont typeface="Arial" panose="020B0604020202020204" pitchFamily="34" charset="0"/>
              <a:buChar char="•"/>
            </a:pPr>
            <a:r>
              <a:rPr lang="zh-CN" altLang="en-US" sz="2000" dirty="0">
                <a:sym typeface="+mn-ea"/>
              </a:rPr>
              <a:t>提升温度反演精度以及推理效率</a:t>
            </a:r>
            <a:endParaRPr lang="zh-CN" altLang="en-US" sz="2000" dirty="0">
              <a:sym typeface="+mn-ea"/>
            </a:endParaRPr>
          </a:p>
          <a:p>
            <a:pPr marL="742950" lvl="1" indent="-285750">
              <a:lnSpc>
                <a:spcPct val="150000"/>
              </a:lnSpc>
              <a:buFont typeface="Arial" panose="020B0604020202020204" pitchFamily="34" charset="0"/>
              <a:buChar char="•"/>
            </a:pPr>
            <a:endParaRPr lang="zh-CN" altLang="en-US" sz="2000" dirty="0">
              <a:sym typeface="+mn-ea"/>
            </a:endParaRPr>
          </a:p>
          <a:p>
            <a:pPr>
              <a:lnSpc>
                <a:spcPct val="140000"/>
              </a:lnSpc>
            </a:pPr>
            <a:endParaRPr lang="en-US" altLang="zh-CN" sz="1600" b="0" i="0" dirty="0">
              <a:solidFill>
                <a:srgbClr val="000000"/>
              </a:solidFill>
              <a:effectLst/>
              <a:latin typeface="Times New Roman" panose="02020603050405020304" pitchFamily="18" charset="0"/>
            </a:endParaRPr>
          </a:p>
          <a:p>
            <a:pPr>
              <a:lnSpc>
                <a:spcPct val="140000"/>
              </a:lnSpc>
            </a:pPr>
            <a:endParaRPr lang="en-US" altLang="zh-CN" sz="1600" b="0" i="0" dirty="0">
              <a:solidFill>
                <a:srgbClr val="000000"/>
              </a:solidFill>
              <a:effectLst/>
              <a:latin typeface="Times New Roman" panose="02020603050405020304" pitchFamily="18" charset="0"/>
            </a:endParaRPr>
          </a:p>
          <a:p>
            <a:pPr>
              <a:lnSpc>
                <a:spcPct val="140000"/>
              </a:lnSpc>
            </a:pPr>
            <a:endParaRPr lang="en-US" altLang="zh-CN" sz="1600" dirty="0">
              <a:solidFill>
                <a:srgbClr val="000000"/>
              </a:solidFill>
              <a:latin typeface="Times New Roman" panose="02020603050405020304" pitchFamily="18" charset="0"/>
            </a:endParaRPr>
          </a:p>
          <a:p>
            <a:pPr>
              <a:lnSpc>
                <a:spcPct val="140000"/>
              </a:lnSpc>
            </a:pPr>
            <a:endParaRPr lang="en-US" altLang="zh-CN" sz="1600" dirty="0">
              <a:solidFill>
                <a:srgbClr val="000000"/>
              </a:solidFill>
              <a:latin typeface="Times New Roman" panose="02020603050405020304" pitchFamily="18" charset="0"/>
            </a:endParaRPr>
          </a:p>
          <a:p>
            <a:pPr>
              <a:lnSpc>
                <a:spcPct val="140000"/>
              </a:lnSpc>
            </a:pPr>
            <a:endParaRPr lang="en-US" altLang="zh-CN" sz="1600" dirty="0">
              <a:solidFill>
                <a:srgbClr val="000000"/>
              </a:solidFill>
              <a:latin typeface="Times New Roman" panose="02020603050405020304" pitchFamily="18" charset="0"/>
            </a:endParaRPr>
          </a:p>
          <a:p>
            <a:pPr>
              <a:lnSpc>
                <a:spcPct val="140000"/>
              </a:lnSpc>
            </a:pPr>
            <a:endParaRPr lang="en-US" altLang="zh-CN" sz="1600" dirty="0">
              <a:solidFill>
                <a:srgbClr val="000000"/>
              </a:solidFill>
              <a:latin typeface="Times New Roman" panose="02020603050405020304" pitchFamily="18" charset="0"/>
            </a:endParaRPr>
          </a:p>
          <a:p>
            <a:pPr>
              <a:lnSpc>
                <a:spcPct val="140000"/>
              </a:lnSpc>
            </a:pPr>
            <a:endParaRPr lang="en-US" altLang="zh-CN" sz="1600" dirty="0">
              <a:solidFill>
                <a:srgbClr val="000000"/>
              </a:solidFill>
              <a:latin typeface="Times New Roman" panose="02020603050405020304" pitchFamily="18" charset="0"/>
            </a:endParaRPr>
          </a:p>
          <a:p>
            <a:pPr>
              <a:lnSpc>
                <a:spcPct val="140000"/>
              </a:lnSpc>
            </a:pPr>
            <a:endParaRPr lang="en-US" altLang="zh-CN" sz="1600" dirty="0">
              <a:solidFill>
                <a:srgbClr val="000000"/>
              </a:solidFill>
              <a:latin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371475" y="6343015"/>
            <a:ext cx="8915400" cy="495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3393"/>
            <a:ext cx="12192000" cy="5630286"/>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131349" y="1772151"/>
            <a:ext cx="620859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srgbClr val="035A80"/>
                </a:solidFill>
                <a:latin typeface="方正大标宋_GBK" panose="03000509000000000000" pitchFamily="65" charset="-122"/>
                <a:ea typeface="方正大标宋_GBK" panose="03000509000000000000" pitchFamily="65" charset="-122"/>
              </a:rPr>
              <a:t>谢谢！</a:t>
            </a:r>
            <a:endParaRPr lang="en-US" altLang="zh-CN" sz="4400" b="1" dirty="0">
              <a:solidFill>
                <a:srgbClr val="035A80"/>
              </a:solidFill>
              <a:latin typeface="方正大标宋_GBK" panose="03000509000000000000" pitchFamily="65" charset="-122"/>
              <a:ea typeface="方正大标宋_GBK" panose="03000509000000000000" pitchFamily="65"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035A80"/>
                </a:solidFill>
                <a:effectLst/>
                <a:uLnTx/>
                <a:uFillTx/>
                <a:latin typeface="方正大标宋_GBK" panose="03000509000000000000" pitchFamily="65" charset="-122"/>
                <a:ea typeface="方正大标宋_GBK" panose="03000509000000000000" pitchFamily="65" charset="-122"/>
              </a:rPr>
              <a:t>请各位老师批评指正！</a:t>
            </a:r>
            <a:endParaRPr kumimoji="0" lang="en-US" altLang="zh-CN" sz="1050" b="1" i="0" u="none" strike="noStrike" kern="1200" cap="none" spc="0" normalizeH="0" baseline="0" noProof="0" dirty="0">
              <a:ln>
                <a:noFill/>
              </a:ln>
              <a:solidFill>
                <a:srgbClr val="035A80"/>
              </a:solidFill>
              <a:effectLst/>
              <a:uLnTx/>
              <a:uFillTx/>
              <a:latin typeface="黑体" panose="02010609060101010101" charset="-122"/>
              <a:ea typeface="黑体" panose="02010609060101010101" charset="-122"/>
            </a:endParaRPr>
          </a:p>
        </p:txBody>
      </p:sp>
      <p:sp>
        <p:nvSpPr>
          <p:cNvPr id="13" name="矩形 12"/>
          <p:cNvSpPr/>
          <p:nvPr/>
        </p:nvSpPr>
        <p:spPr>
          <a:xfrm>
            <a:off x="0" y="5630286"/>
            <a:ext cx="12192000" cy="1227713"/>
          </a:xfrm>
          <a:prstGeom prst="rect">
            <a:avLst/>
          </a:prstGeom>
          <a:solidFill>
            <a:srgbClr val="035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12" name="文本框 11"/>
          <p:cNvSpPr txBox="1"/>
          <p:nvPr/>
        </p:nvSpPr>
        <p:spPr>
          <a:xfrm>
            <a:off x="4586093" y="6100176"/>
            <a:ext cx="3048000"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rPr>
              <a:t>规格严格 </a:t>
            </a:r>
            <a:r>
              <a:rPr kumimoji="0" lang="en-US" altLang="zh-CN"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rPr>
              <a:t>|</a:t>
            </a:r>
            <a:r>
              <a:rPr kumimoji="0" lang="zh-CN" altLang="en-US"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rPr>
              <a:t> 功夫到家</a:t>
            </a:r>
            <a:endParaRPr kumimoji="0" lang="zh-CN" altLang="en-US" sz="1400" b="0" i="0" u="none" strike="noStrike" kern="1200" cap="none" spc="0" normalizeH="0" baseline="0" noProof="0" dirty="0">
              <a:ln>
                <a:noFill/>
              </a:ln>
              <a:solidFill>
                <a:srgbClr val="FFFFFF"/>
              </a:solidFill>
              <a:effectLst/>
              <a:uLnTx/>
              <a:uFillTx/>
              <a:latin typeface="仿宋" panose="02010609060101010101" pitchFamily="49" charset="-122"/>
              <a:ea typeface="仿宋" panose="02010609060101010101" pitchFamily="49" charset="-122"/>
              <a:cs typeface="+mn-cs"/>
            </a:endParaRPr>
          </a:p>
        </p:txBody>
      </p:sp>
      <p:grpSp>
        <p:nvGrpSpPr>
          <p:cNvPr id="23" name="组合 22"/>
          <p:cNvGrpSpPr/>
          <p:nvPr/>
        </p:nvGrpSpPr>
        <p:grpSpPr>
          <a:xfrm>
            <a:off x="4268948" y="3925335"/>
            <a:ext cx="3682290" cy="809099"/>
            <a:chOff x="3285725" y="4370615"/>
            <a:chExt cx="1826014" cy="927778"/>
          </a:xfrm>
        </p:grpSpPr>
        <p:sp>
          <p:nvSpPr>
            <p:cNvPr id="14" name="矩形 13"/>
            <p:cNvSpPr/>
            <p:nvPr/>
          </p:nvSpPr>
          <p:spPr>
            <a:xfrm>
              <a:off x="3285725" y="4370615"/>
              <a:ext cx="1826014" cy="927778"/>
            </a:xfrm>
            <a:prstGeom prst="rect">
              <a:avLst/>
            </a:prstGeom>
            <a:solidFill>
              <a:srgbClr val="035A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方正大标宋_GBK" panose="03000509000000000000" pitchFamily="65" charset="-122"/>
                <a:ea typeface="方正大标宋_GBK" panose="03000509000000000000" pitchFamily="65" charset="-122"/>
                <a:cs typeface="+mn-cs"/>
              </a:endParaRPr>
            </a:p>
          </p:txBody>
        </p:sp>
        <p:sp>
          <p:nvSpPr>
            <p:cNvPr id="15" name="文本框 14"/>
            <p:cNvSpPr txBox="1"/>
            <p:nvPr/>
          </p:nvSpPr>
          <p:spPr>
            <a:xfrm>
              <a:off x="3362494" y="4471574"/>
              <a:ext cx="1675224" cy="670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宋体" panose="02010600030101010101" pitchFamily="2" charset="-122"/>
                  <a:ea typeface="宋体" panose="02010600030101010101" pitchFamily="2" charset="-122"/>
                </a:rPr>
                <a:t>汇报人</a:t>
              </a:r>
              <a:r>
                <a:rPr kumimoji="0" lang="zh-CN" altLang="en-US" sz="16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rPr>
                <a:t>：</a:t>
              </a:r>
              <a:r>
                <a:rPr lang="en-US" altLang="zh-CN" sz="1600" b="1" dirty="0">
                  <a:solidFill>
                    <a:srgbClr val="FFFFFF"/>
                  </a:solidFill>
                  <a:latin typeface="宋体" panose="02010600030101010101" pitchFamily="2" charset="-122"/>
                  <a:ea typeface="宋体" panose="02010600030101010101" pitchFamily="2" charset="-122"/>
                </a:rPr>
                <a:t>林逸飞</a:t>
              </a:r>
              <a:endParaRPr lang="en-US" altLang="zh-CN" sz="1600" b="1" dirty="0">
                <a:solidFill>
                  <a:srgbClr val="FFFFFF"/>
                </a:solidFill>
                <a:latin typeface="宋体" panose="02010600030101010101" pitchFamily="2" charset="-122"/>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宋体" panose="02010600030101010101" pitchFamily="2" charset="-122"/>
                  <a:ea typeface="宋体" panose="02010600030101010101" pitchFamily="2" charset="-122"/>
                </a:rPr>
                <a:t>2026年3月</a:t>
              </a:r>
              <a:endParaRPr kumimoji="0" lang="en-US" altLang="zh-CN" sz="1600" b="1" i="0" u="none" strike="noStrike" kern="120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endParaRPr>
            </a:p>
          </p:txBody>
        </p:sp>
      </p:grpSp>
      <p:grpSp>
        <p:nvGrpSpPr>
          <p:cNvPr id="22" name="组合 21"/>
          <p:cNvGrpSpPr/>
          <p:nvPr/>
        </p:nvGrpSpPr>
        <p:grpSpPr>
          <a:xfrm>
            <a:off x="2852058" y="5628024"/>
            <a:ext cx="6487884" cy="148518"/>
            <a:chOff x="2950029" y="5627954"/>
            <a:chExt cx="6487884" cy="148518"/>
          </a:xfrm>
        </p:grpSpPr>
        <p:sp>
          <p:nvSpPr>
            <p:cNvPr id="18" name="矩形 17"/>
            <p:cNvSpPr/>
            <p:nvPr/>
          </p:nvSpPr>
          <p:spPr>
            <a:xfrm>
              <a:off x="2950029" y="5627955"/>
              <a:ext cx="1621971" cy="14851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19" name="矩形 18"/>
            <p:cNvSpPr/>
            <p:nvPr/>
          </p:nvSpPr>
          <p:spPr>
            <a:xfrm>
              <a:off x="4572000" y="5627954"/>
              <a:ext cx="1621971" cy="14851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20" name="矩形 19"/>
            <p:cNvSpPr/>
            <p:nvPr/>
          </p:nvSpPr>
          <p:spPr>
            <a:xfrm>
              <a:off x="6193971" y="5627957"/>
              <a:ext cx="1621971" cy="14851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sp>
          <p:nvSpPr>
            <p:cNvPr id="21" name="矩形 20"/>
            <p:cNvSpPr/>
            <p:nvPr/>
          </p:nvSpPr>
          <p:spPr>
            <a:xfrm>
              <a:off x="7815942" y="5627956"/>
              <a:ext cx="1621971" cy="1485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10600030101010101" charset="-122"/>
                <a:ea typeface="等线" panose="02010600030101010101" charset="-122"/>
                <a:cs typeface="+mn-cs"/>
              </a:endParaRPr>
            </a:p>
          </p:txBody>
        </p:sp>
      </p:grpSp>
      <p:pic>
        <p:nvPicPr>
          <p:cNvPr id="1026" name="Picture 2" descr="logo"/>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37974" y="632539"/>
            <a:ext cx="4944239" cy="8812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y"/>
  <p:tag name="KSO_WM_UNIT_INDEX" val="1"/>
  <p:tag name="KSO_WM_UNIT_ID" val="_1*y*1"/>
  <p:tag name="KSO_WM_SLIDE_BACKGROUND_MASK_FLAG" val="1"/>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1.0"/>
  <p:tag name="KSO_WM_BEAUTIFY_FLAG" val="#wm#"/>
  <p:tag name="KSO_WM_UNIT_TYPE" val="i"/>
  <p:tag name="KSO_WM_UNIT_INDEX"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7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4.xml><?xml version="1.0" encoding="utf-8"?>
<p:tagLst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8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9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0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1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87"/>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87"/>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TAG_VERSION" val="1.0"/>
  <p:tag name="KSO_WM_BEAUTIFY_FLAG" val="#wm#"/>
  <p:tag name="KSO_WM_TEMPLATE_CATEGORY" val="custom"/>
  <p:tag name="KSO_WM_TEMPLATE_INDEX" val="20204587"/>
  <p:tag name="KSO_WM_TEMPLATE_SUBCATEGORY" val="0"/>
  <p:tag name="KSO_WM_TEMPLATE_MASTER_TYPE" val="1"/>
  <p:tag name="KSO_WM_TEMPLATE_COLOR_TYPE" val="1"/>
  <p:tag name="KSO_WM_TEMPLATE_MASTER_THUMB_INDEX" val="12"/>
  <p:tag name="KSO_WM_TEMPLATE_THUMBS_INDEX" val="1、4、7、9、12、16、20、23、24、25、26、27、30、33、37、38、39、40"/>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LAYERLEVEL" val="1_1_1"/>
  <p:tag name="KSO_WM_TAG_VERSION" val="1.0"/>
  <p:tag name="KSO_WM_BEAUTIFY_FLAG" val="#wm#"/>
  <p:tag name="KSO_WM_TEMPLATE_CATEGORY" val="custom"/>
  <p:tag name="KSO_WM_TEMPLATE_INDEX" val="20204587"/>
  <p:tag name="KSO_WM_UNIT_ID" val="custom20204587_4*l_h_i*1_1_4"/>
  <p:tag name="KSO_WM_UNIT_LINE_FORE_SCHEMECOLOR_INDEX" val="14"/>
  <p:tag name="KSO_WM_UNIT_LINE_FILL_TYPE" val="2"/>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LAYERLEVEL" val="1_1_1"/>
  <p:tag name="KSO_WM_TAG_VERSION" val="1.0"/>
  <p:tag name="KSO_WM_BEAUTIFY_FLAG" val="#wm#"/>
  <p:tag name="KSO_WM_TEMPLATE_CATEGORY" val="custom"/>
  <p:tag name="KSO_WM_TEMPLATE_INDEX" val="20204587"/>
  <p:tag name="KSO_WM_UNIT_ID" val="custom20204587_4*l_h_i*1_1_3"/>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87"/>
  <p:tag name="KSO_WM_UNIT_ID" val="custom20204587_4*l_h_i*1_1_1"/>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LAYERLEVEL" val="1_1_1"/>
  <p:tag name="KSO_WM_TAG_VERSION" val="1.0"/>
  <p:tag name="KSO_WM_BEAUTIFY_FLAG" val="#wm#"/>
  <p:tag name="KSO_WM_TEMPLATE_CATEGORY" val="custom"/>
  <p:tag name="KSO_WM_TEMPLATE_INDEX" val="20204587"/>
  <p:tag name="KSO_WM_UNIT_ID" val="custom20204587_4*l_h_i*1_1_2"/>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48.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文本内容"/>
  <p:tag name="KSO_WM_TEMPLATE_CATEGORY" val="custom"/>
  <p:tag name="KSO_WM_TEMPLATE_INDEX" val="20204587"/>
  <p:tag name="KSO_WM_UNIT_ID" val="custom20204587_4*l_h_f*1_1_1"/>
  <p:tag name="KSO_WM_UNIT_SUBTYPE" val="a"/>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LAYERLEVEL" val="1_1_1"/>
  <p:tag name="KSO_WM_TAG_VERSION" val="1.0"/>
  <p:tag name="KSO_WM_BEAUTIFY_FLAG" val="#wm#"/>
  <p:tag name="KSO_WM_TEMPLATE_CATEGORY" val="custom"/>
  <p:tag name="KSO_WM_TEMPLATE_INDEX" val="20204587"/>
  <p:tag name="KSO_WM_UNIT_ID" val="custom20204587_4*l_h_i*1_2_4"/>
  <p:tag name="KSO_WM_UNIT_LINE_FORE_SCHEMECOLOR_INDEX" val="14"/>
  <p:tag name="KSO_WM_UNIT_LINE_FILL_TYPE" val="2"/>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LAYERLEVEL" val="1_1_1"/>
  <p:tag name="KSO_WM_TAG_VERSION" val="1.0"/>
  <p:tag name="KSO_WM_BEAUTIFY_FLAG" val="#wm#"/>
  <p:tag name="KSO_WM_TEMPLATE_CATEGORY" val="custom"/>
  <p:tag name="KSO_WM_TEMPLATE_INDEX" val="20204587"/>
  <p:tag name="KSO_WM_UNIT_ID" val="custom20204587_4*l_h_i*1_2_3"/>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87"/>
  <p:tag name="KSO_WM_UNIT_ID" val="custom20204587_4*l_h_i*1_2_1"/>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LAYERLEVEL" val="1_1_1"/>
  <p:tag name="KSO_WM_TAG_VERSION" val="1.0"/>
  <p:tag name="KSO_WM_BEAUTIFY_FLAG" val="#wm#"/>
  <p:tag name="KSO_WM_TEMPLATE_CATEGORY" val="custom"/>
  <p:tag name="KSO_WM_TEMPLATE_INDEX" val="20204587"/>
  <p:tag name="KSO_WM_UNIT_ID" val="custom20204587_4*l_h_i*1_2_2"/>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3.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文本内容"/>
  <p:tag name="KSO_WM_TEMPLATE_CATEGORY" val="custom"/>
  <p:tag name="KSO_WM_TEMPLATE_INDEX" val="20204587"/>
  <p:tag name="KSO_WM_UNIT_ID" val="custom20204587_4*l_h_f*1_2_1"/>
  <p:tag name="KSO_WM_UNIT_SUBTYPE" val="a"/>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LAYERLEVEL" val="1_1_1"/>
  <p:tag name="KSO_WM_TAG_VERSION" val="1.0"/>
  <p:tag name="KSO_WM_BEAUTIFY_FLAG" val="#wm#"/>
  <p:tag name="KSO_WM_TEMPLATE_CATEGORY" val="custom"/>
  <p:tag name="KSO_WM_TEMPLATE_INDEX" val="20204587"/>
  <p:tag name="KSO_WM_UNIT_ID" val="custom20204587_4*l_h_i*1_3_4"/>
  <p:tag name="KSO_WM_UNIT_LINE_FORE_SCHEMECOLOR_INDEX" val="14"/>
  <p:tag name="KSO_WM_UNIT_LINE_FILL_TYPE" val="2"/>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LAYERLEVEL" val="1_1_1"/>
  <p:tag name="KSO_WM_TAG_VERSION" val="1.0"/>
  <p:tag name="KSO_WM_BEAUTIFY_FLAG" val="#wm#"/>
  <p:tag name="KSO_WM_TEMPLATE_CATEGORY" val="custom"/>
  <p:tag name="KSO_WM_TEMPLATE_INDEX" val="20204587"/>
  <p:tag name="KSO_WM_UNIT_ID" val="custom20204587_4*l_h_i*1_3_3"/>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87"/>
  <p:tag name="KSO_WM_UNIT_ID" val="custom20204587_4*l_h_i*1_3_1"/>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LAYERLEVEL" val="1_1_1"/>
  <p:tag name="KSO_WM_TAG_VERSION" val="1.0"/>
  <p:tag name="KSO_WM_BEAUTIFY_FLAG" val="#wm#"/>
  <p:tag name="KSO_WM_TEMPLATE_CATEGORY" val="custom"/>
  <p:tag name="KSO_WM_TEMPLATE_INDEX" val="20204587"/>
  <p:tag name="KSO_WM_UNIT_ID" val="custom20204587_4*l_h_i*1_3_2"/>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8.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文本内容"/>
  <p:tag name="KSO_WM_TEMPLATE_CATEGORY" val="custom"/>
  <p:tag name="KSO_WM_TEMPLATE_INDEX" val="20204587"/>
  <p:tag name="KSO_WM_UNIT_ID" val="custom20204587_4*l_h_f*1_3_1"/>
  <p:tag name="KSO_WM_UNIT_SUBTYPE" val="a"/>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59.xml><?xml version="1.0" encoding="utf-8"?>
<p:tagLst xmlns:p="http://schemas.openxmlformats.org/presentationml/2006/main">
  <p:tag name="KSO_WM_UNIT_ISCONTENTSTITLE" val="1"/>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UNIT_PRESET_TEXT" val="目录"/>
  <p:tag name="KSO_WM_TEMPLATE_CATEGORY" val="custom"/>
  <p:tag name="KSO_WM_TEMPLATE_INDEX" val="20204587"/>
  <p:tag name="KSO_WM_UNIT_ID" val="custom20204587_4*a*1"/>
  <p:tag name="KSO_WM_UNIT_ISNUMDGMTITLE" val="0"/>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LAYERLEVEL" val="1_1_1"/>
  <p:tag name="KSO_WM_TAG_VERSION" val="1.0"/>
  <p:tag name="KSO_WM_BEAUTIFY_FLAG" val="#wm#"/>
  <p:tag name="KSO_WM_TEMPLATE_CATEGORY" val="custom"/>
  <p:tag name="KSO_WM_TEMPLATE_INDEX" val="20204587"/>
  <p:tag name="KSO_WM_UNIT_ID" val="custom20204587_4*l_h_i*1_3_4"/>
  <p:tag name="KSO_WM_UNIT_LINE_FORE_SCHEMECOLOR_INDEX" val="14"/>
  <p:tag name="KSO_WM_UNIT_LINE_FILL_TYPE" val="2"/>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LAYERLEVEL" val="1_1_1"/>
  <p:tag name="KSO_WM_TAG_VERSION" val="1.0"/>
  <p:tag name="KSO_WM_BEAUTIFY_FLAG" val="#wm#"/>
  <p:tag name="KSO_WM_TEMPLATE_CATEGORY" val="custom"/>
  <p:tag name="KSO_WM_TEMPLATE_INDEX" val="20204587"/>
  <p:tag name="KSO_WM_UNIT_ID" val="custom20204587_4*l_h_i*1_3_3"/>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87"/>
  <p:tag name="KSO_WM_UNIT_ID" val="custom20204587_4*l_h_i*1_3_1"/>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LAYERLEVEL" val="1_1_1"/>
  <p:tag name="KSO_WM_TAG_VERSION" val="1.0"/>
  <p:tag name="KSO_WM_BEAUTIFY_FLAG" val="#wm#"/>
  <p:tag name="KSO_WM_TEMPLATE_CATEGORY" val="custom"/>
  <p:tag name="KSO_WM_TEMPLATE_INDEX" val="20204587"/>
  <p:tag name="KSO_WM_UNIT_ID" val="custom20204587_4*l_h_i*1_3_2"/>
  <p:tag name="KSO_WM_UNIT_FILL_FORE_SCHEMECOLOR_INDEX" val="14"/>
  <p:tag name="KSO_WM_UNIT_FILL_TYPE" val="1"/>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64.xml><?xml version="1.0" encoding="utf-8"?>
<p:tagLst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文本内容"/>
  <p:tag name="KSO_WM_TEMPLATE_CATEGORY" val="custom"/>
  <p:tag name="KSO_WM_TEMPLATE_INDEX" val="20204587"/>
  <p:tag name="KSO_WM_UNIT_ID" val="custom20204587_4*l_h_f*1_3_1"/>
  <p:tag name="KSO_WM_UNIT_SUBTYPE" val="a"/>
  <p:tag name="KSO_WM_UNIT_TEXT_FILL_FORE_SCHEMECOLOR_INDEX" val="13"/>
  <p:tag name="KSO_WM_UNIT_TEXT_FILL_TYPE" val="1"/>
  <p:tag name="KSO_WM_UNIT_USESOURCEFORMAT_APPLY" val="1"/>
  <p:tag name="KSO_WM_DIAGRAM_VIRTUALLY_FRAME" val="{&quot;height&quot;:357.8713385826772,&quot;left&quot;:309.17527559055117,&quot;top&quot;:108.17503937007874,&quot;width&quot;:569.2542519685038}"/>
</p:tagLst>
</file>

<file path=ppt/tags/tag165.xml><?xml version="1.0" encoding="utf-8"?>
<p:tagLst xmlns:p="http://schemas.openxmlformats.org/presentationml/2006/main">
  <p:tag name="KSO_WM_TEMPLATE_SUBCATEGORY" val="0"/>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SLIDE_LAYOUT" val="a_b_l"/>
  <p:tag name="KSO_WM_SLIDE_LAYOUT_CNT" val="1_1_1"/>
  <p:tag name="KSO_WM_TEMPLATE_MASTER_TYPE" val="1"/>
  <p:tag name="KSO_WM_TEMPLATE_COLOR_TYPE" val="1"/>
  <p:tag name="KSO_WM_TEMPLATE_CATEGORY" val="custom"/>
  <p:tag name="KSO_WM_TEMPLATE_INDEX" val="20204587"/>
  <p:tag name="KSO_WM_SLIDE_ID" val="custom20204587_4"/>
</p:tagLst>
</file>

<file path=ppt/tags/tag166.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67.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68.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69.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0.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1.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2.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3.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4.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5.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6.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7.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8.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79.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0.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1.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2.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3.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4.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5.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6.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7.xml><?xml version="1.0" encoding="utf-8"?>
<p:tagLst xmlns:p="http://schemas.openxmlformats.org/presentationml/2006/main">
  <p:tag name="KSO_WM_DIAGRAM_VIRTUALLY_FRAME" val="{&quot;height&quot;:342.6735433070866,&quot;left&quot;:44.4740157480315,&quot;top&quot;:99.95897637795275,&quot;width&quot;:883.0763779527558}"/>
</p:tagLst>
</file>

<file path=ppt/tags/tag188.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89.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0.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1.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2.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3.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4.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5.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6.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7.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8.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199.xml><?xml version="1.0" encoding="utf-8"?>
<p:tagLst xmlns:p="http://schemas.openxmlformats.org/presentationml/2006/main">
  <p:tag name="KSO_WM_DIAGRAM_VIRTUALLY_FRAME" val="{&quot;height&quot;:365.090157480315,&quot;left&quot;:54.788582677165365,&quot;top&quot;:112.61181102362204,&quot;width&quot;:558.7566929133858}"/>
</p:tagLst>
</file>

<file path=ppt/tags/tag200.xml><?xml version="1.0" encoding="utf-8"?>
<p:tagLst xmlns:p="http://schemas.openxmlformats.org/presentationml/2006/main">
  <p:tag name="KSO_WM_DIAGRAM_VIRTUALLY_FRAME" val="{&quot;height&quot;:365.10196850393703,&quot;left&quot;:54.8,&quot;top&quot;:112.6,&quot;width&quot;:558.7452755905512}"/>
</p:tagLst>
</file>

<file path=ppt/tags/tag201.xml><?xml version="1.0" encoding="utf-8"?>
<p:tagLst xmlns:p="http://schemas.openxmlformats.org/presentationml/2006/main">
  <p:tag name="KSO_WM_TEMPLATE_CATEGORY" val="diagram"/>
  <p:tag name="KSO_WM_TEMPLATE_INDEX" val="160809"/>
  <p:tag name="KSO_WM_BEAUTIFY_FLAG" val="#wm#"/>
  <p:tag name="KSO_WM_TAG_VERSION" val="1.0"/>
  <p:tag name="KSO_WM_UNIT_TYPE" val="r_t"/>
  <p:tag name="KSO_WM_UNIT_INDEX" val="1_1"/>
  <p:tag name="KSO_WM_UNIT_ID" val="256*r_t*1_1"/>
  <p:tag name="KSO_WM_UNIT_CLEAR" val="1"/>
  <p:tag name="KSO_WM_UNIT_LAYERLEVEL" val="1_1"/>
  <p:tag name="KSO_WM_UNIT_DIAGRAM_CONTRAST_TITLE_CNT" val="2"/>
  <p:tag name="KSO_WM_UNIT_DIAGRAM_DIMENSION_TITLE_CNT" val="1"/>
  <p:tag name="KSO_WM_UNIT_VALUE" val="9"/>
  <p:tag name="KSO_WM_UNIT_HIGHLIGHT" val="0"/>
  <p:tag name="KSO_WM_UNIT_COMPATIBLE" val="0"/>
  <p:tag name="KSO_WM_UNIT_PRESET_TEXT" val="编辑标题"/>
  <p:tag name="KSO_WM_DIAGRAM_GROUP_CODE" val="r1-1"/>
  <p:tag name="KSO_WM_UNIT_FILL_FORE_SCHEMECOLOR_INDEX" val="7"/>
  <p:tag name="KSO_WM_UNIT_FILL_TYPE" val="1"/>
  <p:tag name="KSO_WM_DIAGRAM_VIRTUALLY_FRAME" val="{&quot;height&quot;:256.40763779527555,&quot;left&quot;:69.34992125984252,&quot;top&quot;:70.86637795275591,&quot;width&quot;:830.9250393700788}"/>
</p:tagLst>
</file>

<file path=ppt/tags/tag202.xml><?xml version="1.0" encoding="utf-8"?>
<p:tagLst xmlns:p="http://schemas.openxmlformats.org/presentationml/2006/main">
  <p:tag name="KSO_WM_TEMPLATE_CATEGORY" val="diagram"/>
  <p:tag name="KSO_WM_TEMPLATE_INDEX" val="160809"/>
  <p:tag name="KSO_WM_BEAUTIFY_FLAG" val="#wm#"/>
  <p:tag name="KSO_WM_TAG_VERSION" val="1.0"/>
  <p:tag name="KSO_WM_UNIT_TYPE" val="r_t"/>
  <p:tag name="KSO_WM_UNIT_INDEX" val="1_2"/>
  <p:tag name="KSO_WM_UNIT_ID" val="256*r_t*1_2"/>
  <p:tag name="KSO_WM_UNIT_CLEAR" val="1"/>
  <p:tag name="KSO_WM_UNIT_LAYERLEVEL" val="1_1"/>
  <p:tag name="KSO_WM_UNIT_DIAGRAM_CONTRAST_TITLE_CNT" val="2"/>
  <p:tag name="KSO_WM_UNIT_DIAGRAM_DIMENSION_TITLE_CNT" val="1"/>
  <p:tag name="KSO_WM_UNIT_VALUE" val="10"/>
  <p:tag name="KSO_WM_UNIT_HIGHLIGHT" val="0"/>
  <p:tag name="KSO_WM_UNIT_COMPATIBLE" val="0"/>
  <p:tag name="KSO_WM_UNIT_PRESET_TEXT" val="编辑标题"/>
  <p:tag name="KSO_WM_DIAGRAM_GROUP_CODE" val="r1-1"/>
  <p:tag name="KSO_WM_UNIT_FILL_FORE_SCHEMECOLOR_INDEX" val="5"/>
  <p:tag name="KSO_WM_UNIT_FILL_TYPE" val="1"/>
  <p:tag name="KSO_WM_DIAGRAM_VIRTUALLY_FRAME" val="{&quot;height&quot;:256.40763779527555,&quot;left&quot;:69.34992125984252,&quot;top&quot;:70.86637795275591,&quot;width&quot;:830.9250393700788}"/>
</p:tagLst>
</file>

<file path=ppt/tags/tag203.xml><?xml version="1.0" encoding="utf-8"?>
<p:tagLst xmlns:p="http://schemas.openxmlformats.org/presentationml/2006/main">
  <p:tag name="KSO_WM_TEMPLATE_CATEGORY" val="diagram"/>
  <p:tag name="KSO_WM_TEMPLATE_INDEX" val="160809"/>
  <p:tag name="KSO_WM_BEAUTIFY_FLAG" val="#wm#"/>
  <p:tag name="KSO_WM_TAG_VERSION" val="1.0"/>
  <p:tag name="KSO_WM_UNIT_TYPE" val="r_v"/>
  <p:tag name="KSO_WM_UNIT_INDEX" val="1_2"/>
  <p:tag name="KSO_WM_UNIT_ID" val="256*r_v*1_2"/>
  <p:tag name="KSO_WM_UNIT_CLEAR" val="1"/>
  <p:tag name="KSO_WM_UNIT_LAYERLEVEL" val="1_1"/>
  <p:tag name="KSO_WM_UNIT_DIAGRAM_CONTRAST_TITLE_CNT" val="2"/>
  <p:tag name="KSO_WM_UNIT_DIAGRAM_DIMENSION_TITLE_CNT" val="1"/>
  <p:tag name="KSO_WM_UNIT_VALUE" val="40"/>
  <p:tag name="KSO_WM_UNIT_HIGHLIGHT" val="0"/>
  <p:tag name="KSO_WM_UNIT_COMPATIBLE" val="0"/>
  <p:tag name="KSO_WM_UNIT_PRESET_TEXT_INDEX" val="2"/>
  <p:tag name="KSO_WM_UNIT_PRESET_TEXT_LEN" val="30"/>
  <p:tag name="KSO_WM_DIAGRAM_GROUP_CODE" val="r1-1"/>
  <p:tag name="KSO_WM_UNIT_TEXT_FILL_FORE_SCHEMECOLOR_INDEX" val="13"/>
  <p:tag name="KSO_WM_UNIT_TEXT_FILL_TYPE" val="1"/>
  <p:tag name="KSO_WM_DIAGRAM_VIRTUALLY_FRAME" val="{&quot;height&quot;:256.40763779527555,&quot;left&quot;:69.34992125984252,&quot;top&quot;:70.86637795275591,&quot;width&quot;:830.9250393700788}"/>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TEMPLATE_CATEGORY" val="diagram"/>
  <p:tag name="KSO_WM_TEMPLATE_INDEX" val="160809"/>
  <p:tag name="KSO_WM_BEAUTIFY_FLAG" val="#wm#"/>
  <p:tag name="KSO_WM_TAG_VERSION" val="1.0"/>
  <p:tag name="KSO_WM_UNIT_TYPE" val="r_v"/>
  <p:tag name="KSO_WM_UNIT_INDEX" val="1_2"/>
  <p:tag name="KSO_WM_UNIT_ID" val="256*r_v*1_2"/>
  <p:tag name="KSO_WM_UNIT_CLEAR" val="1"/>
  <p:tag name="KSO_WM_UNIT_LAYERLEVEL" val="1_1"/>
  <p:tag name="KSO_WM_UNIT_DIAGRAM_CONTRAST_TITLE_CNT" val="2"/>
  <p:tag name="KSO_WM_UNIT_DIAGRAM_DIMENSION_TITLE_CNT" val="1"/>
  <p:tag name="KSO_WM_UNIT_VALUE" val="40"/>
  <p:tag name="KSO_WM_UNIT_HIGHLIGHT" val="0"/>
  <p:tag name="KSO_WM_UNIT_COMPATIBLE" val="0"/>
  <p:tag name="KSO_WM_UNIT_PRESET_TEXT_INDEX" val="2"/>
  <p:tag name="KSO_WM_UNIT_PRESET_TEXT_LEN" val="30"/>
  <p:tag name="KSO_WM_DIAGRAM_GROUP_CODE" val="r1-1"/>
  <p:tag name="KSO_WM_UNIT_TEXT_FILL_FORE_SCHEMECOLOR_INDEX" val="13"/>
  <p:tag name="KSO_WM_UNIT_TEXT_FILL_TYPE" val="1"/>
  <p:tag name="KSO_WM_DIAGRAM_VIRTUALLY_FRAME" val="{&quot;height&quot;:256.40763779527555,&quot;left&quot;:69.34992125984252,&quot;top&quot;:70.86637795275591,&quot;width&quot;:830.9250393700788}"/>
</p:tagLst>
</file>

<file path=ppt/tags/tag208.xml><?xml version="1.0" encoding="utf-8"?>
<p:tagLst xmlns:p="http://schemas.openxmlformats.org/presentationml/2006/main">
  <p:tag name="KSO_WM_TEMPLATE_CATEGORY" val="diagram"/>
  <p:tag name="KSO_WM_TEMPLATE_INDEX" val="160809"/>
  <p:tag name="KSO_WM_BEAUTIFY_FLAG" val="#wm#"/>
  <p:tag name="KSO_WM_TAG_VERSION" val="1.0"/>
  <p:tag name="KSO_WM_UNIT_TYPE" val="r_v"/>
  <p:tag name="KSO_WM_UNIT_INDEX" val="1_2"/>
  <p:tag name="KSO_WM_UNIT_ID" val="256*r_v*1_2"/>
  <p:tag name="KSO_WM_UNIT_CLEAR" val="1"/>
  <p:tag name="KSO_WM_UNIT_LAYERLEVEL" val="1_1"/>
  <p:tag name="KSO_WM_UNIT_DIAGRAM_CONTRAST_TITLE_CNT" val="2"/>
  <p:tag name="KSO_WM_UNIT_DIAGRAM_DIMENSION_TITLE_CNT" val="1"/>
  <p:tag name="KSO_WM_UNIT_VALUE" val="40"/>
  <p:tag name="KSO_WM_UNIT_HIGHLIGHT" val="0"/>
  <p:tag name="KSO_WM_UNIT_COMPATIBLE" val="0"/>
  <p:tag name="KSO_WM_UNIT_PRESET_TEXT_INDEX" val="2"/>
  <p:tag name="KSO_WM_UNIT_PRESET_TEXT_LEN" val="30"/>
  <p:tag name="KSO_WM_DIAGRAM_GROUP_CODE" val="r1-1"/>
  <p:tag name="KSO_WM_UNIT_TEXT_FILL_FORE_SCHEMECOLOR_INDEX" val="13"/>
  <p:tag name="KSO_WM_UNIT_TEXT_FILL_TYPE" val="1"/>
  <p:tag name="KSO_WM_DIAGRAM_VIRTUALLY_FRAME" val="{&quot;height&quot;:256.40763779527555,&quot;left&quot;:69.34992125984252,&quot;top&quot;:70.86637795275591,&quot;width&quot;:830.9250393700788}"/>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TEMPLATE_CATEGORY" val="diagram"/>
  <p:tag name="KSO_WM_TEMPLATE_INDEX" val="160809"/>
  <p:tag name="KSO_WM_BEAUTIFY_FLAG" val="#wm#"/>
  <p:tag name="KSO_WM_TAG_VERSION" val="1.0"/>
  <p:tag name="KSO_WM_UNIT_TYPE" val="r_v"/>
  <p:tag name="KSO_WM_UNIT_INDEX" val="1_2"/>
  <p:tag name="KSO_WM_UNIT_ID" val="256*r_v*1_2"/>
  <p:tag name="KSO_WM_UNIT_CLEAR" val="1"/>
  <p:tag name="KSO_WM_UNIT_LAYERLEVEL" val="1_1"/>
  <p:tag name="KSO_WM_UNIT_DIAGRAM_CONTRAST_TITLE_CNT" val="2"/>
  <p:tag name="KSO_WM_UNIT_DIAGRAM_DIMENSION_TITLE_CNT" val="1"/>
  <p:tag name="KSO_WM_UNIT_VALUE" val="40"/>
  <p:tag name="KSO_WM_UNIT_HIGHLIGHT" val="0"/>
  <p:tag name="KSO_WM_UNIT_COMPATIBLE" val="0"/>
  <p:tag name="KSO_WM_UNIT_PRESET_TEXT_INDEX" val="2"/>
  <p:tag name="KSO_WM_UNIT_PRESET_TEXT_LEN" val="30"/>
  <p:tag name="KSO_WM_DIAGRAM_GROUP_CODE" val="r1-1"/>
  <p:tag name="KSO_WM_UNIT_TEXT_FILL_FORE_SCHEMECOLOR_INDEX" val="13"/>
  <p:tag name="KSO_WM_UNIT_TEXT_FILL_TYPE" val="1"/>
  <p:tag name="KSO_WM_DIAGRAM_VIRTUALLY_FRAME" val="{&quot;height&quot;:256.40763779527555,&quot;left&quot;:69.34992125984252,&quot;top&quot;:70.86637795275591,&quot;width&quot;:830.9250393700788}"/>
</p:tagLst>
</file>

<file path=ppt/tags/tag213.xml><?xml version="1.0" encoding="utf-8"?>
<p:tagLst xmlns:p="http://schemas.openxmlformats.org/presentationml/2006/main">
  <p:tag name="COMMONDATA" val="eyJoZGlkIjoiY2Y1NDNjMDc1OTFhMGExZjUxYjkwOTRhMGFkOWMwNTQifQ=="/>
</p:tagLst>
</file>

<file path=ppt/theme/theme1.xml><?xml version="1.0" encoding="utf-8"?>
<a:theme xmlns:a="http://schemas.openxmlformats.org/drawingml/2006/main" name="1_Office 主题​​">
  <a:themeElements>
    <a:clrScheme name="自定义 25">
      <a:dk1>
        <a:srgbClr val="000000"/>
      </a:dk1>
      <a:lt1>
        <a:srgbClr val="FFFFFF"/>
      </a:lt1>
      <a:dk2>
        <a:srgbClr val="F3F8FC"/>
      </a:dk2>
      <a:lt2>
        <a:srgbClr val="FBFCFC"/>
      </a:lt2>
      <a:accent1>
        <a:srgbClr val="13568D"/>
      </a:accent1>
      <a:accent2>
        <a:srgbClr val="5A9AE0"/>
      </a:accent2>
      <a:accent3>
        <a:srgbClr val="33CBD5"/>
      </a:accent3>
      <a:accent4>
        <a:srgbClr val="4694CB"/>
      </a:accent4>
      <a:accent5>
        <a:srgbClr val="6775C8"/>
      </a:accent5>
      <a:accent6>
        <a:srgbClr val="D77F64"/>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2194</Words>
  <Application>WPS 演示</Application>
  <PresentationFormat>宽屏</PresentationFormat>
  <Paragraphs>260</Paragraphs>
  <Slides>19</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宋体</vt:lpstr>
      <vt:lpstr>Wingdings</vt:lpstr>
      <vt:lpstr>微软雅黑</vt:lpstr>
      <vt:lpstr>汉仪旗黑-85S</vt:lpstr>
      <vt:lpstr>黑体</vt:lpstr>
      <vt:lpstr>等线</vt:lpstr>
      <vt:lpstr>方正大标宋_GBK</vt:lpstr>
      <vt:lpstr>仿宋</vt:lpstr>
      <vt:lpstr>Cambria Math</vt:lpstr>
      <vt:lpstr>Times New Roman</vt:lpstr>
      <vt:lpstr>Arial Unicode MS</vt:lpstr>
      <vt:lpstr>Calibri</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HITSZ</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Oliver Wu</dc:creator>
  <cp:lastModifiedBy>Rin.</cp:lastModifiedBy>
  <cp:revision>258</cp:revision>
  <dcterms:created xsi:type="dcterms:W3CDTF">2022-07-10T16:35:00Z</dcterms:created>
  <dcterms:modified xsi:type="dcterms:W3CDTF">2026-03-17T21:40:34Z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0F708B7409974C97B2E12420E231A073_13</vt:lpwstr>
  </property>
  <property fmtid="{D5CDD505-2E9C-101B-9397-08002B2CF9AE}" pid="3" name="KSOProductBuildVer">
    <vt:lpwstr>2052-12.1.0.25225</vt:lpwstr>
  </property>
</Properties>
</file>