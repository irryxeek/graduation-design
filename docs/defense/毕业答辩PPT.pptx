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Relationships xmlns="http://schemas.openxmlformats.org/package/2006/relationships">
  <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5" Type="http://schemas.openxmlformats.org/officeDocument/2006/relationships/custom-properties" Target="docProps/custom.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2"/>
  </p:sldMasterIdLst>
  <p:notesMasterIdLst>
    <p:notesMasterId r:id="rId30"/>
  </p:notesMasterIdLst>
  <p:sldIdLst>
    <p:sldId id="256" r:id="rId3"/>
    <p:sldId id="257" r:id="rId4"/>
    <p:sldId id="258" r:id="rId5"/>
    <p:sldId id="259" r:id="rId6"/>
    <p:sldId id="260" r:id="rId7"/>
    <p:sldId id="261" r:id="rId8"/>
    <p:sldId id="262" r:id="rId9"/>
    <p:sldId id="263" r:id="rId10"/>
    <p:sldId id="266" r:id="rId13"/>
    <p:sldId id="267" r:id="rId14"/>
    <p:sldId id="271" r:id="rId22"/>
    <p:sldId id="272" r:id="rId23"/>
    <p:sldId id="282" r:id="rId27"/>
    <p:sldId id="281" r:id="rId29"/>
  </p:sldIdLst>
  <p:sldSz cx="9144000" cy="5715000" type="screen16x1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0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9" autoAdjust="0"/>
    <p:restoredTop sz="94660"/>
  </p:normalViewPr>
  <p:slideViewPr>
    <p:cSldViewPr>
      <p:cViewPr varScale="1">
        <p:scale>
          <a:sx n="108" d="100"/>
          <a:sy n="108" d="100"/>
        </p:scale>
        <p:origin x="438" y="54"/>
      </p:cViewPr>
      <p:guideLst>
        <p:guide orient="horz" pos="1800"/>
        <p:guide pos="2880"/>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Relationships xmlns="http://schemas.openxmlformats.org/package/2006/relationships">
  <Relationship Id="rId8" Type="http://schemas.openxmlformats.org/officeDocument/2006/relationships/slide" Target="slides/slide6.xml"/>
  <Relationship Id="rId13" Type="http://schemas.openxmlformats.org/officeDocument/2006/relationships/slide" Target="slides/slide11.xml"/>
  
  
  <Relationship Id="rId3" Type="http://schemas.openxmlformats.org/officeDocument/2006/relationships/slide" Target="slides/slide1.xml"/>
  
  <Relationship Id="rId34" Type="http://schemas.openxmlformats.org/officeDocument/2006/relationships/tableStyles" Target="tableStyles.xml"/>
  <Relationship Id="rId7" Type="http://schemas.openxmlformats.org/officeDocument/2006/relationships/slide" Target="slides/slide5.xml"/>
  
  
  
  <Relationship Id="rId33" Type="http://schemas.openxmlformats.org/officeDocument/2006/relationships/theme" Target="theme/theme1.xml"/>
  <Relationship Id="rId2" Type="http://schemas.openxmlformats.org/officeDocument/2006/relationships/slideMaster" Target="slideMasters/slideMaster2.xml"/>
  
  
  <Relationship Id="rId29" Type="http://schemas.openxmlformats.org/officeDocument/2006/relationships/slide" Target="slides/slide27.xml"/>
  <Relationship Id="rId1" Type="http://schemas.openxmlformats.org/officeDocument/2006/relationships/slideMaster" Target="slideMasters/slideMaster1.xml"/>
  <Relationship Id="rId6" Type="http://schemas.openxmlformats.org/officeDocument/2006/relationships/slide" Target="slides/slide4.xml"/>
  
  
  <Relationship Id="rId32" Type="http://schemas.openxmlformats.org/officeDocument/2006/relationships/viewProps" Target="viewProps.xml"/>
  <Relationship Id="rId5" Type="http://schemas.openxmlformats.org/officeDocument/2006/relationships/slide" Target="slides/slide3.xml"/>
  
  <Relationship Id="rId23" Type="http://schemas.openxmlformats.org/officeDocument/2006/relationships/slide" Target="slides/slide21.xml"/>
  
  <Relationship Id="rId10" Type="http://schemas.openxmlformats.org/officeDocument/2006/relationships/slide" Target="slides/slide8.xml"/>
  
  <Relationship Id="rId31" Type="http://schemas.openxmlformats.org/officeDocument/2006/relationships/presProps" Target="presProps.xml"/>
  <Relationship Id="rId4" Type="http://schemas.openxmlformats.org/officeDocument/2006/relationships/slide" Target="slides/slide2.xml"/>
  <Relationship Id="rId9" Type="http://schemas.openxmlformats.org/officeDocument/2006/relationships/slide" Target="slides/slide7.xml"/>
  <Relationship Id="rId14" Type="http://schemas.openxmlformats.org/officeDocument/2006/relationships/slide" Target="slides/slide12.xml"/>
  <Relationship Id="rId22" Type="http://schemas.openxmlformats.org/officeDocument/2006/relationships/slide" Target="slides/slide20.xml"/>
  <Relationship Id="rId27" Type="http://schemas.openxmlformats.org/officeDocument/2006/relationships/slide" Target="slides/slide25.xml"/>
  <Relationship Id="rId30" Type="http://schemas.openxmlformats.org/officeDocument/2006/relationships/notesMaster" Target="notesMasters/notesMaster1.xml"/>
</Relationships>
</file>

<file path=ppt/notesMasters/_rels/notesMaster1.xml.rels><?xml version="1.0" encoding="utf-8"?>
<Relationships xmlns="http://schemas.openxmlformats.org/package/2006/relationships">
  <Relationship Id="rId1" Type="http://schemas.openxmlformats.org/officeDocument/2006/relationships/theme" Target="../theme/theme3.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89E139DD-5AAC-4F7F-9C50-1FB92AB9F9B8}" type="datetimeFigureOut">
              <a:rPr lang="zh-CN" altLang="en-US" smtClean="0"/>
              <a:pPr/>
              <a:t>2020/3/29</a:t>
            </a:fld>
            <a:endParaRPr lang="zh-CN" altLang="en-US"/>
          </a:p>
        </p:txBody>
      </p:sp>
      <p:sp>
        <p:nvSpPr>
          <p:cNvPr id="4" name="幻灯片图像占位符 3"/>
          <p:cNvSpPr>
            <a:spLocks noGrp="1" noRot="1" noChangeAspect="1"/>
          </p:cNvSpPr>
          <p:nvPr>
            <p:ph type="sldImg" idx="2"/>
          </p:nvPr>
        </p:nvSpPr>
        <p:spPr>
          <a:xfrm>
            <a:off x="685800" y="685800"/>
            <a:ext cx="54864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CBB1522-D8B8-4EE2-937D-B0D68622BD2F}" type="slidenum">
              <a:rPr lang="zh-CN" altLang="en-US" smtClean="0"/>
              <a:pPr/>
              <a:t>‹#›</a:t>
            </a:fld>
            <a:endParaRPr lang="zh-CN" altLang="en-US"/>
          </a:p>
        </p:txBody>
      </p:sp>
    </p:spTree>
    <p:extLst>
      <p:ext uri="{BB962C8B-B14F-4D97-AF65-F5344CB8AC3E}">
        <p14:creationId xmlns:p14="http://schemas.microsoft.com/office/powerpoint/2010/main" val="11139123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Relationships xmlns="http://schemas.openxmlformats.org/package/2006/relationships">
  <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_rels/notesSlide2.xml.rels><?xml version="1.0" encoding="utf-8"?>
<Relationships xmlns="http://schemas.openxmlformats.org/package/2006/relationships">
  <Relationship Id="rId2" Type="http://schemas.openxmlformats.org/officeDocument/2006/relationships/slide" Target="../slides/slide2.xml"/>
  <Relationship Id="rId1" Type="http://schemas.openxmlformats.org/officeDocument/2006/relationships/notesMaster" Target="../notesMasters/notesMaster1.xml"/>
</Relationships>

</file>

<file path=ppt/notesSlides/_rels/notesSlide3.xml.rels><?xml version="1.0" encoding="utf-8"?>
<Relationships xmlns="http://schemas.openxmlformats.org/package/2006/relationships">
  <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4.xml.rels><?xml version="1.0" encoding="utf-8"?>
<Relationships xmlns="http://schemas.openxmlformats.org/package/2006/relationships">
  <Relationship Id="rId2" Type="http://schemas.openxmlformats.org/officeDocument/2006/relationships/slide" Target="../slides/slide4.xml"/>
  <Relationship Id="rId1" Type="http://schemas.openxmlformats.org/officeDocument/2006/relationships/notesMaster" Target="../notesMasters/notesMaster1.xml"/>
</Relationships>

</file>

<file path=ppt/notesSlides/_rels/notesSlide5.xml.rels><?xml version="1.0" encoding="utf-8"?>
<Relationships xmlns="http://schemas.openxmlformats.org/package/2006/relationships">
  <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6.xml.rels><?xml version="1.0" encoding="utf-8"?>
<Relationships xmlns="http://schemas.openxmlformats.org/package/2006/relationships">
  <Relationship Id="rId2" Type="http://schemas.openxmlformats.org/officeDocument/2006/relationships/slide" Target="../slides/slide6.xml"/>
  <Relationship Id="rId1" Type="http://schemas.openxmlformats.org/officeDocument/2006/relationships/notesMaster" Target="../notesMasters/notesMaster1.xml"/>
</Relationships>

</file>

<file path=ppt/notesSlides/_rels/notesSlide7.xml.rels><?xml version="1.0" encoding="utf-8"?>
<Relationships xmlns="http://schemas.openxmlformats.org/package/2006/relationships">
  <Relationship Id="rId2" Type="http://schemas.openxmlformats.org/officeDocument/2006/relationships/slide" Target="../slides/slide7.xml"/>
  <Relationship Id="rId1" Type="http://schemas.openxmlformats.org/officeDocument/2006/relationships/notesMaster" Target="../notesMasters/notesMaster1.xml"/>
</Relationships>

</file>

<file path=ppt/notesSlides/_rels/notesSlide8.xml.rels><?xml version="1.0" encoding="utf-8"?>
<Relationships xmlns="http://schemas.openxmlformats.org/package/2006/relationships">
  <Relationship Id="rId2" Type="http://schemas.openxmlformats.org/officeDocument/2006/relationships/slide" Target="../slides/slide8.xml"/>
  <Relationship Id="rId1" Type="http://schemas.openxmlformats.org/officeDocument/2006/relationships/notesMaster" Target="../notesMasters/notesMaster1.xml"/>
</Relationships>

</file>

<file path=ppt/notesSlides/_rels/notesSlide11.xml.rels><?xml version="1.0" encoding="utf-8"?>
<Relationships xmlns="http://schemas.openxmlformats.org/package/2006/relationships">
  <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12.xml.rels><?xml version="1.0" encoding="utf-8"?>
<Relationships xmlns="http://schemas.openxmlformats.org/package/2006/relationships">
  <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_rels/notesSlide20.xml.rels><?xml version="1.0" encoding="utf-8"?>
<Relationships xmlns="http://schemas.openxmlformats.org/package/2006/relationships">
  <Relationship Id="rId2" Type="http://schemas.openxmlformats.org/officeDocument/2006/relationships/slide" Target="../slides/slide20.xml"/>
  <Relationship Id="rId1" Type="http://schemas.openxmlformats.org/officeDocument/2006/relationships/notesMaster" Target="../notesMasters/notesMaster1.xml"/>
</Relationships>

</file>

<file path=ppt/notesSlides/_rels/notesSlide21.xml.rels><?xml version="1.0" encoding="utf-8"?>
<Relationships xmlns="http://schemas.openxmlformats.org/package/2006/relationships">
  <Relationship Id="rId2" Type="http://schemas.openxmlformats.org/officeDocument/2006/relationships/slide" Target="../slides/slide21.xml"/>
  <Relationship Id="rId1" Type="http://schemas.openxmlformats.org/officeDocument/2006/relationships/notesMaster" Target="../notesMasters/notesMaster1.xml"/>
</Relationships>

</file>

<file path=ppt/notesSlides/_rels/notesSlide25.xml.rels><?xml version="1.0" encoding="utf-8"?>
<Relationships xmlns="http://schemas.openxmlformats.org/package/2006/relationships">
  <Relationship Id="rId2" Type="http://schemas.openxmlformats.org/officeDocument/2006/relationships/slide" Target="../slides/slide25.xml"/>
  <Relationship Id="rId1" Type="http://schemas.openxmlformats.org/officeDocument/2006/relationships/notesMaster" Target="../notesMasters/notesMaster1.xml"/>
</Relationships>

</file>

<file path=ppt/notesSlides/_rels/notesSlide27.xml.rels><?xml version="1.0" encoding="utf-8"?>
<Relationships xmlns="http://schemas.openxmlformats.org/package/2006/relationships">
  <Relationship Id="rId2" Type="http://schemas.openxmlformats.org/officeDocument/2006/relationships/slide" Target="../slides/slide27.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亮亮图文旗舰店</a:t>
            </a:r>
          </a:p>
          <a:p>
            <a:r>
              <a:rPr lang="en-US" altLang="zh-CN" dirty="0"/>
              <a:t>https://liangliangtuwen.tmall.com</a:t>
            </a:r>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a:t>
            </a:fld>
            <a:endParaRPr lang="zh-CN" altLang="en-US"/>
          </a:p>
        </p:txBody>
      </p:sp>
    </p:spTree>
    <p:extLst>
      <p:ext uri="{BB962C8B-B14F-4D97-AF65-F5344CB8AC3E}">
        <p14:creationId xmlns:p14="http://schemas.microsoft.com/office/powerpoint/2010/main" val="677167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a:t>
            </a:fld>
            <a:endParaRPr lang="zh-CN" altLang="en-US"/>
          </a:p>
        </p:txBody>
      </p:sp>
    </p:spTree>
    <p:extLst>
      <p:ext uri="{BB962C8B-B14F-4D97-AF65-F5344CB8AC3E}">
        <p14:creationId xmlns:p14="http://schemas.microsoft.com/office/powerpoint/2010/main" val="36904067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3</a:t>
            </a:fld>
            <a:endParaRPr lang="zh-CN" altLang="en-US"/>
          </a:p>
        </p:txBody>
      </p:sp>
    </p:spTree>
    <p:extLst>
      <p:ext uri="{BB962C8B-B14F-4D97-AF65-F5344CB8AC3E}">
        <p14:creationId xmlns:p14="http://schemas.microsoft.com/office/powerpoint/2010/main" val="2576557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4</a:t>
            </a:fld>
            <a:endParaRPr lang="zh-CN" altLang="en-US"/>
          </a:p>
        </p:txBody>
      </p:sp>
    </p:spTree>
    <p:extLst>
      <p:ext uri="{BB962C8B-B14F-4D97-AF65-F5344CB8AC3E}">
        <p14:creationId xmlns:p14="http://schemas.microsoft.com/office/powerpoint/2010/main" val="5895096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5</a:t>
            </a:fld>
            <a:endParaRPr lang="zh-CN" altLang="en-US"/>
          </a:p>
        </p:txBody>
      </p:sp>
    </p:spTree>
    <p:extLst>
      <p:ext uri="{BB962C8B-B14F-4D97-AF65-F5344CB8AC3E}">
        <p14:creationId xmlns:p14="http://schemas.microsoft.com/office/powerpoint/2010/main" val="39142947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6</a:t>
            </a:fld>
            <a:endParaRPr lang="zh-CN" altLang="en-US"/>
          </a:p>
        </p:txBody>
      </p:sp>
    </p:spTree>
    <p:extLst>
      <p:ext uri="{BB962C8B-B14F-4D97-AF65-F5344CB8AC3E}">
        <p14:creationId xmlns:p14="http://schemas.microsoft.com/office/powerpoint/2010/main" val="13044250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7</a:t>
            </a:fld>
            <a:endParaRPr lang="zh-CN" altLang="en-US"/>
          </a:p>
        </p:txBody>
      </p:sp>
    </p:spTree>
    <p:extLst>
      <p:ext uri="{BB962C8B-B14F-4D97-AF65-F5344CB8AC3E}">
        <p14:creationId xmlns:p14="http://schemas.microsoft.com/office/powerpoint/2010/main" val="29482672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8</a:t>
            </a:fld>
            <a:endParaRPr lang="zh-CN" altLang="en-US"/>
          </a:p>
        </p:txBody>
      </p:sp>
    </p:spTree>
    <p:extLst>
      <p:ext uri="{BB962C8B-B14F-4D97-AF65-F5344CB8AC3E}">
        <p14:creationId xmlns:p14="http://schemas.microsoft.com/office/powerpoint/2010/main" val="12564541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11</a:t>
            </a:fld>
            <a:endParaRPr lang="zh-CN" altLang="en-US"/>
          </a:p>
        </p:txBody>
      </p:sp>
    </p:spTree>
    <p:extLst>
      <p:ext uri="{BB962C8B-B14F-4D97-AF65-F5344CB8AC3E}">
        <p14:creationId xmlns:p14="http://schemas.microsoft.com/office/powerpoint/2010/main" val="10996003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12</a:t>
            </a:fld>
            <a:endParaRPr lang="zh-CN" altLang="en-US"/>
          </a:p>
        </p:txBody>
      </p:sp>
    </p:spTree>
    <p:extLst>
      <p:ext uri="{BB962C8B-B14F-4D97-AF65-F5344CB8AC3E}">
        <p14:creationId xmlns:p14="http://schemas.microsoft.com/office/powerpoint/2010/main" val="279415082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20</a:t>
            </a:fld>
            <a:endParaRPr lang="zh-CN" altLang="en-US"/>
          </a:p>
        </p:txBody>
      </p:sp>
    </p:spTree>
    <p:extLst>
      <p:ext uri="{BB962C8B-B14F-4D97-AF65-F5344CB8AC3E}">
        <p14:creationId xmlns:p14="http://schemas.microsoft.com/office/powerpoint/2010/main" val="15088891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21</a:t>
            </a:fld>
            <a:endParaRPr lang="zh-CN" altLang="en-US"/>
          </a:p>
        </p:txBody>
      </p:sp>
    </p:spTree>
    <p:extLst>
      <p:ext uri="{BB962C8B-B14F-4D97-AF65-F5344CB8AC3E}">
        <p14:creationId xmlns:p14="http://schemas.microsoft.com/office/powerpoint/2010/main" val="223322164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25</a:t>
            </a:fld>
            <a:endParaRPr lang="zh-CN" altLang="en-US"/>
          </a:p>
        </p:txBody>
      </p:sp>
    </p:spTree>
    <p:extLst>
      <p:ext uri="{BB962C8B-B14F-4D97-AF65-F5344CB8AC3E}">
        <p14:creationId xmlns:p14="http://schemas.microsoft.com/office/powerpoint/2010/main" val="32820799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9CBB1522-D8B8-4EE2-937D-B0D68622BD2F}" type="slidenum">
              <a:rPr lang="zh-CN" altLang="en-US" smtClean="0"/>
              <a:pPr/>
              <a:t>27</a:t>
            </a:fld>
            <a:endParaRPr lang="zh-CN" altLang="en-US"/>
          </a:p>
        </p:txBody>
      </p:sp>
    </p:spTree>
    <p:extLst>
      <p:ext uri="{BB962C8B-B14F-4D97-AF65-F5344CB8AC3E}">
        <p14:creationId xmlns:p14="http://schemas.microsoft.com/office/powerpoint/2010/main" val="2135022979"/>
      </p:ext>
    </p:extLst>
  </p:cSld>
  <p:clrMapOvr>
    <a:masterClrMapping/>
  </p:clrMapOvr>
</p:notes>
</file>

<file path=ppt/slideLayouts/_rels/slideLayout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
  <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3.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
  <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
  <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775355"/>
            <a:ext cx="7772400" cy="1225021"/>
          </a:xfrm>
          <a:prstGeom prst="rect">
            <a:avLst/>
          </a:prstGeom>
        </p:spPr>
        <p:txBody>
          <a:bodyPr/>
          <a:lstStyle/>
          <a:p>
            <a:r>
              <a:rPr lang="zh-CN" altLang="en-US"/>
              <a:t>单击此处编辑母版标题样式</a:t>
            </a:r>
          </a:p>
        </p:txBody>
      </p:sp>
      <p:sp>
        <p:nvSpPr>
          <p:cNvPr id="3" name="副标题 2"/>
          <p:cNvSpPr>
            <a:spLocks noGrp="1"/>
          </p:cNvSpPr>
          <p:nvPr>
            <p:ph type="subTitle" idx="1"/>
          </p:nvPr>
        </p:nvSpPr>
        <p:spPr>
          <a:xfrm>
            <a:off x="1371600" y="3238500"/>
            <a:ext cx="6400800" cy="1460500"/>
          </a:xfrm>
          <a:prstGeom prst="rect">
            <a:avLst/>
          </a:prstGeo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457200" y="1333500"/>
            <a:ext cx="8229600" cy="3771636"/>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3672417"/>
            <a:ext cx="7772400" cy="1135063"/>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422261"/>
            <a:ext cx="7772400" cy="1250156"/>
          </a:xfrm>
          <a:prstGeom prst="rect">
            <a:avLst/>
          </a:prstGeo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457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111250"/>
            <a:ext cx="4038600" cy="3143250"/>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279261"/>
            <a:ext cx="4040188"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1812396"/>
            <a:ext cx="4040188"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6" y="1279261"/>
            <a:ext cx="4041775" cy="533135"/>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6" y="1812396"/>
            <a:ext cx="4041775" cy="3292740"/>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8" name="页脚占位符 7"/>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9" name="灯片编号占位符 8"/>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日期占位符 2"/>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4" name="页脚占位符 3"/>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5" name="灯片编号占位符 4"/>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3" name="页脚占位符 2"/>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4" name="灯片编号占位符 3"/>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1" y="227542"/>
            <a:ext cx="3008313" cy="968375"/>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27542"/>
            <a:ext cx="5111750" cy="4877594"/>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1" y="1195917"/>
            <a:ext cx="3008313" cy="3909219"/>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000500"/>
            <a:ext cx="5486400" cy="472282"/>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510646"/>
            <a:ext cx="5486400" cy="34290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4472782"/>
            <a:ext cx="5486400" cy="670718"/>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6" name="页脚占位符 5"/>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7" name="灯片编号占位符 6"/>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457200" y="228865"/>
            <a:ext cx="8229600" cy="9525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457200" y="1333500"/>
            <a:ext cx="8229600" cy="3771636"/>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190500"/>
            <a:ext cx="2057400" cy="4064000"/>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190500"/>
            <a:ext cx="6019800" cy="4064000"/>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a:xfrm>
            <a:off x="457200" y="5296959"/>
            <a:ext cx="2133600" cy="304271"/>
          </a:xfrm>
          <a:prstGeom prst="rect">
            <a:avLst/>
          </a:prstGeom>
        </p:spPr>
        <p:txBody>
          <a:bodyPr/>
          <a:lstStyle/>
          <a:p>
            <a:fld id="{24BAB4B0-0DFB-4408-B496-45B60D2270CF}" type="datetimeFigureOut">
              <a:rPr lang="zh-CN" altLang="en-US" smtClean="0"/>
              <a:pPr/>
              <a:t>2020/3/29</a:t>
            </a:fld>
            <a:endParaRPr lang="zh-CN" altLang="en-US"/>
          </a:p>
        </p:txBody>
      </p:sp>
      <p:sp>
        <p:nvSpPr>
          <p:cNvPr id="5" name="页脚占位符 4"/>
          <p:cNvSpPr>
            <a:spLocks noGrp="1"/>
          </p:cNvSpPr>
          <p:nvPr>
            <p:ph type="ftr" sz="quarter" idx="11"/>
          </p:nvPr>
        </p:nvSpPr>
        <p:spPr>
          <a:xfrm>
            <a:off x="3124200" y="5296959"/>
            <a:ext cx="2895600" cy="304271"/>
          </a:xfrm>
          <a:prstGeom prst="rect">
            <a:avLst/>
          </a:prstGeom>
        </p:spPr>
        <p:txBody>
          <a:bodyPr/>
          <a:lstStyle/>
          <a:p>
            <a:endParaRPr lang="zh-CN" altLang="en-US"/>
          </a:p>
        </p:txBody>
      </p:sp>
      <p:sp>
        <p:nvSpPr>
          <p:cNvPr id="6" name="灯片编号占位符 5"/>
          <p:cNvSpPr>
            <a:spLocks noGrp="1"/>
          </p:cNvSpPr>
          <p:nvPr>
            <p:ph type="sldNum" sz="quarter" idx="12"/>
          </p:nvPr>
        </p:nvSpPr>
        <p:spPr>
          <a:xfrm>
            <a:off x="6553200" y="5296959"/>
            <a:ext cx="2133600" cy="304271"/>
          </a:xfrm>
          <a:prstGeom prst="rect">
            <a:avLst/>
          </a:prstGeom>
        </p:spPr>
        <p:txBody>
          <a:bodyPr/>
          <a:lstStyle/>
          <a:p>
            <a:fld id="{4BB7B66E-7FFA-4300-8439-347A5E0E252A}" type="slidenum">
              <a:rPr lang="zh-CN" altLang="en-US" smtClean="0"/>
              <a:pPr/>
              <a:t>‹#›</a:t>
            </a:fld>
            <a:endParaRPr lang="zh-CN" altLang="en-US"/>
          </a:p>
        </p:txBody>
      </p:sp>
    </p:spTree>
  </p:cSld>
  <p:clrMapOvr>
    <a:masterClrMapping/>
  </p:clrMapOvr>
</p:sldLayout>
</file>

<file path=ppt/slideMasters/_rels/slideMaster1.xml.rels><?xml version="1.0" encoding="utf-8"?>
<Relationships xmlns="http://schemas.openxmlformats.org/package/2006/relationships">
  <Relationship Id="rId8" Type="http://schemas.openxmlformats.org/officeDocument/2006/relationships/slideLayout" Target="../slideLayouts/slideLayout8.xml"/>
  <Relationship Id="rId13" Type="http://schemas.openxmlformats.org/officeDocument/2006/relationships/image" Target="../media/image1.jpe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 Id="rId14" Type="http://schemas.openxmlformats.org/officeDocument/2006/relationships/image" Target="../media/image2.png"/>
</Relationships>

</file>

<file path=ppt/slideMasters/_rels/slideMaster2.xml.rels><?xml version="1.0" encoding="utf-8"?>
<Relationships xmlns="http://schemas.openxmlformats.org/package/2006/relationships">
  <Relationship Id="rId8" Type="http://schemas.openxmlformats.org/officeDocument/2006/relationships/slideLayout" Target="../slideLayouts/slideLayout19.xml"/>
  <Relationship Id="rId13" Type="http://schemas.openxmlformats.org/officeDocument/2006/relationships/image" Target="../media/image1.jpeg"/>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
        <p:nvSpPr>
          <p:cNvPr id="7" name="矩形 6"/>
          <p:cNvSpPr/>
          <p:nvPr userDrawn="1"/>
        </p:nvSpPr>
        <p:spPr>
          <a:xfrm>
            <a:off x="1907704" y="510989"/>
            <a:ext cx="7236296"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0" name="矩形 9"/>
          <p:cNvSpPr/>
          <p:nvPr userDrawn="1"/>
        </p:nvSpPr>
        <p:spPr>
          <a:xfrm>
            <a:off x="0" y="5377780"/>
            <a:ext cx="9144000" cy="33722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sp>
        <p:nvSpPr>
          <p:cNvPr id="11" name="TextBox 10"/>
          <p:cNvSpPr txBox="1"/>
          <p:nvPr userDrawn="1"/>
        </p:nvSpPr>
        <p:spPr>
          <a:xfrm>
            <a:off x="231627" y="5409529"/>
            <a:ext cx="2217274" cy="276999"/>
          </a:xfrm>
          <a:prstGeom prst="rect">
            <a:avLst/>
          </a:prstGeom>
          <a:noFill/>
        </p:spPr>
        <p:txBody>
          <a:bodyPr wrap="none" rtlCol="0">
            <a:spAutoFit/>
          </a:bodyPr>
          <a:lstStyle/>
          <a:p>
            <a:pPr algn="ctr"/>
            <a:r>
              <a:rPr lang="en-US" altLang="zh-CN" sz="1200" b="0" dirty="0">
                <a:solidFill>
                  <a:schemeClr val="bg1"/>
                </a:solidFill>
                <a:latin typeface="微软雅黑" panose="020B0503020204020204" pitchFamily="34" charset="-122"/>
                <a:ea typeface="微软雅黑" panose="020B0503020204020204" pitchFamily="34" charset="-122"/>
              </a:rPr>
              <a:t>—— </a:t>
            </a:r>
            <a:r>
              <a:rPr lang="zh-CN" altLang="en-US" sz="1200" b="0" dirty="0">
                <a:solidFill>
                  <a:schemeClr val="bg1"/>
                </a:solidFill>
                <a:latin typeface="微软雅黑" panose="020B0503020204020204" pitchFamily="34" charset="-122"/>
                <a:ea typeface="微软雅黑" panose="020B0503020204020204" pitchFamily="34" charset="-122"/>
              </a:rPr>
              <a:t>在此输入论文题目 </a:t>
            </a:r>
            <a:r>
              <a:rPr lang="en-US" altLang="zh-CN" sz="1200" b="0" dirty="0">
                <a:solidFill>
                  <a:schemeClr val="bg1"/>
                </a:solidFill>
                <a:latin typeface="微软雅黑" panose="020B0503020204020204" pitchFamily="34" charset="-122"/>
                <a:ea typeface="微软雅黑" panose="020B0503020204020204" pitchFamily="34" charset="-122"/>
              </a:rPr>
              <a:t>—— </a:t>
            </a:r>
            <a:endParaRPr lang="zh-CN" altLang="en-US" sz="1200" b="0" dirty="0">
              <a:solidFill>
                <a:schemeClr val="bg1"/>
              </a:solidFill>
              <a:latin typeface="微软雅黑" panose="020B0503020204020204" pitchFamily="34" charset="-122"/>
              <a:ea typeface="微软雅黑" panose="020B0503020204020204" pitchFamily="34" charset="-122"/>
            </a:endParaRPr>
          </a:p>
        </p:txBody>
      </p:sp>
      <p:sp>
        <p:nvSpPr>
          <p:cNvPr id="12" name="矩形 11"/>
          <p:cNvSpPr/>
          <p:nvPr userDrawn="1"/>
        </p:nvSpPr>
        <p:spPr>
          <a:xfrm>
            <a:off x="0" y="510989"/>
            <a:ext cx="734669" cy="21328"/>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lvl="0" algn="ctr"/>
            <a:endParaRPr lang="zh-CN" altLang="en-US"/>
          </a:p>
        </p:txBody>
      </p:sp>
      <p:pic>
        <p:nvPicPr>
          <p:cNvPr id="2" name="图片 1"/>
          <p:cNvPicPr>
            <a:picLocks noChangeAspect="1"/>
          </p:cNvPicPr>
          <p:nvPr userDrawn="1"/>
        </p:nvPicPr>
        <p:blipFill>
          <a:blip r:embed="rId14" cstate="print">
            <a:extLst>
              <a:ext uri="{28A0092B-C50C-407E-A947-70E740481C1C}">
                <a14:useLocalDpi xmlns:a14="http://schemas.microsoft.com/office/drawing/2010/main" val="0"/>
              </a:ext>
            </a:extLst>
          </a:blip>
          <a:stretch>
            <a:fillRect/>
          </a:stretch>
        </p:blipFill>
        <p:spPr>
          <a:xfrm>
            <a:off x="827584" y="27304"/>
            <a:ext cx="943250" cy="864096"/>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2050" name="Picture 2" descr="C:\Users\PC\Desktop\3.jpg"/>
          <p:cNvPicPr>
            <a:picLocks noChangeAspect="1" noChangeArrowheads="1"/>
          </p:cNvPicPr>
          <p:nvPr userDrawn="1"/>
        </p:nvPicPr>
        <p:blipFill>
          <a:blip r:embed="rId13" cstate="print">
            <a:extLst>
              <a:ext uri="{28A0092B-C50C-407E-A947-70E740481C1C}">
                <a14:useLocalDpi xmlns:a14="http://schemas.microsoft.com/office/drawing/2010/main" val="0"/>
              </a:ext>
            </a:extLst>
          </a:blip>
          <a:srcRect/>
          <a:stretch>
            <a:fillRect/>
          </a:stretch>
        </p:blipFill>
        <p:spPr bwMode="auto">
          <a:xfrm>
            <a:off x="0" y="0"/>
            <a:ext cx="9144000" cy="5711825"/>
          </a:xfrm>
          <a:prstGeom prst="rect">
            <a:avLst/>
          </a:prstGeom>
          <a:noFill/>
          <a:extLst>
            <a:ext uri="{909E8E84-426E-40DD-AFC4-6F175D3DCCD1}">
              <a14:hiddenFill xmlns:a14="http://schemas.microsoft.com/office/drawing/2010/main">
                <a:solidFill>
                  <a:srgbClr val="FFFFFF"/>
                </a:solidFill>
              </a14:hiddenFill>
            </a:ext>
          </a:extLst>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Relationships xmlns="http://schemas.openxmlformats.org/package/2006/relationships">
  <Relationship Id="rId3" Type="http://schemas.openxmlformats.org/officeDocument/2006/relationships/image" Target="../media/image3.jpeg"/>
  <Relationship Id="rId2" Type="http://schemas.openxmlformats.org/officeDocument/2006/relationships/notesSlide" Target="../notesSlides/notesSlide1.xml"/>
  <Relationship Id="rId1" Type="http://schemas.openxmlformats.org/officeDocument/2006/relationships/slideLayout" Target="../slideLayouts/slideLayout12.xml"/>
  <Relationship Id="rId5" Type="http://schemas.openxmlformats.org/officeDocument/2006/relationships/image" Target="../media/image5.jpeg"/>
  <Relationship Id="rId4" Type="http://schemas.openxmlformats.org/officeDocument/2006/relationships/image" Target="../media/image4.jpeg"/>
</Relationships>

</file>

<file path=ppt/slides/_rels/slide2.xml.rels><?xml version="1.0" encoding="utf-8"?>
<Relationships xmlns="http://schemas.openxmlformats.org/package/2006/relationships">
  <Relationship Id="rId2" Type="http://schemas.openxmlformats.org/officeDocument/2006/relationships/notesSlide" Target="../notesSlides/notesSlide2.xml"/>
  <Relationship Id="rId1" Type="http://schemas.openxmlformats.org/officeDocument/2006/relationships/slideLayout" Target="../slideLayouts/slideLayout7.xml"/>
</Relationships>

</file>

<file path=ppt/slides/_rels/slide3.xml.rels><?xml version="1.0" encoding="utf-8"?>
<Relationships xmlns="http://schemas.openxmlformats.org/package/2006/relationships">
  <Relationship Id="rId2" Type="http://schemas.openxmlformats.org/officeDocument/2006/relationships/notesSlide" Target="../notesSlides/notesSlide3.xml"/>
  <Relationship Id="rId1" Type="http://schemas.openxmlformats.org/officeDocument/2006/relationships/slideLayout" Target="../slideLayouts/slideLayout7.xml"/>
</Relationships>

</file>

<file path=ppt/slides/_rels/slide4.xml.rels><?xml version="1.0" encoding="utf-8"?>
<Relationships xmlns="http://schemas.openxmlformats.org/package/2006/relationships">
  <Relationship Id="rId3" Type="http://schemas.openxmlformats.org/officeDocument/2006/relationships/image" Target="../media/image6.jpeg"/>
  <Relationship Id="rId2" Type="http://schemas.openxmlformats.org/officeDocument/2006/relationships/notesSlide" Target="../notesSlides/notesSlide4.xml"/>
  <Relationship Id="rId1" Type="http://schemas.openxmlformats.org/officeDocument/2006/relationships/slideLayout" Target="../slideLayouts/slideLayout7.xml"/>
  <Relationship Id="rId5" Type="http://schemas.openxmlformats.org/officeDocument/2006/relationships/image" Target="../media/image8.png"/>
  <Relationship Id="rId4" Type="http://schemas.openxmlformats.org/officeDocument/2006/relationships/image" Target="../media/image7.png"/>
</Relationships>

</file>

<file path=ppt/slides/_rels/slide5.xml.rels><?xml version="1.0" encoding="utf-8"?>
<Relationships xmlns="http://schemas.openxmlformats.org/package/2006/relationships">
  <Relationship Id="rId3" Type="http://schemas.openxmlformats.org/officeDocument/2006/relationships/image" Target="../media/image9.jpeg"/>
  <Relationship Id="rId2" Type="http://schemas.openxmlformats.org/officeDocument/2006/relationships/notesSlide" Target="../notesSlides/notesSlide5.xml"/>
  <Relationship Id="rId1" Type="http://schemas.openxmlformats.org/officeDocument/2006/relationships/slideLayout" Target="../slideLayouts/slideLayout7.xml"/>
  <Relationship Id="rId4" Type="http://schemas.openxmlformats.org/officeDocument/2006/relationships/image" Target="../media/image10.jpeg"/>
</Relationships>

</file>

<file path=ppt/slides/_rels/slide6.xml.rels><?xml version="1.0" encoding="utf-8"?>
<Relationships xmlns="http://schemas.openxmlformats.org/package/2006/relationships">
  <Relationship Id="rId2" Type="http://schemas.openxmlformats.org/officeDocument/2006/relationships/notesSlide" Target="../notesSlides/notesSlide6.xml"/>
  <Relationship Id="rId1" Type="http://schemas.openxmlformats.org/officeDocument/2006/relationships/slideLayout" Target="../slideLayouts/slideLayout7.xml"/>
</Relationships>

</file>

<file path=ppt/slides/_rels/slide7.xml.rels><?xml version="1.0" encoding="utf-8"?>
<Relationships xmlns="http://schemas.openxmlformats.org/package/2006/relationships">
  <Relationship Id="rId3" Type="http://schemas.openxmlformats.org/officeDocument/2006/relationships/image" Target="../media/image6.jpeg"/>
  <Relationship Id="rId2" Type="http://schemas.openxmlformats.org/officeDocument/2006/relationships/notesSlide" Target="../notesSlides/notesSlide7.xml"/>
  <Relationship Id="rId1" Type="http://schemas.openxmlformats.org/officeDocument/2006/relationships/slideLayout" Target="../slideLayouts/slideLayout7.xml"/>
  <Relationship Id="rId5" Type="http://schemas.openxmlformats.org/officeDocument/2006/relationships/image" Target="../media/image8.png"/>
  <Relationship Id="rId4" Type="http://schemas.openxmlformats.org/officeDocument/2006/relationships/image" Target="../media/image7.png"/>
</Relationships>

</file>

<file path=ppt/slides/_rels/slide8.xml.rels><?xml version="1.0" encoding="utf-8"?>
<Relationships xmlns="http://schemas.openxmlformats.org/package/2006/relationships">
  <Relationship Id="rId3" Type="http://schemas.openxmlformats.org/officeDocument/2006/relationships/image" Target="../media/image11.jpeg"/>
  <Relationship Id="rId2" Type="http://schemas.openxmlformats.org/officeDocument/2006/relationships/notesSlide" Target="../notesSlides/notesSlide8.xml"/>
  <Relationship Id="rId1" Type="http://schemas.openxmlformats.org/officeDocument/2006/relationships/slideLayout" Target="../slideLayouts/slideLayout7.xml"/>
</Relationships>

</file>

<file path=ppt/slides/_rels/slide11.xml.rels><?xml version="1.0" encoding="utf-8"?>
<Relationships xmlns="http://schemas.openxmlformats.org/package/2006/relationships">
  <Relationship Id="rId2" Type="http://schemas.openxmlformats.org/officeDocument/2006/relationships/notesSlide" Target="../notesSlides/notesSlide11.xml"/>
  <Relationship Id="rId1" Type="http://schemas.openxmlformats.org/officeDocument/2006/relationships/slideLayout" Target="../slideLayouts/slideLayout7.xml"/>
</Relationships>

</file>

<file path=ppt/slides/_rels/slide12.xml.rels><?xml version="1.0" encoding="utf-8"?>
<Relationships xmlns="http://schemas.openxmlformats.org/package/2006/relationships">
  <Relationship Id="rId3" Type="http://schemas.openxmlformats.org/officeDocument/2006/relationships/image" Target="../media/image18.jpeg"/>
  <Relationship Id="rId2" Type="http://schemas.openxmlformats.org/officeDocument/2006/relationships/notesSlide" Target="../notesSlides/notesSlide12.xml"/>
  <Relationship Id="rId1" Type="http://schemas.openxmlformats.org/officeDocument/2006/relationships/slideLayout" Target="../slideLayouts/slideLayout7.xml"/>
  <Relationship Id="rId6" Type="http://schemas.openxmlformats.org/officeDocument/2006/relationships/image" Target="../media/image20.jpeg"/>
  <Relationship Id="rId5" Type="http://schemas.openxmlformats.org/officeDocument/2006/relationships/image" Target="../media/image19.jpeg"/>
  <Relationship Id="rId4" Type="http://schemas.microsoft.com/office/2007/relationships/hdphoto" Target="../media/hdphoto2.wdp"/>
</Relationships>

</file>

<file path=ppt/slides/_rels/slide20.xml.rels><?xml version="1.0" encoding="utf-8"?>
<Relationships xmlns="http://schemas.openxmlformats.org/package/2006/relationships">
  <Relationship Id="rId2" Type="http://schemas.openxmlformats.org/officeDocument/2006/relationships/notesSlide" Target="../notesSlides/notesSlide20.xml"/>
  <Relationship Id="rId1" Type="http://schemas.openxmlformats.org/officeDocument/2006/relationships/slideLayout" Target="../slideLayouts/slideLayout7.xml"/>
</Relationships>

</file>

<file path=ppt/slides/_rels/slide21.xml.rels><?xml version="1.0" encoding="utf-8"?>
<Relationships xmlns="http://schemas.openxmlformats.org/package/2006/relationships">
  <Relationship Id="rId3" Type="http://schemas.openxmlformats.org/officeDocument/2006/relationships/image" Target="../media/image30.jpeg"/>
  <Relationship Id="rId2" Type="http://schemas.openxmlformats.org/officeDocument/2006/relationships/notesSlide" Target="../notesSlides/notesSlide21.xml"/>
  <Relationship Id="rId1" Type="http://schemas.openxmlformats.org/officeDocument/2006/relationships/slideLayout" Target="../slideLayouts/slideLayout7.xml"/>
  <Relationship Id="rId5" Type="http://schemas.openxmlformats.org/officeDocument/2006/relationships/image" Target="../media/image32.jpeg"/>
  <Relationship Id="rId4" Type="http://schemas.openxmlformats.org/officeDocument/2006/relationships/image" Target="../media/image31.jpeg"/>
</Relationships>

</file>

<file path=ppt/slides/_rels/slide25.xml.rels><?xml version="1.0" encoding="utf-8"?>
<Relationships xmlns="http://schemas.openxmlformats.org/package/2006/relationships">
  <Relationship Id="rId2" Type="http://schemas.openxmlformats.org/officeDocument/2006/relationships/notesSlide" Target="../notesSlides/notesSlide25.xml"/>
  <Relationship Id="rId1" Type="http://schemas.openxmlformats.org/officeDocument/2006/relationships/slideLayout" Target="../slideLayouts/slideLayout7.xml"/>
</Relationships>

</file>

<file path=ppt/slides/_rels/slide27.xml.rels><?xml version="1.0" encoding="utf-8"?>
<Relationships xmlns="http://schemas.openxmlformats.org/package/2006/relationships">
  <Relationship Id="rId3" Type="http://schemas.openxmlformats.org/officeDocument/2006/relationships/image" Target="../media/image5.jpeg"/>
  <Relationship Id="rId2" Type="http://schemas.openxmlformats.org/officeDocument/2006/relationships/notesSlide" Target="../notesSlides/notesSlide27.xml"/>
  <Relationship Id="rId1" Type="http://schemas.openxmlformats.org/officeDocument/2006/relationships/slideLayout" Target="../slideLayouts/slideLayout7.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p:cNvSpPr/>
          <p:nvPr/>
        </p:nvSpPr>
        <p:spPr>
          <a:xfrm>
            <a:off x="0" y="1849388"/>
            <a:ext cx="9144001" cy="2506712"/>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TextBox 3"/>
          <p:cNvSpPr txBox="1"/>
          <p:nvPr/>
        </p:nvSpPr>
        <p:spPr>
          <a:xfrm>
            <a:off x="2772309" y="2578993"/>
            <a:ext cx="5724644" cy="830997"/>
          </a:xfrm>
          <a:prstGeom prst="rect">
            <a:avLst/>
          </a:prstGeom>
          <a:noFill/>
        </p:spPr>
        <p:txBody>
          <a:bodyPr wrap="none" rtlCol="0">
            <a:spAutoFit/>
          </a:bodyPr>
          <a:lstStyle/>
          <a:p>
            <a:pPr algn="ctr"/>
            <a:r>
              <a:rPr lang="zh-CN" altLang="en-US" sz="4800" b="1" dirty="0">
                <a:solidFill>
                  <a:schemeClr val="bg1"/>
                </a:solidFill>
                <a:latin typeface="微软雅黑" panose="020B0503020204020204" pitchFamily="34" charset="-122"/>
                <a:ea typeface="微软雅黑" panose="020B0503020204020204" pitchFamily="34" charset="-122"/>
              </a:rPr>
              <a:t>基于掩星数据的气象要素反演系统设计与实现</a:t>
            </a:r>
          </a:p>
        </p:txBody>
      </p:sp>
      <p:sp>
        <p:nvSpPr>
          <p:cNvPr id="7" name="TextBox 6"/>
          <p:cNvSpPr txBox="1"/>
          <p:nvPr/>
        </p:nvSpPr>
        <p:spPr>
          <a:xfrm>
            <a:off x="2843808" y="3682621"/>
            <a:ext cx="3921760" cy="352425"/>
          </a:xfrm>
          <a:prstGeom prst="rect">
            <a:avLst/>
          </a:prstGeom>
          <a:noFill/>
        </p:spPr>
        <p:txBody>
          <a:bodyPr wrap="none" rtlCol="0">
            <a:spAutoFit/>
          </a:bodyPr>
          <a:lstStyle/>
          <a:p>
            <a:pPr algn="ctr"/>
            <a:r>
              <a:rPr lang="zh-CN" altLang="en-US" sz="1600" dirty="0">
                <a:solidFill>
                  <a:schemeClr val="bg1"/>
                </a:solidFill>
                <a:latin typeface="微软雅黑" panose="020B0503020204020204" pitchFamily="34" charset="-122"/>
                <a:ea typeface="微软雅黑" panose="020B0503020204020204" pitchFamily="34" charset="-122"/>
              </a:rPr>
              <a:t>测绘工程专业    </a:t>
            </a:r>
            <a:r>
              <a:rPr lang="en-US" altLang="zh-CN" sz="1600" dirty="0">
                <a:solidFill>
                  <a:schemeClr val="bg1"/>
                </a:solidFill>
                <a:latin typeface="微软雅黑" panose="020B0503020204020204" pitchFamily="34" charset="-122"/>
                <a:ea typeface="微软雅黑" panose="020B0503020204020204" pitchFamily="34" charset="-122"/>
              </a:rPr>
              <a:t>2201108</a:t>
            </a:r>
            <a:r>
              <a:rPr lang="zh-CN" altLang="en-US" sz="1600" dirty="0">
                <a:solidFill>
                  <a:schemeClr val="bg1"/>
                </a:solidFill>
                <a:latin typeface="微软雅黑" panose="020B0503020204020204" pitchFamily="34" charset="-122"/>
                <a:ea typeface="微软雅黑" panose="020B0503020204020204" pitchFamily="34" charset="-122"/>
              </a:rPr>
              <a:t>班    学号：</a:t>
            </a:r>
            <a:r>
              <a:rPr lang="en-US" altLang="zh-CN" sz="1600" dirty="0">
                <a:solidFill>
                  <a:schemeClr val="bg1"/>
                </a:solidFill>
                <a:latin typeface="微软雅黑" panose="020B0503020204020204" pitchFamily="34" charset="-122"/>
                <a:ea typeface="微软雅黑" panose="020B0503020204020204" pitchFamily="34" charset="-122"/>
              </a:rPr>
              <a:t>220110814</a:t>
            </a:r>
          </a:p>
        </p:txBody>
      </p:sp>
      <p:sp>
        <p:nvSpPr>
          <p:cNvPr id="8" name="TextBox 7"/>
          <p:cNvSpPr txBox="1"/>
          <p:nvPr/>
        </p:nvSpPr>
        <p:spPr>
          <a:xfrm>
            <a:off x="2222480" y="4459454"/>
            <a:ext cx="4932761" cy="338554"/>
          </a:xfrm>
          <a:prstGeom prst="rect">
            <a:avLst/>
          </a:prstGeom>
          <a:noFill/>
        </p:spPr>
        <p:txBody>
          <a:bodyPr wrap="none" rtlCol="0">
            <a:spAutoFit/>
          </a:bodyPr>
          <a:lstStyle/>
          <a:p>
            <a:pPr algn="ctr"/>
            <a:r>
              <a:rPr lang="zh-CN" altLang="en-US" sz="1600" dirty="0">
                <a:solidFill>
                  <a:schemeClr val="tx2">
                    <a:lumMod val="50000"/>
                  </a:schemeClr>
                </a:solidFill>
                <a:latin typeface="微软雅黑" panose="020B0503020204020204" pitchFamily="34" charset="-122"/>
                <a:ea typeface="微软雅黑" panose="020B0503020204020204" pitchFamily="34" charset="-122"/>
              </a:rPr>
              <a:t>答辩人：林逸飞    指导老师：</a:t>
            </a:r>
            <a:r>
              <a:rPr lang="en-US" altLang="zh-CN" sz="1600" dirty="0">
                <a:solidFill>
                  <a:schemeClr val="tx2">
                    <a:lumMod val="50000"/>
                  </a:schemeClr>
                </a:solidFill>
                <a:latin typeface="微软雅黑" panose="020B0503020204020204" pitchFamily="34" charset="-122"/>
                <a:ea typeface="微软雅黑" panose="020B0503020204020204" pitchFamily="34" charset="-122"/>
              </a:rPr>
              <a:t>XXX</a:t>
            </a:r>
            <a:endParaRPr lang="zh-CN" altLang="en-US" sz="1600" dirty="0">
              <a:solidFill>
                <a:schemeClr val="tx2">
                  <a:lumMod val="50000"/>
                </a:schemeClr>
              </a:solidFill>
              <a:latin typeface="微软雅黑" panose="020B0503020204020204" pitchFamily="34" charset="-122"/>
              <a:ea typeface="微软雅黑" panose="020B0503020204020204" pitchFamily="34" charset="-122"/>
            </a:endParaRPr>
          </a:p>
        </p:txBody>
      </p:sp>
      <p:pic>
        <p:nvPicPr>
          <p:cNvPr id="9" name="Picture 6"/>
          <p:cNvPicPr>
            <a:picLocks noChangeAspect="1" noChangeArrowheads="1"/>
          </p:cNvPicPr>
          <p:nvPr/>
        </p:nvPicPr>
        <p:blipFill>
          <a:blip r:embed="rId3" cstate="print">
            <a:extLst>
              <a:ext uri="{28A0092B-C50C-407E-A947-70E740481C1C}">
                <a14:useLocalDpi xmlns:a14="http://schemas.microsoft.com/office/drawing/2010/main" val="0"/>
              </a:ext>
            </a:extLst>
          </a:blip>
          <a:stretch>
            <a:fillRect/>
          </a:stretch>
        </p:blipFill>
        <p:spPr bwMode="auto">
          <a:xfrm>
            <a:off x="395536" y="1659557"/>
            <a:ext cx="1107587" cy="734189"/>
          </a:xfrm>
          <a:prstGeom prst="round2DiagRect">
            <a:avLst>
              <a:gd name="adj1" fmla="val 16667"/>
              <a:gd name="adj2" fmla="val 0"/>
            </a:avLst>
          </a:prstGeom>
          <a:ln w="25400" cap="sq">
            <a:solidFill>
              <a:srgbClr val="0070C0"/>
            </a:solidFill>
            <a:miter lim="800000"/>
            <a:headEnd/>
            <a:tailEnd/>
          </a:ln>
          <a:effectLst/>
        </p:spPr>
      </p:pic>
      <p:sp>
        <p:nvSpPr>
          <p:cNvPr id="11" name="对角圆角矩形 10"/>
          <p:cNvSpPr/>
          <p:nvPr/>
        </p:nvSpPr>
        <p:spPr>
          <a:xfrm>
            <a:off x="1019659" y="1119949"/>
            <a:ext cx="609538" cy="425314"/>
          </a:xfrm>
          <a:prstGeom prst="round2DiagRect">
            <a:avLst/>
          </a:prstGeom>
          <a:solidFill>
            <a:schemeClr val="bg1">
              <a:lumMod val="85000"/>
              <a:alpha val="46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2" name="对角圆角矩形 11"/>
          <p:cNvSpPr/>
          <p:nvPr/>
        </p:nvSpPr>
        <p:spPr>
          <a:xfrm>
            <a:off x="2199739" y="2636823"/>
            <a:ext cx="375087" cy="261722"/>
          </a:xfrm>
          <a:prstGeom prst="round2DiagRect">
            <a:avLst/>
          </a:prstGeom>
          <a:solidFill>
            <a:schemeClr val="bg1">
              <a:alpha val="38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sp>
        <p:nvSpPr>
          <p:cNvPr id="13" name="对角圆角矩形 12"/>
          <p:cNvSpPr/>
          <p:nvPr/>
        </p:nvSpPr>
        <p:spPr>
          <a:xfrm>
            <a:off x="1130259" y="2491354"/>
            <a:ext cx="957263" cy="667943"/>
          </a:xfrm>
          <a:prstGeom prst="round2DiagRect">
            <a:avLst/>
          </a:prstGeom>
          <a:solidFill>
            <a:schemeClr val="bg1">
              <a:alpha val="53000"/>
            </a:schemeClr>
          </a:solidFill>
          <a:ln w="25400" cap="sq">
            <a:noFill/>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ea typeface="微软雅黑" panose="020B0503020204020204" pitchFamily="34" charset="-122"/>
            </a:endParaRPr>
          </a:p>
        </p:txBody>
      </p:sp>
      <p:pic>
        <p:nvPicPr>
          <p:cNvPr id="14" name="Picture 2"/>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1716751" y="1016619"/>
            <a:ext cx="2145907" cy="1552849"/>
          </a:xfrm>
          <a:prstGeom prst="round2DiagRect">
            <a:avLst>
              <a:gd name="adj1" fmla="val 16667"/>
              <a:gd name="adj2" fmla="val 0"/>
            </a:avLst>
          </a:prstGeom>
          <a:ln w="25400" cap="sq">
            <a:solidFill>
              <a:srgbClr val="0070C0"/>
            </a:solidFill>
            <a:miter lim="800000"/>
            <a:headEnd/>
            <a:tailEnd/>
          </a:ln>
          <a:effectLst/>
          <a:extLst>
            <a:ext uri="{909E8E84-426E-40DD-AFC4-6F175D3DCCD1}">
              <a14:hiddenFill xmlns:a14="http://schemas.microsoft.com/office/drawing/2010/main">
                <a:solidFill>
                  <a:srgbClr val="FFFFFF"/>
                </a:solidFill>
              </a14:hiddenFill>
            </a:ext>
          </a:extLst>
        </p:spPr>
      </p:pic>
      <p:pic>
        <p:nvPicPr>
          <p:cNvPr id="3" name="图片 2"/>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5053258" y="488170"/>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500" advClick="0" advTm="12000">
        <p14:doors dir="vert"/>
      </p:transition>
    </mc:Choice>
    <mc:Fallback xmlns="">
      <p:transition spd="slow" advClick="0" advTm="12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par>
                          <p:cTn id="8" fill="hold">
                            <p:stCondLst>
                              <p:cond delay="500"/>
                            </p:stCondLst>
                            <p:childTnLst>
                              <p:par>
                                <p:cTn id="9" presetID="15" presetClass="entr" presetSubtype="0" fill="hold" grpId="0" nodeType="afterEffect">
                                  <p:stCondLst>
                                    <p:cond delay="0"/>
                                  </p:stCondLst>
                                  <p:iterate type="lt">
                                    <p:tmPct val="10000"/>
                                  </p:iterate>
                                  <p:childTnLst>
                                    <p:set>
                                      <p:cBhvr>
                                        <p:cTn id="10" dur="1" fill="hold">
                                          <p:stCondLst>
                                            <p:cond delay="0"/>
                                          </p:stCondLst>
                                        </p:cTn>
                                        <p:tgtEl>
                                          <p:spTgt spid="4"/>
                                        </p:tgtEl>
                                        <p:attrNameLst>
                                          <p:attrName>style.visibility</p:attrName>
                                        </p:attrNameLst>
                                      </p:cBhvr>
                                      <p:to>
                                        <p:strVal val="visible"/>
                                      </p:to>
                                    </p:set>
                                    <p:anim calcmode="lin" valueType="num">
                                      <p:cBhvr>
                                        <p:cTn id="11" dur="1000" fill="hold"/>
                                        <p:tgtEl>
                                          <p:spTgt spid="4"/>
                                        </p:tgtEl>
                                        <p:attrNameLst>
                                          <p:attrName>ppt_w</p:attrName>
                                        </p:attrNameLst>
                                      </p:cBhvr>
                                      <p:tavLst>
                                        <p:tav tm="0">
                                          <p:val>
                                            <p:fltVal val="0"/>
                                          </p:val>
                                        </p:tav>
                                        <p:tav tm="100000">
                                          <p:val>
                                            <p:strVal val="#ppt_w"/>
                                          </p:val>
                                        </p:tav>
                                      </p:tavLst>
                                    </p:anim>
                                    <p:anim calcmode="lin" valueType="num">
                                      <p:cBhvr>
                                        <p:cTn id="12" dur="1000" fill="hold"/>
                                        <p:tgtEl>
                                          <p:spTgt spid="4"/>
                                        </p:tgtEl>
                                        <p:attrNameLst>
                                          <p:attrName>ppt_h</p:attrName>
                                        </p:attrNameLst>
                                      </p:cBhvr>
                                      <p:tavLst>
                                        <p:tav tm="0">
                                          <p:val>
                                            <p:fltVal val="0"/>
                                          </p:val>
                                        </p:tav>
                                        <p:tav tm="100000">
                                          <p:val>
                                            <p:strVal val="#ppt_h"/>
                                          </p:val>
                                        </p:tav>
                                      </p:tavLst>
                                    </p:anim>
                                    <p:anim calcmode="lin" valueType="num">
                                      <p:cBhvr>
                                        <p:cTn id="13" dur="1000" fill="hold"/>
                                        <p:tgtEl>
                                          <p:spTgt spid="4"/>
                                        </p:tgtEl>
                                        <p:attrNameLst>
                                          <p:attrName>ppt_x</p:attrName>
                                        </p:attrNameLst>
                                      </p:cBhvr>
                                      <p:tavLst>
                                        <p:tav tm="0" fmla="#ppt_x+(cos(-2*pi*(1-$))*-#ppt_x-sin(-2*pi*(1-$))*(1-#ppt_y))*(1-$)">
                                          <p:val>
                                            <p:fltVal val="0"/>
                                          </p:val>
                                        </p:tav>
                                        <p:tav tm="100000">
                                          <p:val>
                                            <p:fltVal val="1"/>
                                          </p:val>
                                        </p:tav>
                                      </p:tavLst>
                                    </p:anim>
                                    <p:anim calcmode="lin" valueType="num">
                                      <p:cBhvr>
                                        <p:cTn id="14" dur="1000" fill="hold"/>
                                        <p:tgtEl>
                                          <p:spTgt spid="4"/>
                                        </p:tgtEl>
                                        <p:attrNameLst>
                                          <p:attrName>ppt_y</p:attrName>
                                        </p:attrNameLst>
                                      </p:cBhvr>
                                      <p:tavLst>
                                        <p:tav tm="0" fmla="#ppt_y+(sin(-2*pi*(1-$))*-#ppt_x+cos(-2*pi*(1-$))*(1-#ppt_y))*(1-$)">
                                          <p:val>
                                            <p:fltVal val="0"/>
                                          </p:val>
                                        </p:tav>
                                        <p:tav tm="100000">
                                          <p:val>
                                            <p:fltVal val="1"/>
                                          </p:val>
                                        </p:tav>
                                      </p:tavLst>
                                    </p:anim>
                                  </p:childTnLst>
                                </p:cTn>
                              </p:par>
                            </p:childTnLst>
                          </p:cTn>
                        </p:par>
                        <p:par>
                          <p:cTn id="15" fill="hold">
                            <p:stCondLst>
                              <p:cond delay="2300"/>
                            </p:stCondLst>
                            <p:childTnLst>
                              <p:par>
                                <p:cTn id="16" presetID="2" presetClass="entr" presetSubtype="8" fill="hold" grpId="0" nodeType="afterEffect">
                                  <p:stCondLst>
                                    <p:cond delay="0"/>
                                  </p:stCondLst>
                                  <p:childTnLst>
                                    <p:set>
                                      <p:cBhvr>
                                        <p:cTn id="17" dur="1" fill="hold">
                                          <p:stCondLst>
                                            <p:cond delay="0"/>
                                          </p:stCondLst>
                                        </p:cTn>
                                        <p:tgtEl>
                                          <p:spTgt spid="7"/>
                                        </p:tgtEl>
                                        <p:attrNameLst>
                                          <p:attrName>style.visibility</p:attrName>
                                        </p:attrNameLst>
                                      </p:cBhvr>
                                      <p:to>
                                        <p:strVal val="visible"/>
                                      </p:to>
                                    </p:set>
                                    <p:anim calcmode="lin" valueType="num">
                                      <p:cBhvr additive="base">
                                        <p:cTn id="18" dur="500" fill="hold"/>
                                        <p:tgtEl>
                                          <p:spTgt spid="7"/>
                                        </p:tgtEl>
                                        <p:attrNameLst>
                                          <p:attrName>ppt_x</p:attrName>
                                        </p:attrNameLst>
                                      </p:cBhvr>
                                      <p:tavLst>
                                        <p:tav tm="0">
                                          <p:val>
                                            <p:strVal val="0-#ppt_w/2"/>
                                          </p:val>
                                        </p:tav>
                                        <p:tav tm="100000">
                                          <p:val>
                                            <p:strVal val="#ppt_x"/>
                                          </p:val>
                                        </p:tav>
                                      </p:tavLst>
                                    </p:anim>
                                    <p:anim calcmode="lin" valueType="num">
                                      <p:cBhvr additive="base">
                                        <p:cTn id="19" dur="500" fill="hold"/>
                                        <p:tgtEl>
                                          <p:spTgt spid="7"/>
                                        </p:tgtEl>
                                        <p:attrNameLst>
                                          <p:attrName>ppt_y</p:attrName>
                                        </p:attrNameLst>
                                      </p:cBhvr>
                                      <p:tavLst>
                                        <p:tav tm="0">
                                          <p:val>
                                            <p:strVal val="#ppt_y"/>
                                          </p:val>
                                        </p:tav>
                                        <p:tav tm="100000">
                                          <p:val>
                                            <p:strVal val="#ppt_y"/>
                                          </p:val>
                                        </p:tav>
                                      </p:tavLst>
                                    </p:anim>
                                  </p:childTnLst>
                                </p:cTn>
                              </p:par>
                            </p:childTnLst>
                          </p:cTn>
                        </p:par>
                        <p:par>
                          <p:cTn id="20" fill="hold">
                            <p:stCondLst>
                              <p:cond delay="2800"/>
                            </p:stCondLst>
                            <p:childTnLst>
                              <p:par>
                                <p:cTn id="21" presetID="2" presetClass="entr" presetSubtype="2" fill="hold" grpId="0" nodeType="afterEffect">
                                  <p:stCondLst>
                                    <p:cond delay="0"/>
                                  </p:stCondLst>
                                  <p:iterate type="lt">
                                    <p:tmPct val="10000"/>
                                  </p:iterate>
                                  <p:childTnLst>
                                    <p:set>
                                      <p:cBhvr>
                                        <p:cTn id="22" dur="1" fill="hold">
                                          <p:stCondLst>
                                            <p:cond delay="0"/>
                                          </p:stCondLst>
                                        </p:cTn>
                                        <p:tgtEl>
                                          <p:spTgt spid="8"/>
                                        </p:tgtEl>
                                        <p:attrNameLst>
                                          <p:attrName>style.visibility</p:attrName>
                                        </p:attrNameLst>
                                      </p:cBhvr>
                                      <p:to>
                                        <p:strVal val="visible"/>
                                      </p:to>
                                    </p:set>
                                    <p:anim calcmode="lin" valueType="num">
                                      <p:cBhvr additive="base">
                                        <p:cTn id="23" dur="500" fill="hold"/>
                                        <p:tgtEl>
                                          <p:spTgt spid="8"/>
                                        </p:tgtEl>
                                        <p:attrNameLst>
                                          <p:attrName>ppt_x</p:attrName>
                                        </p:attrNameLst>
                                      </p:cBhvr>
                                      <p:tavLst>
                                        <p:tav tm="0">
                                          <p:val>
                                            <p:strVal val="1+#ppt_w/2"/>
                                          </p:val>
                                        </p:tav>
                                        <p:tav tm="100000">
                                          <p:val>
                                            <p:strVal val="#ppt_x"/>
                                          </p:val>
                                        </p:tav>
                                      </p:tavLst>
                                    </p:anim>
                                    <p:anim calcmode="lin" valueType="num">
                                      <p:cBhvr additive="base">
                                        <p:cTn id="24" dur="500" fill="hold"/>
                                        <p:tgtEl>
                                          <p:spTgt spid="8"/>
                                        </p:tgtEl>
                                        <p:attrNameLst>
                                          <p:attrName>ppt_y</p:attrName>
                                        </p:attrNameLst>
                                      </p:cBhvr>
                                      <p:tavLst>
                                        <p:tav tm="0">
                                          <p:val>
                                            <p:strVal val="#ppt_y"/>
                                          </p:val>
                                        </p:tav>
                                        <p:tav tm="100000">
                                          <p:val>
                                            <p:strVal val="#ppt_y"/>
                                          </p:val>
                                        </p:tav>
                                      </p:tavLst>
                                    </p:anim>
                                  </p:childTnLst>
                                </p:cTn>
                              </p:par>
                            </p:childTnLst>
                          </p:cTn>
                        </p:par>
                        <p:par>
                          <p:cTn id="25" fill="hold">
                            <p:stCondLst>
                              <p:cond delay="4650"/>
                            </p:stCondLst>
                            <p:childTnLst>
                              <p:par>
                                <p:cTn id="26" presetID="53" presetClass="entr" presetSubtype="16" fill="hold" nodeType="afterEffect">
                                  <p:stCondLst>
                                    <p:cond delay="0"/>
                                  </p:stCondLst>
                                  <p:childTnLst>
                                    <p:set>
                                      <p:cBhvr>
                                        <p:cTn id="27" dur="1" fill="hold">
                                          <p:stCondLst>
                                            <p:cond delay="0"/>
                                          </p:stCondLst>
                                        </p:cTn>
                                        <p:tgtEl>
                                          <p:spTgt spid="14"/>
                                        </p:tgtEl>
                                        <p:attrNameLst>
                                          <p:attrName>style.visibility</p:attrName>
                                        </p:attrNameLst>
                                      </p:cBhvr>
                                      <p:to>
                                        <p:strVal val="visible"/>
                                      </p:to>
                                    </p:set>
                                    <p:anim calcmode="lin" valueType="num">
                                      <p:cBhvr>
                                        <p:cTn id="28" dur="1250" fill="hold"/>
                                        <p:tgtEl>
                                          <p:spTgt spid="14"/>
                                        </p:tgtEl>
                                        <p:attrNameLst>
                                          <p:attrName>ppt_w</p:attrName>
                                        </p:attrNameLst>
                                      </p:cBhvr>
                                      <p:tavLst>
                                        <p:tav tm="0">
                                          <p:val>
                                            <p:fltVal val="0"/>
                                          </p:val>
                                        </p:tav>
                                        <p:tav tm="100000">
                                          <p:val>
                                            <p:strVal val="#ppt_w"/>
                                          </p:val>
                                        </p:tav>
                                      </p:tavLst>
                                    </p:anim>
                                    <p:anim calcmode="lin" valueType="num">
                                      <p:cBhvr>
                                        <p:cTn id="29" dur="1250" fill="hold"/>
                                        <p:tgtEl>
                                          <p:spTgt spid="14"/>
                                        </p:tgtEl>
                                        <p:attrNameLst>
                                          <p:attrName>ppt_h</p:attrName>
                                        </p:attrNameLst>
                                      </p:cBhvr>
                                      <p:tavLst>
                                        <p:tav tm="0">
                                          <p:val>
                                            <p:fltVal val="0"/>
                                          </p:val>
                                        </p:tav>
                                        <p:tav tm="100000">
                                          <p:val>
                                            <p:strVal val="#ppt_h"/>
                                          </p:val>
                                        </p:tav>
                                      </p:tavLst>
                                    </p:anim>
                                    <p:animEffect transition="in" filter="fade">
                                      <p:cBhvr>
                                        <p:cTn id="30" dur="1250"/>
                                        <p:tgtEl>
                                          <p:spTgt spid="14"/>
                                        </p:tgtEl>
                                      </p:cBhvr>
                                    </p:animEffect>
                                  </p:childTnLst>
                                </p:cTn>
                              </p:par>
                              <p:par>
                                <p:cTn id="31" presetID="53" presetClass="entr" presetSubtype="16" fill="hold" nodeType="withEffect">
                                  <p:stCondLst>
                                    <p:cond delay="250"/>
                                  </p:stCondLst>
                                  <p:childTnLst>
                                    <p:set>
                                      <p:cBhvr>
                                        <p:cTn id="32" dur="1" fill="hold">
                                          <p:stCondLst>
                                            <p:cond delay="0"/>
                                          </p:stCondLst>
                                        </p:cTn>
                                        <p:tgtEl>
                                          <p:spTgt spid="9"/>
                                        </p:tgtEl>
                                        <p:attrNameLst>
                                          <p:attrName>style.visibility</p:attrName>
                                        </p:attrNameLst>
                                      </p:cBhvr>
                                      <p:to>
                                        <p:strVal val="visible"/>
                                      </p:to>
                                    </p:set>
                                    <p:anim calcmode="lin" valueType="num">
                                      <p:cBhvr>
                                        <p:cTn id="33" dur="1250" fill="hold"/>
                                        <p:tgtEl>
                                          <p:spTgt spid="9"/>
                                        </p:tgtEl>
                                        <p:attrNameLst>
                                          <p:attrName>ppt_w</p:attrName>
                                        </p:attrNameLst>
                                      </p:cBhvr>
                                      <p:tavLst>
                                        <p:tav tm="0">
                                          <p:val>
                                            <p:fltVal val="0"/>
                                          </p:val>
                                        </p:tav>
                                        <p:tav tm="100000">
                                          <p:val>
                                            <p:strVal val="#ppt_w"/>
                                          </p:val>
                                        </p:tav>
                                      </p:tavLst>
                                    </p:anim>
                                    <p:anim calcmode="lin" valueType="num">
                                      <p:cBhvr>
                                        <p:cTn id="34" dur="1250" fill="hold"/>
                                        <p:tgtEl>
                                          <p:spTgt spid="9"/>
                                        </p:tgtEl>
                                        <p:attrNameLst>
                                          <p:attrName>ppt_h</p:attrName>
                                        </p:attrNameLst>
                                      </p:cBhvr>
                                      <p:tavLst>
                                        <p:tav tm="0">
                                          <p:val>
                                            <p:fltVal val="0"/>
                                          </p:val>
                                        </p:tav>
                                        <p:tav tm="100000">
                                          <p:val>
                                            <p:strVal val="#ppt_h"/>
                                          </p:val>
                                        </p:tav>
                                      </p:tavLst>
                                    </p:anim>
                                    <p:animEffect transition="in" filter="fade">
                                      <p:cBhvr>
                                        <p:cTn id="35" dur="1250"/>
                                        <p:tgtEl>
                                          <p:spTgt spid="9"/>
                                        </p:tgtEl>
                                      </p:cBhvr>
                                    </p:animEffect>
                                  </p:childTnLst>
                                </p:cTn>
                              </p:par>
                              <p:par>
                                <p:cTn id="36" presetID="53" presetClass="entr" presetSubtype="16" fill="hold" grpId="0" nodeType="withEffect">
                                  <p:stCondLst>
                                    <p:cond delay="750"/>
                                  </p:stCondLst>
                                  <p:childTnLst>
                                    <p:set>
                                      <p:cBhvr>
                                        <p:cTn id="37" dur="1" fill="hold">
                                          <p:stCondLst>
                                            <p:cond delay="0"/>
                                          </p:stCondLst>
                                        </p:cTn>
                                        <p:tgtEl>
                                          <p:spTgt spid="11"/>
                                        </p:tgtEl>
                                        <p:attrNameLst>
                                          <p:attrName>style.visibility</p:attrName>
                                        </p:attrNameLst>
                                      </p:cBhvr>
                                      <p:to>
                                        <p:strVal val="visible"/>
                                      </p:to>
                                    </p:set>
                                    <p:anim calcmode="lin" valueType="num">
                                      <p:cBhvr>
                                        <p:cTn id="38" dur="1250" fill="hold"/>
                                        <p:tgtEl>
                                          <p:spTgt spid="11"/>
                                        </p:tgtEl>
                                        <p:attrNameLst>
                                          <p:attrName>ppt_w</p:attrName>
                                        </p:attrNameLst>
                                      </p:cBhvr>
                                      <p:tavLst>
                                        <p:tav tm="0">
                                          <p:val>
                                            <p:fltVal val="0"/>
                                          </p:val>
                                        </p:tav>
                                        <p:tav tm="100000">
                                          <p:val>
                                            <p:strVal val="#ppt_w"/>
                                          </p:val>
                                        </p:tav>
                                      </p:tavLst>
                                    </p:anim>
                                    <p:anim calcmode="lin" valueType="num">
                                      <p:cBhvr>
                                        <p:cTn id="39" dur="1250" fill="hold"/>
                                        <p:tgtEl>
                                          <p:spTgt spid="11"/>
                                        </p:tgtEl>
                                        <p:attrNameLst>
                                          <p:attrName>ppt_h</p:attrName>
                                        </p:attrNameLst>
                                      </p:cBhvr>
                                      <p:tavLst>
                                        <p:tav tm="0">
                                          <p:val>
                                            <p:fltVal val="0"/>
                                          </p:val>
                                        </p:tav>
                                        <p:tav tm="100000">
                                          <p:val>
                                            <p:strVal val="#ppt_h"/>
                                          </p:val>
                                        </p:tav>
                                      </p:tavLst>
                                    </p:anim>
                                    <p:animEffect transition="in" filter="fade">
                                      <p:cBhvr>
                                        <p:cTn id="40" dur="1250"/>
                                        <p:tgtEl>
                                          <p:spTgt spid="11"/>
                                        </p:tgtEl>
                                      </p:cBhvr>
                                    </p:animEffect>
                                  </p:childTnLst>
                                </p:cTn>
                              </p:par>
                              <p:par>
                                <p:cTn id="41" presetID="53" presetClass="entr" presetSubtype="16" fill="hold" grpId="0" nodeType="withEffect">
                                  <p:stCondLst>
                                    <p:cond delay="250"/>
                                  </p:stCondLst>
                                  <p:childTnLst>
                                    <p:set>
                                      <p:cBhvr>
                                        <p:cTn id="42" dur="1" fill="hold">
                                          <p:stCondLst>
                                            <p:cond delay="0"/>
                                          </p:stCondLst>
                                        </p:cTn>
                                        <p:tgtEl>
                                          <p:spTgt spid="12"/>
                                        </p:tgtEl>
                                        <p:attrNameLst>
                                          <p:attrName>style.visibility</p:attrName>
                                        </p:attrNameLst>
                                      </p:cBhvr>
                                      <p:to>
                                        <p:strVal val="visible"/>
                                      </p:to>
                                    </p:set>
                                    <p:anim calcmode="lin" valueType="num">
                                      <p:cBhvr>
                                        <p:cTn id="43" dur="1250" fill="hold"/>
                                        <p:tgtEl>
                                          <p:spTgt spid="12"/>
                                        </p:tgtEl>
                                        <p:attrNameLst>
                                          <p:attrName>ppt_w</p:attrName>
                                        </p:attrNameLst>
                                      </p:cBhvr>
                                      <p:tavLst>
                                        <p:tav tm="0">
                                          <p:val>
                                            <p:fltVal val="0"/>
                                          </p:val>
                                        </p:tav>
                                        <p:tav tm="100000">
                                          <p:val>
                                            <p:strVal val="#ppt_w"/>
                                          </p:val>
                                        </p:tav>
                                      </p:tavLst>
                                    </p:anim>
                                    <p:anim calcmode="lin" valueType="num">
                                      <p:cBhvr>
                                        <p:cTn id="44" dur="1250" fill="hold"/>
                                        <p:tgtEl>
                                          <p:spTgt spid="12"/>
                                        </p:tgtEl>
                                        <p:attrNameLst>
                                          <p:attrName>ppt_h</p:attrName>
                                        </p:attrNameLst>
                                      </p:cBhvr>
                                      <p:tavLst>
                                        <p:tav tm="0">
                                          <p:val>
                                            <p:fltVal val="0"/>
                                          </p:val>
                                        </p:tav>
                                        <p:tav tm="100000">
                                          <p:val>
                                            <p:strVal val="#ppt_h"/>
                                          </p:val>
                                        </p:tav>
                                      </p:tavLst>
                                    </p:anim>
                                    <p:animEffect transition="in" filter="fade">
                                      <p:cBhvr>
                                        <p:cTn id="45" dur="1250"/>
                                        <p:tgtEl>
                                          <p:spTgt spid="12"/>
                                        </p:tgtEl>
                                      </p:cBhvr>
                                    </p:animEffect>
                                  </p:childTnLst>
                                </p:cTn>
                              </p:par>
                              <p:par>
                                <p:cTn id="46" presetID="53" presetClass="entr" presetSubtype="16" fill="hold" grpId="0" nodeType="withEffect">
                                  <p:stCondLst>
                                    <p:cond delay="1000"/>
                                  </p:stCondLst>
                                  <p:childTnLst>
                                    <p:set>
                                      <p:cBhvr>
                                        <p:cTn id="47" dur="1" fill="hold">
                                          <p:stCondLst>
                                            <p:cond delay="0"/>
                                          </p:stCondLst>
                                        </p:cTn>
                                        <p:tgtEl>
                                          <p:spTgt spid="13"/>
                                        </p:tgtEl>
                                        <p:attrNameLst>
                                          <p:attrName>style.visibility</p:attrName>
                                        </p:attrNameLst>
                                      </p:cBhvr>
                                      <p:to>
                                        <p:strVal val="visible"/>
                                      </p:to>
                                    </p:set>
                                    <p:anim calcmode="lin" valueType="num">
                                      <p:cBhvr>
                                        <p:cTn id="48" dur="1250" fill="hold"/>
                                        <p:tgtEl>
                                          <p:spTgt spid="13"/>
                                        </p:tgtEl>
                                        <p:attrNameLst>
                                          <p:attrName>ppt_w</p:attrName>
                                        </p:attrNameLst>
                                      </p:cBhvr>
                                      <p:tavLst>
                                        <p:tav tm="0">
                                          <p:val>
                                            <p:fltVal val="0"/>
                                          </p:val>
                                        </p:tav>
                                        <p:tav tm="100000">
                                          <p:val>
                                            <p:strVal val="#ppt_w"/>
                                          </p:val>
                                        </p:tav>
                                      </p:tavLst>
                                    </p:anim>
                                    <p:anim calcmode="lin" valueType="num">
                                      <p:cBhvr>
                                        <p:cTn id="49" dur="1250" fill="hold"/>
                                        <p:tgtEl>
                                          <p:spTgt spid="13"/>
                                        </p:tgtEl>
                                        <p:attrNameLst>
                                          <p:attrName>ppt_h</p:attrName>
                                        </p:attrNameLst>
                                      </p:cBhvr>
                                      <p:tavLst>
                                        <p:tav tm="0">
                                          <p:val>
                                            <p:fltVal val="0"/>
                                          </p:val>
                                        </p:tav>
                                        <p:tav tm="100000">
                                          <p:val>
                                            <p:strVal val="#ppt_h"/>
                                          </p:val>
                                        </p:tav>
                                      </p:tavLst>
                                    </p:anim>
                                    <p:animEffect transition="in" filter="fade">
                                      <p:cBhvr>
                                        <p:cTn id="50" dur="125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4" grpId="0"/>
      <p:bldP spid="7" grpId="0"/>
      <p:bldP spid="8" grpId="0"/>
      <p:bldP spid="11" grpId="0" animBg="1"/>
      <p:bldP spid="12" grpId="0" animBg="1"/>
      <p:bldP spid="13"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561381" y="1273324"/>
            <a:ext cx="677108" cy="1323439"/>
          </a:xfrm>
          <a:prstGeom prst="rect">
            <a:avLst/>
          </a:prstGeom>
          <a:noFill/>
        </p:spPr>
        <p:txBody>
          <a:bodyPr vert="eaVert" wrap="none" rtlCol="0">
            <a:spAutoFit/>
          </a:bodyPr>
          <a:lstStyle/>
          <a:p>
            <a:r>
              <a:rPr lang="zh-CN" altLang="en-US" sz="3200" b="1" dirty="0">
                <a:solidFill>
                  <a:schemeClr val="tx2">
                    <a:lumMod val="75000"/>
                  </a:schemeClr>
                </a:solidFill>
                <a:latin typeface="微软雅黑" panose="020B0503020204020204" pitchFamily="34" charset="-122"/>
                <a:ea typeface="微软雅黑" panose="020B0503020204020204" pitchFamily="34" charset="-122"/>
              </a:rPr>
              <a:t>目录页</a:t>
            </a:r>
          </a:p>
        </p:txBody>
      </p:sp>
      <p:cxnSp>
        <p:nvCxnSpPr>
          <p:cNvPr id="8" name="直接连接符 7"/>
          <p:cNvCxnSpPr/>
          <p:nvPr/>
        </p:nvCxnSpPr>
        <p:spPr>
          <a:xfrm>
            <a:off x="2166481"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9" name="矩形 8"/>
          <p:cNvSpPr/>
          <p:nvPr/>
        </p:nvSpPr>
        <p:spPr>
          <a:xfrm>
            <a:off x="2274493" y="1339602"/>
            <a:ext cx="5400600" cy="324036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0" name="直接连接符 9"/>
          <p:cNvCxnSpPr/>
          <p:nvPr/>
        </p:nvCxnSpPr>
        <p:spPr>
          <a:xfrm>
            <a:off x="7783105" y="1339602"/>
            <a:ext cx="0" cy="3240360"/>
          </a:xfrm>
          <a:prstGeom prst="line">
            <a:avLst/>
          </a:prstGeom>
          <a:ln w="19050">
            <a:solidFill>
              <a:schemeClr val="tx2">
                <a:lumMod val="75000"/>
              </a:schemeClr>
            </a:solidFill>
          </a:ln>
        </p:spPr>
        <p:style>
          <a:lnRef idx="1">
            <a:schemeClr val="accent1"/>
          </a:lnRef>
          <a:fillRef idx="0">
            <a:schemeClr val="accent1"/>
          </a:fillRef>
          <a:effectRef idx="0">
            <a:schemeClr val="accent1"/>
          </a:effectRef>
          <a:fontRef idx="minor">
            <a:schemeClr val="tx1"/>
          </a:fontRef>
        </p:style>
      </p:cxnSp>
      <p:sp>
        <p:nvSpPr>
          <p:cNvPr id="11" name="TextBox 4"/>
          <p:cNvSpPr txBox="1">
            <a:spLocks noChangeArrowheads="1"/>
          </p:cNvSpPr>
          <p:nvPr/>
        </p:nvSpPr>
        <p:spPr bwMode="auto">
          <a:xfrm>
            <a:off x="467544" y="2512318"/>
            <a:ext cx="1693863"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eaLnBrk="1" hangingPunct="1"/>
            <a:r>
              <a:rPr lang="en-US" altLang="zh-CN" sz="2400" dirty="0">
                <a:solidFill>
                  <a:schemeClr val="bg1">
                    <a:lumMod val="85000"/>
                  </a:schemeClr>
                </a:solidFill>
                <a:latin typeface="Stencil" panose="040409050D0802020404" pitchFamily="82" charset="0"/>
              </a:rPr>
              <a:t>contents</a:t>
            </a:r>
            <a:endParaRPr lang="zh-CN" altLang="en-US" sz="2400" dirty="0">
              <a:solidFill>
                <a:schemeClr val="bg1">
                  <a:lumMod val="85000"/>
                </a:schemeClr>
              </a:solidFill>
              <a:latin typeface="Stencil" panose="040409050D0802020404" pitchFamily="82" charset="0"/>
            </a:endParaRPr>
          </a:p>
        </p:txBody>
      </p:sp>
      <p:sp>
        <p:nvSpPr>
          <p:cNvPr id="12" name="TextBox 11"/>
          <p:cNvSpPr txBox="1"/>
          <p:nvPr/>
        </p:nvSpPr>
        <p:spPr>
          <a:xfrm>
            <a:off x="3721621" y="1670168"/>
            <a:ext cx="2794595"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研究背景</a:t>
            </a:r>
            <a:r>
              <a:rPr lang="zh-CN" altLang="en-US" sz="2800" b="1" dirty="0">
                <a:solidFill>
                  <a:schemeClr val="tx2">
                    <a:lumMod val="75000"/>
                  </a:schemeClr>
                </a:solidFill>
                <a:latin typeface="微软雅黑" panose="020B0503020204020204" pitchFamily="34" charset="-122"/>
                <a:ea typeface="微软雅黑" panose="020B0503020204020204" pitchFamily="34" charset="-122"/>
              </a:rPr>
              <a:t>与意义</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3" name="泪滴形 12"/>
          <p:cNvSpPr/>
          <p:nvPr/>
        </p:nvSpPr>
        <p:spPr>
          <a:xfrm>
            <a:off x="2866101" y="1719103"/>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1</a:t>
            </a:r>
            <a:endParaRPr lang="zh-CN" altLang="en-US" dirty="0">
              <a:latin typeface="微软雅黑" panose="020B0503020204020204" pitchFamily="34" charset="-122"/>
              <a:ea typeface="微软雅黑" panose="020B0503020204020204" pitchFamily="34" charset="-122"/>
            </a:endParaRPr>
          </a:p>
        </p:txBody>
      </p:sp>
      <p:sp>
        <p:nvSpPr>
          <p:cNvPr id="14" name="泪滴形 13"/>
          <p:cNvSpPr/>
          <p:nvPr/>
        </p:nvSpPr>
        <p:spPr>
          <a:xfrm>
            <a:off x="2866101" y="2376006"/>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2</a:t>
            </a:r>
            <a:endParaRPr lang="zh-CN" altLang="en-US" dirty="0">
              <a:latin typeface="微软雅黑" panose="020B0503020204020204" pitchFamily="34" charset="-122"/>
              <a:ea typeface="微软雅黑" panose="020B0503020204020204" pitchFamily="34" charset="-122"/>
            </a:endParaRPr>
          </a:p>
        </p:txBody>
      </p:sp>
      <p:sp>
        <p:nvSpPr>
          <p:cNvPr id="15" name="泪滴形 14"/>
          <p:cNvSpPr/>
          <p:nvPr/>
        </p:nvSpPr>
        <p:spPr>
          <a:xfrm>
            <a:off x="2866101" y="3032909"/>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3</a:t>
            </a:r>
            <a:endParaRPr lang="zh-CN" altLang="en-US" dirty="0">
              <a:latin typeface="微软雅黑" panose="020B0503020204020204" pitchFamily="34" charset="-122"/>
              <a:ea typeface="微软雅黑" panose="020B0503020204020204" pitchFamily="34" charset="-122"/>
            </a:endParaRPr>
          </a:p>
        </p:txBody>
      </p:sp>
      <p:sp>
        <p:nvSpPr>
          <p:cNvPr id="16" name="泪滴形 15"/>
          <p:cNvSpPr/>
          <p:nvPr/>
        </p:nvSpPr>
        <p:spPr>
          <a:xfrm>
            <a:off x="2866101" y="3689812"/>
            <a:ext cx="486905" cy="486905"/>
          </a:xfrm>
          <a:prstGeom prst="teardrop">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微软雅黑" panose="020B0503020204020204" pitchFamily="34" charset="-122"/>
                <a:ea typeface="微软雅黑" panose="020B0503020204020204" pitchFamily="34" charset="-122"/>
              </a:rPr>
              <a:t>4</a:t>
            </a:r>
            <a:endParaRPr lang="zh-CN" altLang="en-US" dirty="0">
              <a:latin typeface="微软雅黑" panose="020B0503020204020204" pitchFamily="34" charset="-122"/>
              <a:ea typeface="微软雅黑" panose="020B0503020204020204" pitchFamily="34" charset="-122"/>
            </a:endParaRPr>
          </a:p>
        </p:txBody>
      </p:sp>
      <p:sp>
        <p:nvSpPr>
          <p:cNvPr id="17" name="TextBox 16"/>
          <p:cNvSpPr txBox="1"/>
          <p:nvPr/>
        </p:nvSpPr>
        <p:spPr>
          <a:xfrm>
            <a:off x="3721621" y="3640877"/>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实验结果与总结</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8" name="TextBox 17"/>
          <p:cNvSpPr txBox="1"/>
          <p:nvPr/>
        </p:nvSpPr>
        <p:spPr>
          <a:xfrm>
            <a:off x="3721621" y="2327071"/>
            <a:ext cx="2160240" cy="523220"/>
          </a:xfrm>
          <a:prstGeom prst="rect">
            <a:avLst/>
          </a:prstGeom>
          <a:noFill/>
        </p:spPr>
        <p:txBody>
          <a:bodyPr vert="horz" wrap="square" rtlCol="0">
            <a:spAutoFit/>
          </a:bodyPr>
          <a:lstStyle/>
          <a:p>
            <a:pPr fontAlgn="b"/>
            <a:r>
              <a:rPr lang="zh-CN" altLang="zh-CN" sz="2800" b="1" dirty="0">
                <a:solidFill>
                  <a:schemeClr val="tx2">
                    <a:lumMod val="75000"/>
                  </a:schemeClr>
                </a:solidFill>
                <a:latin typeface="微软雅黑" panose="020B0503020204020204" pitchFamily="34" charset="-122"/>
                <a:ea typeface="微软雅黑" panose="020B0503020204020204" pitchFamily="34" charset="-122"/>
              </a:rPr>
              <a:t>理论基础与技术</a:t>
            </a:r>
            <a:endParaRPr lang="zh-CN" altLang="zh-CN" sz="28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19" name="TextBox 18"/>
          <p:cNvSpPr txBox="1"/>
          <p:nvPr/>
        </p:nvSpPr>
        <p:spPr>
          <a:xfrm>
            <a:off x="3721621" y="2983974"/>
            <a:ext cx="3456384" cy="523220"/>
          </a:xfrm>
          <a:prstGeom prst="rect">
            <a:avLst/>
          </a:prstGeom>
          <a:noFill/>
        </p:spPr>
        <p:txBody>
          <a:bodyPr vert="horz" wrap="square" rtlCol="0">
            <a:spAutoFit/>
          </a:bodyPr>
          <a:lstStyle/>
          <a:p>
            <a:pPr fontAlgn="b"/>
            <a:r>
              <a:rPr lang="zh-CN" altLang="en-US" sz="2800" b="1" dirty="0">
                <a:solidFill>
                  <a:schemeClr val="tx2">
                    <a:lumMod val="75000"/>
                  </a:schemeClr>
                </a:solidFill>
                <a:latin typeface="微软雅黑" panose="020B0503020204020204" pitchFamily="34" charset="-122"/>
                <a:ea typeface="微软雅黑" panose="020B0503020204020204" pitchFamily="34" charset="-122"/>
              </a:rPr>
              <a:t>系统设计与实现</a:t>
            </a:r>
            <a:endParaRPr lang="zh-CN" altLang="zh-CN" sz="2800" b="1"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mc:AlternateContent xmlns:mc="http://schemas.openxmlformats.org/markup-compatibility/2006" xmlns:p14="http://schemas.microsoft.com/office/powerpoint/2010/main">
    <mc:Choice Requires="p14">
      <p:transition spd="slow" p14:dur="2000" advClick="0" advTm="5000"/>
    </mc:Choice>
    <mc:Fallback xmlns="">
      <p:transition spd="slow" advClick="0" advTm="5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7" presetClass="entr" presetSubtype="0"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anim calcmode="lin" valueType="num">
                                      <p:cBhvr>
                                        <p:cTn id="8" dur="500" fill="hold"/>
                                        <p:tgtEl>
                                          <p:spTgt spid="6"/>
                                        </p:tgtEl>
                                        <p:attrNameLst>
                                          <p:attrName>ppt_x</p:attrName>
                                        </p:attrNameLst>
                                      </p:cBhvr>
                                      <p:tavLst>
                                        <p:tav tm="0">
                                          <p:val>
                                            <p:strVal val="#ppt_x"/>
                                          </p:val>
                                        </p:tav>
                                        <p:tav tm="100000">
                                          <p:val>
                                            <p:strVal val="#ppt_x"/>
                                          </p:val>
                                        </p:tav>
                                      </p:tavLst>
                                    </p:anim>
                                    <p:anim calcmode="lin" valueType="num">
                                      <p:cBhvr>
                                        <p:cTn id="9" dur="500" fill="hold"/>
                                        <p:tgtEl>
                                          <p:spTgt spid="6"/>
                                        </p:tgtEl>
                                        <p:attrNameLst>
                                          <p:attrName>ppt_y</p:attrName>
                                        </p:attrNameLst>
                                      </p:cBhvr>
                                      <p:tavLst>
                                        <p:tav tm="0">
                                          <p:val>
                                            <p:strVal val="#ppt_y-.1"/>
                                          </p:val>
                                        </p:tav>
                                        <p:tav tm="100000">
                                          <p:val>
                                            <p:strVal val="#ppt_y"/>
                                          </p:val>
                                        </p:tav>
                                      </p:tavLst>
                                    </p:anim>
                                  </p:childTnLst>
                                </p:cTn>
                              </p:par>
                              <p:par>
                                <p:cTn id="10" presetID="2" presetClass="entr" presetSubtype="8" fill="hold" grpId="0" nodeType="withEffect">
                                  <p:stCondLst>
                                    <p:cond delay="0"/>
                                  </p:stCondLst>
                                  <p:childTnLst>
                                    <p:set>
                                      <p:cBhvr>
                                        <p:cTn id="11" dur="1" fill="hold">
                                          <p:stCondLst>
                                            <p:cond delay="0"/>
                                          </p:stCondLst>
                                        </p:cTn>
                                        <p:tgtEl>
                                          <p:spTgt spid="11"/>
                                        </p:tgtEl>
                                        <p:attrNameLst>
                                          <p:attrName>style.visibility</p:attrName>
                                        </p:attrNameLst>
                                      </p:cBhvr>
                                      <p:to>
                                        <p:strVal val="visible"/>
                                      </p:to>
                                    </p:set>
                                    <p:anim calcmode="lin" valueType="num">
                                      <p:cBhvr additive="base">
                                        <p:cTn id="12" dur="500" fill="hold"/>
                                        <p:tgtEl>
                                          <p:spTgt spid="11"/>
                                        </p:tgtEl>
                                        <p:attrNameLst>
                                          <p:attrName>ppt_x</p:attrName>
                                        </p:attrNameLst>
                                      </p:cBhvr>
                                      <p:tavLst>
                                        <p:tav tm="0">
                                          <p:val>
                                            <p:strVal val="0-#ppt_w/2"/>
                                          </p:val>
                                        </p:tav>
                                        <p:tav tm="100000">
                                          <p:val>
                                            <p:strVal val="#ppt_x"/>
                                          </p:val>
                                        </p:tav>
                                      </p:tavLst>
                                    </p:anim>
                                    <p:anim calcmode="lin" valueType="num">
                                      <p:cBhvr additive="base">
                                        <p:cTn id="13" dur="500" fill="hold"/>
                                        <p:tgtEl>
                                          <p:spTgt spid="11"/>
                                        </p:tgtEl>
                                        <p:attrNameLst>
                                          <p:attrName>ppt_y</p:attrName>
                                        </p:attrNameLst>
                                      </p:cBhvr>
                                      <p:tavLst>
                                        <p:tav tm="0">
                                          <p:val>
                                            <p:strVal val="#ppt_y"/>
                                          </p:val>
                                        </p:tav>
                                        <p:tav tm="100000">
                                          <p:val>
                                            <p:strVal val="#ppt_y"/>
                                          </p:val>
                                        </p:tav>
                                      </p:tavLst>
                                    </p:anim>
                                  </p:childTnLst>
                                </p:cTn>
                              </p:par>
                            </p:childTnLst>
                          </p:cTn>
                        </p:par>
                        <p:par>
                          <p:cTn id="14" fill="hold">
                            <p:stCondLst>
                              <p:cond delay="500"/>
                            </p:stCondLst>
                            <p:childTnLst>
                              <p:par>
                                <p:cTn id="15" presetID="2" presetClass="entr" presetSubtype="4" fill="hold" nodeType="after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additive="base">
                                        <p:cTn id="17" dur="250" fill="hold"/>
                                        <p:tgtEl>
                                          <p:spTgt spid="8"/>
                                        </p:tgtEl>
                                        <p:attrNameLst>
                                          <p:attrName>ppt_x</p:attrName>
                                        </p:attrNameLst>
                                      </p:cBhvr>
                                      <p:tavLst>
                                        <p:tav tm="0">
                                          <p:val>
                                            <p:strVal val="#ppt_x"/>
                                          </p:val>
                                        </p:tav>
                                        <p:tav tm="100000">
                                          <p:val>
                                            <p:strVal val="#ppt_x"/>
                                          </p:val>
                                        </p:tav>
                                      </p:tavLst>
                                    </p:anim>
                                    <p:anim calcmode="lin" valueType="num">
                                      <p:cBhvr additive="base">
                                        <p:cTn id="18" dur="250" fill="hold"/>
                                        <p:tgtEl>
                                          <p:spTgt spid="8"/>
                                        </p:tgtEl>
                                        <p:attrNameLst>
                                          <p:attrName>ppt_y</p:attrName>
                                        </p:attrNameLst>
                                      </p:cBhvr>
                                      <p:tavLst>
                                        <p:tav tm="0">
                                          <p:val>
                                            <p:strVal val="1+#ppt_h/2"/>
                                          </p:val>
                                        </p:tav>
                                        <p:tav tm="100000">
                                          <p:val>
                                            <p:strVal val="#ppt_y"/>
                                          </p:val>
                                        </p:tav>
                                      </p:tavLst>
                                    </p:anim>
                                  </p:childTnLst>
                                </p:cTn>
                              </p:par>
                              <p:par>
                                <p:cTn id="19" presetID="2" presetClass="entr" presetSubtype="1" fill="hold" nodeType="withEffect">
                                  <p:stCondLst>
                                    <p:cond delay="0"/>
                                  </p:stCondLst>
                                  <p:childTnLst>
                                    <p:set>
                                      <p:cBhvr>
                                        <p:cTn id="20" dur="1" fill="hold">
                                          <p:stCondLst>
                                            <p:cond delay="0"/>
                                          </p:stCondLst>
                                        </p:cTn>
                                        <p:tgtEl>
                                          <p:spTgt spid="10"/>
                                        </p:tgtEl>
                                        <p:attrNameLst>
                                          <p:attrName>style.visibility</p:attrName>
                                        </p:attrNameLst>
                                      </p:cBhvr>
                                      <p:to>
                                        <p:strVal val="visible"/>
                                      </p:to>
                                    </p:set>
                                    <p:anim calcmode="lin" valueType="num">
                                      <p:cBhvr additive="base">
                                        <p:cTn id="21" dur="250" fill="hold"/>
                                        <p:tgtEl>
                                          <p:spTgt spid="10"/>
                                        </p:tgtEl>
                                        <p:attrNameLst>
                                          <p:attrName>ppt_x</p:attrName>
                                        </p:attrNameLst>
                                      </p:cBhvr>
                                      <p:tavLst>
                                        <p:tav tm="0">
                                          <p:val>
                                            <p:strVal val="#ppt_x"/>
                                          </p:val>
                                        </p:tav>
                                        <p:tav tm="100000">
                                          <p:val>
                                            <p:strVal val="#ppt_x"/>
                                          </p:val>
                                        </p:tav>
                                      </p:tavLst>
                                    </p:anim>
                                    <p:anim calcmode="lin" valueType="num">
                                      <p:cBhvr additive="base">
                                        <p:cTn id="22" dur="250" fill="hold"/>
                                        <p:tgtEl>
                                          <p:spTgt spid="10"/>
                                        </p:tgtEl>
                                        <p:attrNameLst>
                                          <p:attrName>ppt_y</p:attrName>
                                        </p:attrNameLst>
                                      </p:cBhvr>
                                      <p:tavLst>
                                        <p:tav tm="0">
                                          <p:val>
                                            <p:strVal val="0-#ppt_h/2"/>
                                          </p:val>
                                        </p:tav>
                                        <p:tav tm="100000">
                                          <p:val>
                                            <p:strVal val="#ppt_y"/>
                                          </p:val>
                                        </p:tav>
                                      </p:tavLst>
                                    </p:anim>
                                  </p:childTnLst>
                                </p:cTn>
                              </p:par>
                            </p:childTnLst>
                          </p:cTn>
                        </p:par>
                        <p:par>
                          <p:cTn id="23" fill="hold">
                            <p:stCondLst>
                              <p:cond delay="1000"/>
                            </p:stCondLst>
                            <p:childTnLst>
                              <p:par>
                                <p:cTn id="24" presetID="26" presetClass="emph" presetSubtype="0" repeatCount="3000" fill="hold" nodeType="afterEffect">
                                  <p:stCondLst>
                                    <p:cond delay="0"/>
                                  </p:stCondLst>
                                  <p:childTnLst>
                                    <p:animEffect transition="out" filter="fade">
                                      <p:cBhvr>
                                        <p:cTn id="25" dur="150" tmFilter="0, 0; .2, .5; .8, .5; 1, 0"/>
                                        <p:tgtEl>
                                          <p:spTgt spid="8"/>
                                        </p:tgtEl>
                                      </p:cBhvr>
                                    </p:animEffect>
                                    <p:animScale>
                                      <p:cBhvr>
                                        <p:cTn id="26" dur="75" autoRev="1" fill="hold"/>
                                        <p:tgtEl>
                                          <p:spTgt spid="8"/>
                                        </p:tgtEl>
                                      </p:cBhvr>
                                      <p:by x="105000" y="105000"/>
                                    </p:animScale>
                                  </p:childTnLst>
                                </p:cTn>
                              </p:par>
                              <p:par>
                                <p:cTn id="27" presetID="26" presetClass="emph" presetSubtype="0" repeatCount="3000" fill="hold" nodeType="withEffect">
                                  <p:stCondLst>
                                    <p:cond delay="0"/>
                                  </p:stCondLst>
                                  <p:childTnLst>
                                    <p:animEffect transition="out" filter="fade">
                                      <p:cBhvr>
                                        <p:cTn id="28" dur="150" tmFilter="0, 0; .2, .5; .8, .5; 1, 0"/>
                                        <p:tgtEl>
                                          <p:spTgt spid="10"/>
                                        </p:tgtEl>
                                      </p:cBhvr>
                                    </p:animEffect>
                                    <p:animScale>
                                      <p:cBhvr>
                                        <p:cTn id="29" dur="75" autoRev="1" fill="hold"/>
                                        <p:tgtEl>
                                          <p:spTgt spid="10"/>
                                        </p:tgtEl>
                                      </p:cBhvr>
                                      <p:by x="105000" y="105000"/>
                                    </p:animScale>
                                  </p:childTnLst>
                                </p:cTn>
                              </p:par>
                            </p:childTnLst>
                          </p:cTn>
                        </p:par>
                        <p:par>
                          <p:cTn id="30" fill="hold">
                            <p:stCondLst>
                              <p:cond delay="1500"/>
                            </p:stCondLst>
                            <p:childTnLst>
                              <p:par>
                                <p:cTn id="31" presetID="22" presetClass="entr" presetSubtype="4" fill="hold" grpId="0" nodeType="after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down)">
                                      <p:cBhvr>
                                        <p:cTn id="33" dur="500"/>
                                        <p:tgtEl>
                                          <p:spTgt spid="9"/>
                                        </p:tgtEl>
                                      </p:cBhvr>
                                    </p:animEffect>
                                  </p:childTnLst>
                                </p:cTn>
                              </p:par>
                            </p:childTnLst>
                          </p:cTn>
                        </p:par>
                        <p:par>
                          <p:cTn id="34" fill="hold">
                            <p:stCondLst>
                              <p:cond delay="2000"/>
                            </p:stCondLst>
                            <p:childTnLst>
                              <p:par>
                                <p:cTn id="35" presetID="12" presetClass="entr" presetSubtype="4" fill="hold" grpId="0" nodeType="after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slide(fromBottom)">
                                      <p:cBhvr>
                                        <p:cTn id="37" dur="250"/>
                                        <p:tgtEl>
                                          <p:spTgt spid="13"/>
                                        </p:tgtEl>
                                      </p:cBhvr>
                                    </p:animEffect>
                                  </p:childTnLst>
                                </p:cTn>
                              </p:par>
                            </p:childTnLst>
                          </p:cTn>
                        </p:par>
                        <p:par>
                          <p:cTn id="38" fill="hold">
                            <p:stCondLst>
                              <p:cond delay="2500"/>
                            </p:stCondLst>
                            <p:childTnLst>
                              <p:par>
                                <p:cTn id="39" presetID="12" presetClass="entr" presetSubtype="4" fill="hold" grpId="0" nodeType="afterEffect">
                                  <p:stCondLst>
                                    <p:cond delay="0"/>
                                  </p:stCondLst>
                                  <p:childTnLst>
                                    <p:set>
                                      <p:cBhvr>
                                        <p:cTn id="40" dur="1" fill="hold">
                                          <p:stCondLst>
                                            <p:cond delay="0"/>
                                          </p:stCondLst>
                                        </p:cTn>
                                        <p:tgtEl>
                                          <p:spTgt spid="14"/>
                                        </p:tgtEl>
                                        <p:attrNameLst>
                                          <p:attrName>style.visibility</p:attrName>
                                        </p:attrNameLst>
                                      </p:cBhvr>
                                      <p:to>
                                        <p:strVal val="visible"/>
                                      </p:to>
                                    </p:set>
                                    <p:animEffect transition="in" filter="slide(fromBottom)">
                                      <p:cBhvr>
                                        <p:cTn id="41" dur="250"/>
                                        <p:tgtEl>
                                          <p:spTgt spid="14"/>
                                        </p:tgtEl>
                                      </p:cBhvr>
                                    </p:animEffect>
                                  </p:childTnLst>
                                </p:cTn>
                              </p:par>
                            </p:childTnLst>
                          </p:cTn>
                        </p:par>
                        <p:par>
                          <p:cTn id="42" fill="hold">
                            <p:stCondLst>
                              <p:cond delay="3000"/>
                            </p:stCondLst>
                            <p:childTnLst>
                              <p:par>
                                <p:cTn id="43" presetID="12" presetClass="entr" presetSubtype="4" fill="hold" grpId="0" nodeType="after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slide(fromBottom)">
                                      <p:cBhvr>
                                        <p:cTn id="45" dur="250"/>
                                        <p:tgtEl>
                                          <p:spTgt spid="15"/>
                                        </p:tgtEl>
                                      </p:cBhvr>
                                    </p:animEffect>
                                  </p:childTnLst>
                                </p:cTn>
                              </p:par>
                            </p:childTnLst>
                          </p:cTn>
                        </p:par>
                        <p:par>
                          <p:cTn id="46" fill="hold">
                            <p:stCondLst>
                              <p:cond delay="3500"/>
                            </p:stCondLst>
                            <p:childTnLst>
                              <p:par>
                                <p:cTn id="47" presetID="12" presetClass="entr" presetSubtype="4" fill="hold" grpId="0" nodeType="afterEffect">
                                  <p:stCondLst>
                                    <p:cond delay="0"/>
                                  </p:stCondLst>
                                  <p:childTnLst>
                                    <p:set>
                                      <p:cBhvr>
                                        <p:cTn id="48" dur="1" fill="hold">
                                          <p:stCondLst>
                                            <p:cond delay="0"/>
                                          </p:stCondLst>
                                        </p:cTn>
                                        <p:tgtEl>
                                          <p:spTgt spid="16"/>
                                        </p:tgtEl>
                                        <p:attrNameLst>
                                          <p:attrName>style.visibility</p:attrName>
                                        </p:attrNameLst>
                                      </p:cBhvr>
                                      <p:to>
                                        <p:strVal val="visible"/>
                                      </p:to>
                                    </p:set>
                                    <p:animEffect transition="in" filter="slide(fromBottom)">
                                      <p:cBhvr>
                                        <p:cTn id="49" dur="250"/>
                                        <p:tgtEl>
                                          <p:spTgt spid="16"/>
                                        </p:tgtEl>
                                      </p:cBhvr>
                                    </p:animEffect>
                                  </p:childTnLst>
                                </p:cTn>
                              </p:par>
                            </p:childTnLst>
                          </p:cTn>
                        </p:par>
                        <p:par>
                          <p:cTn id="50" fill="hold">
                            <p:stCondLst>
                              <p:cond delay="4000"/>
                            </p:stCondLst>
                            <p:childTnLst>
                              <p:par>
                                <p:cTn id="51" presetID="52" presetClass="entr" presetSubtype="0" fill="hold" grpId="0" nodeType="afterEffect">
                                  <p:stCondLst>
                                    <p:cond delay="0"/>
                                  </p:stCondLst>
                                  <p:childTnLst>
                                    <p:set>
                                      <p:cBhvr>
                                        <p:cTn id="52" dur="1" fill="hold">
                                          <p:stCondLst>
                                            <p:cond delay="0"/>
                                          </p:stCondLst>
                                        </p:cTn>
                                        <p:tgtEl>
                                          <p:spTgt spid="12"/>
                                        </p:tgtEl>
                                        <p:attrNameLst>
                                          <p:attrName>style.visibility</p:attrName>
                                        </p:attrNameLst>
                                      </p:cBhvr>
                                      <p:to>
                                        <p:strVal val="visible"/>
                                      </p:to>
                                    </p:set>
                                    <p:animScale>
                                      <p:cBhvr>
                                        <p:cTn id="53" dur="1000" decel="50000" fill="hold">
                                          <p:stCondLst>
                                            <p:cond delay="0"/>
                                          </p:stCondLst>
                                        </p:cTn>
                                        <p:tgtEl>
                                          <p:spTgt spid="12"/>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4" dur="1000" decel="50000" fill="hold">
                                          <p:stCondLst>
                                            <p:cond delay="0"/>
                                          </p:stCondLst>
                                        </p:cTn>
                                        <p:tgtEl>
                                          <p:spTgt spid="12"/>
                                        </p:tgtEl>
                                        <p:attrNameLst>
                                          <p:attrName>ppt_x</p:attrName>
                                          <p:attrName>ppt_y</p:attrName>
                                        </p:attrNameLst>
                                      </p:cBhvr>
                                    </p:animMotion>
                                    <p:animEffect transition="in" filter="fade">
                                      <p:cBhvr>
                                        <p:cTn id="55" dur="1000"/>
                                        <p:tgtEl>
                                          <p:spTgt spid="12"/>
                                        </p:tgtEl>
                                      </p:cBhvr>
                                    </p:animEffect>
                                  </p:childTnLst>
                                </p:cTn>
                              </p:par>
                              <p:par>
                                <p:cTn id="56" presetID="52" presetClass="entr" presetSubtype="0" fill="hold" grpId="0" nodeType="withEffect">
                                  <p:stCondLst>
                                    <p:cond delay="250"/>
                                  </p:stCondLst>
                                  <p:childTnLst>
                                    <p:set>
                                      <p:cBhvr>
                                        <p:cTn id="57" dur="1" fill="hold">
                                          <p:stCondLst>
                                            <p:cond delay="0"/>
                                          </p:stCondLst>
                                        </p:cTn>
                                        <p:tgtEl>
                                          <p:spTgt spid="18"/>
                                        </p:tgtEl>
                                        <p:attrNameLst>
                                          <p:attrName>style.visibility</p:attrName>
                                        </p:attrNameLst>
                                      </p:cBhvr>
                                      <p:to>
                                        <p:strVal val="visible"/>
                                      </p:to>
                                    </p:set>
                                    <p:animScale>
                                      <p:cBhvr>
                                        <p:cTn id="58" dur="1000" decel="50000" fill="hold">
                                          <p:stCondLst>
                                            <p:cond delay="0"/>
                                          </p:stCondLst>
                                        </p:cTn>
                                        <p:tgtEl>
                                          <p:spTgt spid="18"/>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59" dur="1000" decel="50000" fill="hold">
                                          <p:stCondLst>
                                            <p:cond delay="0"/>
                                          </p:stCondLst>
                                        </p:cTn>
                                        <p:tgtEl>
                                          <p:spTgt spid="18"/>
                                        </p:tgtEl>
                                        <p:attrNameLst>
                                          <p:attrName>ppt_x</p:attrName>
                                          <p:attrName>ppt_y</p:attrName>
                                        </p:attrNameLst>
                                      </p:cBhvr>
                                    </p:animMotion>
                                    <p:animEffect transition="in" filter="fade">
                                      <p:cBhvr>
                                        <p:cTn id="60" dur="1000"/>
                                        <p:tgtEl>
                                          <p:spTgt spid="18"/>
                                        </p:tgtEl>
                                      </p:cBhvr>
                                    </p:animEffect>
                                  </p:childTnLst>
                                </p:cTn>
                              </p:par>
                              <p:par>
                                <p:cTn id="61" presetID="52" presetClass="entr" presetSubtype="0" fill="hold" grpId="0" nodeType="withEffect">
                                  <p:stCondLst>
                                    <p:cond delay="500"/>
                                  </p:stCondLst>
                                  <p:childTnLst>
                                    <p:set>
                                      <p:cBhvr>
                                        <p:cTn id="62" dur="1" fill="hold">
                                          <p:stCondLst>
                                            <p:cond delay="0"/>
                                          </p:stCondLst>
                                        </p:cTn>
                                        <p:tgtEl>
                                          <p:spTgt spid="19"/>
                                        </p:tgtEl>
                                        <p:attrNameLst>
                                          <p:attrName>style.visibility</p:attrName>
                                        </p:attrNameLst>
                                      </p:cBhvr>
                                      <p:to>
                                        <p:strVal val="visible"/>
                                      </p:to>
                                    </p:set>
                                    <p:animScale>
                                      <p:cBhvr>
                                        <p:cTn id="63" dur="1000" decel="50000" fill="hold">
                                          <p:stCondLst>
                                            <p:cond delay="0"/>
                                          </p:stCondLst>
                                        </p:cTn>
                                        <p:tgtEl>
                                          <p:spTgt spid="19"/>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4" dur="1000" decel="50000" fill="hold">
                                          <p:stCondLst>
                                            <p:cond delay="0"/>
                                          </p:stCondLst>
                                        </p:cTn>
                                        <p:tgtEl>
                                          <p:spTgt spid="19"/>
                                        </p:tgtEl>
                                        <p:attrNameLst>
                                          <p:attrName>ppt_x</p:attrName>
                                          <p:attrName>ppt_y</p:attrName>
                                        </p:attrNameLst>
                                      </p:cBhvr>
                                    </p:animMotion>
                                    <p:animEffect transition="in" filter="fade">
                                      <p:cBhvr>
                                        <p:cTn id="65" dur="1000"/>
                                        <p:tgtEl>
                                          <p:spTgt spid="19"/>
                                        </p:tgtEl>
                                      </p:cBhvr>
                                    </p:animEffect>
                                  </p:childTnLst>
                                </p:cTn>
                              </p:par>
                              <p:par>
                                <p:cTn id="66" presetID="52" presetClass="entr" presetSubtype="0" fill="hold" grpId="0" nodeType="withEffect">
                                  <p:stCondLst>
                                    <p:cond delay="750"/>
                                  </p:stCondLst>
                                  <p:childTnLst>
                                    <p:set>
                                      <p:cBhvr>
                                        <p:cTn id="67" dur="1" fill="hold">
                                          <p:stCondLst>
                                            <p:cond delay="0"/>
                                          </p:stCondLst>
                                        </p:cTn>
                                        <p:tgtEl>
                                          <p:spTgt spid="17"/>
                                        </p:tgtEl>
                                        <p:attrNameLst>
                                          <p:attrName>style.visibility</p:attrName>
                                        </p:attrNameLst>
                                      </p:cBhvr>
                                      <p:to>
                                        <p:strVal val="visible"/>
                                      </p:to>
                                    </p:set>
                                    <p:animScale>
                                      <p:cBhvr>
                                        <p:cTn id="68" dur="1000" decel="50000" fill="hold">
                                          <p:stCondLst>
                                            <p:cond delay="0"/>
                                          </p:stCondLst>
                                        </p:cTn>
                                        <p:tgtEl>
                                          <p:spTgt spid="17"/>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69" dur="1000" decel="50000" fill="hold">
                                          <p:stCondLst>
                                            <p:cond delay="0"/>
                                          </p:stCondLst>
                                        </p:cTn>
                                        <p:tgtEl>
                                          <p:spTgt spid="17"/>
                                        </p:tgtEl>
                                        <p:attrNameLst>
                                          <p:attrName>ppt_x</p:attrName>
                                          <p:attrName>ppt_y</p:attrName>
                                        </p:attrNameLst>
                                      </p:cBhvr>
                                    </p:animMotion>
                                    <p:animEffect transition="in" filter="fade">
                                      <p:cBhvr>
                                        <p:cTn id="70" dur="1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9" grpId="0" animBg="1"/>
      <p:bldP spid="11" grpId="0"/>
      <p:bldP spid="12" grpId="0"/>
      <p:bldP spid="13" grpId="0" animBg="1"/>
      <p:bldP spid="14" grpId="0" animBg="1"/>
      <p:bldP spid="15" grpId="0" animBg="1"/>
      <p:bldP spid="16" grpId="0" animBg="1"/>
      <p:bldP spid="17" grpId="0"/>
      <p:bldP spid="18" grpId="0"/>
      <p:bldP spid="1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4" name="TextBox 3"/>
          <p:cNvSpPr txBox="1"/>
          <p:nvPr/>
        </p:nvSpPr>
        <p:spPr>
          <a:xfrm>
            <a:off x="2740050" y="2118370"/>
            <a:ext cx="5059610"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研究背景与意义</a:t>
            </a:r>
            <a:endParaRPr lang="zh-CN" altLang="zh-CN" sz="4800" dirty="0">
              <a:solidFill>
                <a:schemeClr val="bg1"/>
              </a:solidFill>
              <a:latin typeface="微软雅黑" panose="020B0503020204020204" pitchFamily="34" charset="-122"/>
              <a:ea typeface="微软雅黑" panose="020B0503020204020204" pitchFamily="34" charset="-122"/>
            </a:endParaRPr>
          </a:p>
        </p:txBody>
      </p:sp>
      <p:sp>
        <p:nvSpPr>
          <p:cNvPr id="5" name="泪滴形 4"/>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1</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3000">
        <p14:prism/>
      </p:transition>
    </mc:Choice>
    <mc:Fallback xmlns="">
      <p:transition spd="slow" advClick="0" advTm="3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1+#ppt_w/2"/>
                                          </p:val>
                                        </p:tav>
                                        <p:tav tm="100000">
                                          <p:val>
                                            <p:strVal val="#ppt_x"/>
                                          </p:val>
                                        </p:tav>
                                      </p:tavLst>
                                    </p:anim>
                                    <p:anim calcmode="lin" valueType="num">
                                      <p:cBhvr additive="base">
                                        <p:cTn id="8" dur="500" fill="hold"/>
                                        <p:tgtEl>
                                          <p:spTgt spid="5"/>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500" fill="hold"/>
                                        <p:tgtEl>
                                          <p:spTgt spid="6"/>
                                        </p:tgtEl>
                                        <p:attrNameLst>
                                          <p:attrName>ppt_x</p:attrName>
                                        </p:attrNameLst>
                                      </p:cBhvr>
                                      <p:tavLst>
                                        <p:tav tm="0">
                                          <p:val>
                                            <p:strVal val="1+#ppt_w/2"/>
                                          </p:val>
                                        </p:tav>
                                        <p:tav tm="100000">
                                          <p:val>
                                            <p:strVal val="#ppt_x"/>
                                          </p:val>
                                        </p:tav>
                                      </p:tavLst>
                                    </p:anim>
                                    <p:anim calcmode="lin" valueType="num">
                                      <p:cBhvr additive="base">
                                        <p:cTn id="13" dur="5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4"/>
                                        </p:tgtEl>
                                        <p:attrNameLst>
                                          <p:attrName>style.visibility</p:attrName>
                                        </p:attrNameLst>
                                      </p:cBhvr>
                                      <p:to>
                                        <p:strVal val="visible"/>
                                      </p:to>
                                    </p:set>
                                    <p:anim calcmode="lin" valueType="num">
                                      <p:cBhvr>
                                        <p:cTn id="17" dur="500" fill="hold"/>
                                        <p:tgtEl>
                                          <p:spTgt spid="4"/>
                                        </p:tgtEl>
                                        <p:attrNameLst>
                                          <p:attrName>ppt_w</p:attrName>
                                        </p:attrNameLst>
                                      </p:cBhvr>
                                      <p:tavLst>
                                        <p:tav tm="0">
                                          <p:val>
                                            <p:fltVal val="0"/>
                                          </p:val>
                                        </p:tav>
                                        <p:tav tm="100000">
                                          <p:val>
                                            <p:strVal val="#ppt_w"/>
                                          </p:val>
                                        </p:tav>
                                      </p:tavLst>
                                    </p:anim>
                                    <p:anim calcmode="lin" valueType="num">
                                      <p:cBhvr>
                                        <p:cTn id="18" dur="500" fill="hold"/>
                                        <p:tgtEl>
                                          <p:spTgt spid="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4"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研究背景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与意义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Freeform 1075"/>
          <p:cNvSpPr/>
          <p:nvPr/>
        </p:nvSpPr>
        <p:spPr bwMode="auto">
          <a:xfrm>
            <a:off x="1297378" y="1056127"/>
            <a:ext cx="2101410" cy="1436792"/>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8"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5737813" y="1056127"/>
            <a:ext cx="2216124" cy="1449810"/>
          </a:xfrm>
          <a:prstGeom prst="rect">
            <a:avLst/>
          </a:prstGeom>
          <a:noFill/>
          <a:extLst>
            <a:ext uri="{909E8E84-426E-40DD-AFC4-6F175D3DCCD1}">
              <a14:hiddenFill xmlns:a14="http://schemas.microsoft.com/office/drawing/2010/main">
                <a:solidFill>
                  <a:srgbClr val="FFFFFF"/>
                </a:solidFill>
              </a14:hiddenFill>
            </a:ext>
          </a:extLst>
        </p:spPr>
      </p:pic>
      <p:pic>
        <p:nvPicPr>
          <p:cNvPr id="9"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491880" y="1056159"/>
            <a:ext cx="2179258" cy="1436795"/>
          </a:xfrm>
          <a:prstGeom prst="rect">
            <a:avLst/>
          </a:prstGeom>
          <a:noFill/>
          <a:extLst>
            <a:ext uri="{909E8E84-426E-40DD-AFC4-6F175D3DCCD1}">
              <a14:hiddenFill xmlns:a14="http://schemas.microsoft.com/office/drawing/2010/main">
                <a:solidFill>
                  <a:srgbClr val="FFFFFF"/>
                </a:solidFill>
              </a14:hiddenFill>
            </a:ext>
          </a:extLst>
        </p:spPr>
      </p:pic>
      <p:cxnSp>
        <p:nvCxnSpPr>
          <p:cNvPr id="11" name="直接连接符 10"/>
          <p:cNvCxnSpPr/>
          <p:nvPr/>
        </p:nvCxnSpPr>
        <p:spPr>
          <a:xfrm>
            <a:off x="1297378" y="2559943"/>
            <a:ext cx="6656559" cy="0"/>
          </a:xfrm>
          <a:prstGeom prst="line">
            <a:avLst/>
          </a:prstGeom>
          <a:ln>
            <a:solidFill>
              <a:schemeClr val="tx2">
                <a:lumMod val="50000"/>
              </a:schemeClr>
            </a:solidFill>
          </a:ln>
        </p:spPr>
        <p:style>
          <a:lnRef idx="1">
            <a:schemeClr val="accent1"/>
          </a:lnRef>
          <a:fillRef idx="0">
            <a:schemeClr val="accent1"/>
          </a:fillRef>
          <a:effectRef idx="0">
            <a:schemeClr val="accent1"/>
          </a:effectRef>
          <a:fontRef idx="minor">
            <a:schemeClr val="tx1"/>
          </a:fontRef>
        </p:style>
      </p:cxnSp>
      <p:sp>
        <p:nvSpPr>
          <p:cNvPr id="12" name="TextBox 11"/>
          <p:cNvSpPr txBox="1"/>
          <p:nvPr/>
        </p:nvSpPr>
        <p:spPr>
          <a:xfrm>
            <a:off x="1131895" y="2636143"/>
            <a:ext cx="1305289" cy="400110"/>
          </a:xfrm>
          <a:prstGeom prst="rect">
            <a:avLst/>
          </a:prstGeom>
          <a:noFill/>
        </p:spPr>
        <p:txBody>
          <a:bodyPr vert="horz" wrap="square" rtlCol="0">
            <a:spAutoFit/>
          </a:bodyPr>
          <a:lstStyle/>
          <a:p>
            <a:pPr algn="ctr" fontAlgn="b"/>
            <a:r>
              <a:rPr lang="zh-CN" altLang="zh-CN" sz="2000" b="1" dirty="0">
                <a:solidFill>
                  <a:schemeClr val="tx2">
                    <a:lumMod val="75000"/>
                  </a:schemeClr>
                </a:solidFill>
                <a:latin typeface="微软雅黑" panose="020B0503020204020204" pitchFamily="34" charset="-122"/>
                <a:ea typeface="微软雅黑" panose="020B0503020204020204" pitchFamily="34" charset="-122"/>
              </a:rPr>
              <a:t>GNSS-RO 技术背景</a:t>
            </a:r>
          </a:p>
        </p:txBody>
      </p:sp>
      <p:sp>
        <p:nvSpPr>
          <p:cNvPr id="13" name="TextBox 12"/>
          <p:cNvSpPr txBox="1"/>
          <p:nvPr/>
        </p:nvSpPr>
        <p:spPr>
          <a:xfrm>
            <a:off x="1187624" y="3000375"/>
            <a:ext cx="6912768" cy="1932940"/>
          </a:xfrm>
          <a:prstGeom prst="rect">
            <a:avLst/>
          </a:prstGeom>
          <a:noFill/>
        </p:spPr>
        <p:txBody>
          <a:bodyPr wrap="square" rtlCol="0">
            <a:spAutoFit/>
          </a:bodyPr>
          <a:lstStyle/>
          <a:p>
            <a:pPr algn="just"/>
            <a:r>
              <a:rPr lang="zh-CN" altLang="en-US" sz="1200" kern="0" dirty="0">
                <a:solidFill>
                  <a:srgbClr val="EEECE1">
                    <a:lumMod val="10000"/>
                  </a:srgbClr>
                </a:solidFill>
                <a:latin typeface="微软雅黑" panose="020B0503020204020204" pitchFamily="34" charset="-122"/>
                <a:ea typeface="微软雅黑" panose="020B0503020204020204" pitchFamily="34" charset="-122"/>
                <a:sym typeface="+mn-ea"/>
              </a:rPr>
              <a:t>GNSS无线电掩星（Radio Occultation）是一种利用GPS/GNSS信号穿过大气层时发生折射来探测大气垂直结构的遥感技术。当卫星信号穿过大气层时，由于大气折射率的变化，信号路径会发生弯曲，通过测量这种弯曲角可以反演出大气的温度、气压和湿度剖面。COSMIC-2星座是目前最先进的掩星观测系统，每天可提供约5000个高质量的大气剖面观测。传统的反演方法（如Abel变换、1D-Var）在处理复杂大气条件时存在局限性，难以充分利用观测数据中的非线性信息。深度学习方法为解决这一问题提供了新的思路。</a:t>
            </a:r>
            <a:endParaRPr lang="zh-CN" altLang="en-US" sz="1200" dirty="0">
              <a:latin typeface="微软雅黑" panose="020B0503020204020204" pitchFamily="34" charset="-122"/>
              <a:ea typeface="微软雅黑" panose="020B0503020204020204" pitchFamily="34" charset="-122"/>
            </a:endParaRPr>
          </a:p>
          <a:p>
            <a:pPr algn="just"/>
            <a:endParaRPr lang="zh-CN" altLang="en-US" sz="1200" dirty="0">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5" presetClass="entr" presetSubtype="0" fill="hold" grpId="0" nodeType="after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1000" fill="hold"/>
                                        <p:tgtEl>
                                          <p:spTgt spid="7"/>
                                        </p:tgtEl>
                                        <p:attrNameLst>
                                          <p:attrName>ppt_w</p:attrName>
                                        </p:attrNameLst>
                                      </p:cBhvr>
                                      <p:tavLst>
                                        <p:tav tm="0">
                                          <p:val>
                                            <p:fltVal val="0"/>
                                          </p:val>
                                        </p:tav>
                                        <p:tav tm="100000">
                                          <p:val>
                                            <p:strVal val="#ppt_w"/>
                                          </p:val>
                                        </p:tav>
                                      </p:tavLst>
                                    </p:anim>
                                    <p:anim calcmode="lin" valueType="num">
                                      <p:cBhvr>
                                        <p:cTn id="8" dur="1000" fill="hold"/>
                                        <p:tgtEl>
                                          <p:spTgt spid="7"/>
                                        </p:tgtEl>
                                        <p:attrNameLst>
                                          <p:attrName>ppt_h</p:attrName>
                                        </p:attrNameLst>
                                      </p:cBhvr>
                                      <p:tavLst>
                                        <p:tav tm="0">
                                          <p:val>
                                            <p:fltVal val="0"/>
                                          </p:val>
                                        </p:tav>
                                        <p:tav tm="100000">
                                          <p:val>
                                            <p:strVal val="#ppt_h"/>
                                          </p:val>
                                        </p:tav>
                                      </p:tavLst>
                                    </p:anim>
                                    <p:anim calcmode="lin" valueType="num">
                                      <p:cBhvr>
                                        <p:cTn id="9" dur="1000" fill="hold"/>
                                        <p:tgtEl>
                                          <p:spTgt spid="7"/>
                                        </p:tgtEl>
                                        <p:attrNameLst>
                                          <p:attrName>ppt_x</p:attrName>
                                        </p:attrNameLst>
                                      </p:cBhvr>
                                      <p:tavLst>
                                        <p:tav tm="0" fmla="#ppt_x+(cos(-2*pi*(1-$))*-#ppt_x-sin(-2*pi*(1-$))*(1-#ppt_y))*(1-$)">
                                          <p:val>
                                            <p:fltVal val="0"/>
                                          </p:val>
                                        </p:tav>
                                        <p:tav tm="100000">
                                          <p:val>
                                            <p:fltVal val="1"/>
                                          </p:val>
                                        </p:tav>
                                      </p:tavLst>
                                    </p:anim>
                                    <p:anim calcmode="lin" valueType="num">
                                      <p:cBhvr>
                                        <p:cTn id="10" dur="1000" fill="hold"/>
                                        <p:tgtEl>
                                          <p:spTgt spid="7"/>
                                        </p:tgtEl>
                                        <p:attrNameLst>
                                          <p:attrName>ppt_y</p:attrName>
                                        </p:attrNameLst>
                                      </p:cBhvr>
                                      <p:tavLst>
                                        <p:tav tm="0" fmla="#ppt_y+(sin(-2*pi*(1-$))*-#ppt_x+cos(-2*pi*(1-$))*(1-#ppt_y))*(1-$)">
                                          <p:val>
                                            <p:fltVal val="0"/>
                                          </p:val>
                                        </p:tav>
                                        <p:tav tm="100000">
                                          <p:val>
                                            <p:fltVal val="1"/>
                                          </p:val>
                                        </p:tav>
                                      </p:tavLst>
                                    </p:anim>
                                  </p:childTnLst>
                                </p:cTn>
                              </p:par>
                              <p:par>
                                <p:cTn id="11" presetID="15" presetClass="entr" presetSubtype="0" fill="hold" nodeType="withEffect">
                                  <p:stCondLst>
                                    <p:cond delay="250"/>
                                  </p:stCondLst>
                                  <p:childTnLst>
                                    <p:set>
                                      <p:cBhvr>
                                        <p:cTn id="12" dur="1" fill="hold">
                                          <p:stCondLst>
                                            <p:cond delay="0"/>
                                          </p:stCondLst>
                                        </p:cTn>
                                        <p:tgtEl>
                                          <p:spTgt spid="9"/>
                                        </p:tgtEl>
                                        <p:attrNameLst>
                                          <p:attrName>style.visibility</p:attrName>
                                        </p:attrNameLst>
                                      </p:cBhvr>
                                      <p:to>
                                        <p:strVal val="visible"/>
                                      </p:to>
                                    </p:set>
                                    <p:anim calcmode="lin" valueType="num">
                                      <p:cBhvr>
                                        <p:cTn id="13" dur="1000" fill="hold"/>
                                        <p:tgtEl>
                                          <p:spTgt spid="9"/>
                                        </p:tgtEl>
                                        <p:attrNameLst>
                                          <p:attrName>ppt_w</p:attrName>
                                        </p:attrNameLst>
                                      </p:cBhvr>
                                      <p:tavLst>
                                        <p:tav tm="0">
                                          <p:val>
                                            <p:fltVal val="0"/>
                                          </p:val>
                                        </p:tav>
                                        <p:tav tm="100000">
                                          <p:val>
                                            <p:strVal val="#ppt_w"/>
                                          </p:val>
                                        </p:tav>
                                      </p:tavLst>
                                    </p:anim>
                                    <p:anim calcmode="lin" valueType="num">
                                      <p:cBhvr>
                                        <p:cTn id="14" dur="1000" fill="hold"/>
                                        <p:tgtEl>
                                          <p:spTgt spid="9"/>
                                        </p:tgtEl>
                                        <p:attrNameLst>
                                          <p:attrName>ppt_h</p:attrName>
                                        </p:attrNameLst>
                                      </p:cBhvr>
                                      <p:tavLst>
                                        <p:tav tm="0">
                                          <p:val>
                                            <p:fltVal val="0"/>
                                          </p:val>
                                        </p:tav>
                                        <p:tav tm="100000">
                                          <p:val>
                                            <p:strVal val="#ppt_h"/>
                                          </p:val>
                                        </p:tav>
                                      </p:tavLst>
                                    </p:anim>
                                    <p:anim calcmode="lin" valueType="num">
                                      <p:cBhvr>
                                        <p:cTn id="15" dur="1000" fill="hold"/>
                                        <p:tgtEl>
                                          <p:spTgt spid="9"/>
                                        </p:tgtEl>
                                        <p:attrNameLst>
                                          <p:attrName>ppt_x</p:attrName>
                                        </p:attrNameLst>
                                      </p:cBhvr>
                                      <p:tavLst>
                                        <p:tav tm="0" fmla="#ppt_x+(cos(-2*pi*(1-$))*-#ppt_x-sin(-2*pi*(1-$))*(1-#ppt_y))*(1-$)">
                                          <p:val>
                                            <p:fltVal val="0"/>
                                          </p:val>
                                        </p:tav>
                                        <p:tav tm="100000">
                                          <p:val>
                                            <p:fltVal val="1"/>
                                          </p:val>
                                        </p:tav>
                                      </p:tavLst>
                                    </p:anim>
                                    <p:anim calcmode="lin" valueType="num">
                                      <p:cBhvr>
                                        <p:cTn id="16" dur="1000" fill="hold"/>
                                        <p:tgtEl>
                                          <p:spTgt spid="9"/>
                                        </p:tgtEl>
                                        <p:attrNameLst>
                                          <p:attrName>ppt_y</p:attrName>
                                        </p:attrNameLst>
                                      </p:cBhvr>
                                      <p:tavLst>
                                        <p:tav tm="0" fmla="#ppt_y+(sin(-2*pi*(1-$))*-#ppt_x+cos(-2*pi*(1-$))*(1-#ppt_y))*(1-$)">
                                          <p:val>
                                            <p:fltVal val="0"/>
                                          </p:val>
                                        </p:tav>
                                        <p:tav tm="100000">
                                          <p:val>
                                            <p:fltVal val="1"/>
                                          </p:val>
                                        </p:tav>
                                      </p:tavLst>
                                    </p:anim>
                                  </p:childTnLst>
                                </p:cTn>
                              </p:par>
                              <p:par>
                                <p:cTn id="17" presetID="15" presetClass="entr" presetSubtype="0" fill="hold" nodeType="withEffect">
                                  <p:stCondLst>
                                    <p:cond delay="500"/>
                                  </p:stCondLst>
                                  <p:childTnLst>
                                    <p:set>
                                      <p:cBhvr>
                                        <p:cTn id="18" dur="1" fill="hold">
                                          <p:stCondLst>
                                            <p:cond delay="0"/>
                                          </p:stCondLst>
                                        </p:cTn>
                                        <p:tgtEl>
                                          <p:spTgt spid="8"/>
                                        </p:tgtEl>
                                        <p:attrNameLst>
                                          <p:attrName>style.visibility</p:attrName>
                                        </p:attrNameLst>
                                      </p:cBhvr>
                                      <p:to>
                                        <p:strVal val="visible"/>
                                      </p:to>
                                    </p:set>
                                    <p:anim calcmode="lin" valueType="num">
                                      <p:cBhvr>
                                        <p:cTn id="19" dur="1000" fill="hold"/>
                                        <p:tgtEl>
                                          <p:spTgt spid="8"/>
                                        </p:tgtEl>
                                        <p:attrNameLst>
                                          <p:attrName>ppt_w</p:attrName>
                                        </p:attrNameLst>
                                      </p:cBhvr>
                                      <p:tavLst>
                                        <p:tav tm="0">
                                          <p:val>
                                            <p:fltVal val="0"/>
                                          </p:val>
                                        </p:tav>
                                        <p:tav tm="100000">
                                          <p:val>
                                            <p:strVal val="#ppt_w"/>
                                          </p:val>
                                        </p:tav>
                                      </p:tavLst>
                                    </p:anim>
                                    <p:anim calcmode="lin" valueType="num">
                                      <p:cBhvr>
                                        <p:cTn id="20" dur="1000" fill="hold"/>
                                        <p:tgtEl>
                                          <p:spTgt spid="8"/>
                                        </p:tgtEl>
                                        <p:attrNameLst>
                                          <p:attrName>ppt_h</p:attrName>
                                        </p:attrNameLst>
                                      </p:cBhvr>
                                      <p:tavLst>
                                        <p:tav tm="0">
                                          <p:val>
                                            <p:fltVal val="0"/>
                                          </p:val>
                                        </p:tav>
                                        <p:tav tm="100000">
                                          <p:val>
                                            <p:strVal val="#ppt_h"/>
                                          </p:val>
                                        </p:tav>
                                      </p:tavLst>
                                    </p:anim>
                                    <p:anim calcmode="lin" valueType="num">
                                      <p:cBhvr>
                                        <p:cTn id="21" dur="1000" fill="hold"/>
                                        <p:tgtEl>
                                          <p:spTgt spid="8"/>
                                        </p:tgtEl>
                                        <p:attrNameLst>
                                          <p:attrName>ppt_x</p:attrName>
                                        </p:attrNameLst>
                                      </p:cBhvr>
                                      <p:tavLst>
                                        <p:tav tm="0" fmla="#ppt_x+(cos(-2*pi*(1-$))*-#ppt_x-sin(-2*pi*(1-$))*(1-#ppt_y))*(1-$)">
                                          <p:val>
                                            <p:fltVal val="0"/>
                                          </p:val>
                                        </p:tav>
                                        <p:tav tm="100000">
                                          <p:val>
                                            <p:fltVal val="1"/>
                                          </p:val>
                                        </p:tav>
                                      </p:tavLst>
                                    </p:anim>
                                    <p:anim calcmode="lin" valueType="num">
                                      <p:cBhvr>
                                        <p:cTn id="22" dur="1000" fill="hold"/>
                                        <p:tgtEl>
                                          <p:spTgt spid="8"/>
                                        </p:tgtEl>
                                        <p:attrNameLst>
                                          <p:attrName>ppt_y</p:attrName>
                                        </p:attrNameLst>
                                      </p:cBhvr>
                                      <p:tavLst>
                                        <p:tav tm="0" fmla="#ppt_y+(sin(-2*pi*(1-$))*-#ppt_x+cos(-2*pi*(1-$))*(1-#ppt_y))*(1-$)">
                                          <p:val>
                                            <p:fltVal val="0"/>
                                          </p:val>
                                        </p:tav>
                                        <p:tav tm="100000">
                                          <p:val>
                                            <p:fltVal val="1"/>
                                          </p:val>
                                        </p:tav>
                                      </p:tavLst>
                                    </p:anim>
                                  </p:childTnLst>
                                </p:cTn>
                              </p:par>
                            </p:childTnLst>
                          </p:cTn>
                        </p:par>
                        <p:par>
                          <p:cTn id="23" fill="hold">
                            <p:stCondLst>
                              <p:cond delay="1000"/>
                            </p:stCondLst>
                            <p:childTnLst>
                              <p:par>
                                <p:cTn id="24" presetID="22" presetClass="entr" presetSubtype="8" fill="hold"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wipe(left)">
                                      <p:cBhvr>
                                        <p:cTn id="26" dur="500"/>
                                        <p:tgtEl>
                                          <p:spTgt spid="11"/>
                                        </p:tgtEl>
                                      </p:cBhvr>
                                    </p:animEffect>
                                  </p:childTnLst>
                                </p:cTn>
                              </p:par>
                            </p:childTnLst>
                          </p:cTn>
                        </p:par>
                        <p:par>
                          <p:cTn id="27" fill="hold">
                            <p:stCondLst>
                              <p:cond delay="1500"/>
                            </p:stCondLst>
                            <p:childTnLst>
                              <p:par>
                                <p:cTn id="28" presetID="45"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1250"/>
                                        <p:tgtEl>
                                          <p:spTgt spid="12"/>
                                        </p:tgtEl>
                                      </p:cBhvr>
                                    </p:animEffect>
                                    <p:anim calcmode="lin" valueType="num">
                                      <p:cBhvr>
                                        <p:cTn id="31" dur="1250" fill="hold"/>
                                        <p:tgtEl>
                                          <p:spTgt spid="12"/>
                                        </p:tgtEl>
                                        <p:attrNameLst>
                                          <p:attrName>ppt_w</p:attrName>
                                        </p:attrNameLst>
                                      </p:cBhvr>
                                      <p:tavLst>
                                        <p:tav tm="0" fmla="#ppt_w*sin(2.5*pi*$)">
                                          <p:val>
                                            <p:fltVal val="0"/>
                                          </p:val>
                                        </p:tav>
                                        <p:tav tm="100000">
                                          <p:val>
                                            <p:fltVal val="1"/>
                                          </p:val>
                                        </p:tav>
                                      </p:tavLst>
                                    </p:anim>
                                    <p:anim calcmode="lin" valueType="num">
                                      <p:cBhvr>
                                        <p:cTn id="32" dur="1250" fill="hold"/>
                                        <p:tgtEl>
                                          <p:spTgt spid="12"/>
                                        </p:tgtEl>
                                        <p:attrNameLst>
                                          <p:attrName>ppt_h</p:attrName>
                                        </p:attrNameLst>
                                      </p:cBhvr>
                                      <p:tavLst>
                                        <p:tav tm="0">
                                          <p:val>
                                            <p:strVal val="#ppt_h"/>
                                          </p:val>
                                        </p:tav>
                                        <p:tav tm="100000">
                                          <p:val>
                                            <p:strVal val="#ppt_h"/>
                                          </p:val>
                                        </p:tav>
                                      </p:tavLst>
                                    </p:anim>
                                  </p:childTnLst>
                                </p:cTn>
                              </p:par>
                            </p:childTnLst>
                          </p:cTn>
                        </p:par>
                        <p:par>
                          <p:cTn id="33" fill="hold">
                            <p:stCondLst>
                              <p:cond delay="3000"/>
                            </p:stCondLst>
                            <p:childTnLst>
                              <p:par>
                                <p:cTn id="34" presetID="52" presetClass="entr" presetSubtype="0" fill="hold" grpId="0" nodeType="afterEffect">
                                  <p:stCondLst>
                                    <p:cond delay="0"/>
                                  </p:stCondLst>
                                  <p:childTnLst>
                                    <p:set>
                                      <p:cBhvr>
                                        <p:cTn id="35" dur="1" fill="hold">
                                          <p:stCondLst>
                                            <p:cond delay="0"/>
                                          </p:stCondLst>
                                        </p:cTn>
                                        <p:tgtEl>
                                          <p:spTgt spid="13"/>
                                        </p:tgtEl>
                                        <p:attrNameLst>
                                          <p:attrName>style.visibility</p:attrName>
                                        </p:attrNameLst>
                                      </p:cBhvr>
                                      <p:to>
                                        <p:strVal val="visible"/>
                                      </p:to>
                                    </p:set>
                                    <p:animScale>
                                      <p:cBhvr>
                                        <p:cTn id="36" dur="1000" decel="50000" fill="hold">
                                          <p:stCondLst>
                                            <p:cond delay="0"/>
                                          </p:stCondLst>
                                        </p:cTn>
                                        <p:tgtEl>
                                          <p:spTgt spid="13"/>
                                        </p:tgtEl>
                                      </p:cBhvr>
                                      <p:from x="250000" y="250000"/>
                                      <p:to x="100000" y="100000"/>
                                    </p:animScale>
                                    <p:animMotion origin="layout" path="M -0.46736 0.92887  C -0.37517 0.88508  -0.02552 0.75279  0.0908 0.66613  C  0.20747 0.57948  0.21649 0.50394  0.23177 0.40825  C 0.24705 0.31256  0.22118 0.15964   0.18264 0.09152  C 0.1441 0.02341  0.03802 0.0  0.0 0.0  " pathEditMode="relative" ptsTypes="">
                                      <p:cBhvr>
                                        <p:cTn id="37" dur="1000" decel="50000" fill="hold">
                                          <p:stCondLst>
                                            <p:cond delay="0"/>
                                          </p:stCondLst>
                                        </p:cTn>
                                        <p:tgtEl>
                                          <p:spTgt spid="13"/>
                                        </p:tgtEl>
                                        <p:attrNameLst>
                                          <p:attrName>ppt_x</p:attrName>
                                          <p:attrName>ppt_y</p:attrName>
                                        </p:attrNameLst>
                                      </p:cBhvr>
                                    </p:animMotion>
                                    <p:animEffect transition="in" filter="fade">
                                      <p:cBhvr>
                                        <p:cTn id="38" dur="10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2" grpId="0"/>
      <p:bldP spid="1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6"/>
          <p:cNvGrpSpPr/>
          <p:nvPr/>
        </p:nvGrpSpPr>
        <p:grpSpPr>
          <a:xfrm>
            <a:off x="822477" y="3241498"/>
            <a:ext cx="3869460" cy="1612249"/>
            <a:chOff x="556555" y="4300761"/>
            <a:chExt cx="5030298" cy="2149665"/>
          </a:xfrm>
        </p:grpSpPr>
        <p:sp>
          <p:nvSpPr>
            <p:cNvPr id="5" name="Rounded Rectangle 11"/>
            <p:cNvSpPr/>
            <p:nvPr/>
          </p:nvSpPr>
          <p:spPr bwMode="auto">
            <a:xfrm>
              <a:off x="2697689" y="4300761"/>
              <a:ext cx="2889164" cy="2148861"/>
            </a:xfrm>
            <a:prstGeom prst="roundRect">
              <a:avLst>
                <a:gd name="adj" fmla="val 0"/>
              </a:avLst>
            </a:prstGeom>
            <a:solidFill>
              <a:schemeClr val="bg1">
                <a:lumMod val="50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6" name="Rectangle 41"/>
            <p:cNvSpPr/>
            <p:nvPr/>
          </p:nvSpPr>
          <p:spPr>
            <a:xfrm>
              <a:off x="3103722" y="4946613"/>
              <a:ext cx="2149854" cy="615553"/>
            </a:xfrm>
            <a:prstGeom prst="rect">
              <a:avLst/>
            </a:prstGeom>
          </p:spPr>
          <p:txBody>
            <a:bodyPr wrap="square">
              <a:spAutoFit/>
            </a:bodyPr>
            <a:lstStyle/>
            <a:p>
              <a:pPr lvl="0" defTabSz="685165" fontAlgn="auto">
                <a:spcBef>
                  <a:spcPts val="0"/>
                </a:spcBef>
                <a:spcAft>
                  <a:spcPts val="0"/>
                </a:spcAft>
                <a:defRPr/>
              </a:pPr>
              <a:r>
                <a:rPr lang="zh-CN" altLang="en-US" sz="2400" kern="0" dirty="0">
                  <a:solidFill>
                    <a:srgbClr val="FFFFFF"/>
                  </a:solidFill>
                  <a:latin typeface="微软雅黑" panose="020B0503020204020204" pitchFamily="34" charset="-122"/>
                  <a:ea typeface="微软雅黑" panose="020B0503020204020204" pitchFamily="34" charset="-122"/>
                </a:rPr>
                <a:t>应用价值</a:t>
              </a:r>
              <a:endParaRPr lang="en-US" altLang="zh-CN" sz="2400" kern="0" dirty="0">
                <a:solidFill>
                  <a:srgbClr val="FFFFFF"/>
                </a:solidFill>
                <a:latin typeface="微软雅黑" panose="020B0503020204020204" pitchFamily="34" charset="-122"/>
                <a:ea typeface="微软雅黑" panose="020B0503020204020204" pitchFamily="34" charset="-122"/>
              </a:endParaRPr>
            </a:p>
          </p:txBody>
        </p:sp>
        <p:pic>
          <p:nvPicPr>
            <p:cNvPr id="7" name="Picture 34"/>
            <p:cNvPicPr>
              <a:picLocks noChangeAspect="1"/>
            </p:cNvPicPr>
            <p:nvPr/>
          </p:nvPicPr>
          <p:blipFill rotWithShape="1">
            <a:blip r:embed="rId3" cstate="print">
              <a:extLst>
                <a:ext uri="{28A0092B-C50C-407E-A947-70E740481C1C}">
                  <a14:useLocalDpi xmlns:a14="http://schemas.microsoft.com/office/drawing/2010/main" val="0"/>
                </a:ext>
              </a:extLst>
            </a:blip>
            <a:srcRect l="24995" t="2045" r="11601"/>
            <a:stretch>
              <a:fillRect/>
            </a:stretch>
          </p:blipFill>
          <p:spPr>
            <a:xfrm>
              <a:off x="556555" y="4300761"/>
              <a:ext cx="2145893" cy="2149665"/>
            </a:xfrm>
            <a:prstGeom prst="rect">
              <a:avLst/>
            </a:prstGeom>
            <a:noFill/>
            <a:ln>
              <a:noFill/>
            </a:ln>
          </p:spPr>
        </p:pic>
      </p:grpSp>
      <p:sp>
        <p:nvSpPr>
          <p:cNvPr id="8" name="Rectangle 40"/>
          <p:cNvSpPr/>
          <p:nvPr/>
        </p:nvSpPr>
        <p:spPr>
          <a:xfrm>
            <a:off x="5410696" y="3571704"/>
            <a:ext cx="2481337" cy="1054143"/>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首次将扩散模型应用于掩星反演</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交叉注意力条件机制设计</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多变量联合反演</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DDIM加速采样</a:t>
            </a:r>
          </a:p>
        </p:txBody>
      </p:sp>
      <p:sp>
        <p:nvSpPr>
          <p:cNvPr id="9" name="Rectangle 72"/>
          <p:cNvSpPr/>
          <p:nvPr/>
        </p:nvSpPr>
        <p:spPr>
          <a:xfrm>
            <a:off x="5410696" y="1526939"/>
            <a:ext cx="2576336" cy="1546585"/>
          </a:xfrm>
          <a:prstGeom prst="rect">
            <a:avLst/>
          </a:prstGeom>
          <a:effectLst/>
        </p:spPr>
        <p:txBody>
          <a:bodyPr wrap="square" lIns="68586" tIns="34294" rIns="68586" bIns="34294">
            <a:spAutoFit/>
          </a:bodyPr>
          <a:lstStyle/>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提升气象预报精度</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支持业务化应用</a:t>
            </a:r>
            <a:endParaRPr lang="en-US" altLang="zh-CN" sz="1600" dirty="0">
              <a:solidFill>
                <a:schemeClr val="tx1">
                  <a:lumMod val="95000"/>
                  <a:lumOff val="5000"/>
                </a:schemeClr>
              </a:solidFill>
              <a:latin typeface="微软雅黑" panose="020B0503020204020204" pitchFamily="34" charset="-122"/>
              <a:ea typeface="微软雅黑" panose="020B0503020204020204" pitchFamily="34" charset="-122"/>
            </a:endParaRP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可扩展到其他遥感反演</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为深度学习气象应用提供参考</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a:p>
            <a:pPr algn="ctr"/>
            <a:r>
              <a:rPr lang="zh-CN" altLang="en-US" sz="1600" dirty="0">
                <a:solidFill>
                  <a:schemeClr val="tx1">
                    <a:lumMod val="95000"/>
                    <a:lumOff val="5000"/>
                  </a:schemeClr>
                </a:solidFill>
                <a:latin typeface="微软雅黑" panose="020B0503020204020204" pitchFamily="34" charset="-122"/>
                <a:ea typeface="微软雅黑" panose="020B0503020204020204" pitchFamily="34" charset="-122"/>
              </a:rPr>
              <a:t>在此录入文字内容</a:t>
            </a:r>
          </a:p>
        </p:txBody>
      </p:sp>
      <p:grpSp>
        <p:nvGrpSpPr>
          <p:cNvPr id="10" name="Group 7"/>
          <p:cNvGrpSpPr/>
          <p:nvPr/>
        </p:nvGrpSpPr>
        <p:grpSpPr>
          <a:xfrm>
            <a:off x="820212" y="1423933"/>
            <a:ext cx="3871727" cy="1611646"/>
            <a:chOff x="553608" y="1877341"/>
            <a:chExt cx="5033245" cy="2148861"/>
          </a:xfrm>
        </p:grpSpPr>
        <p:pic>
          <p:nvPicPr>
            <p:cNvPr id="11" name="Picture 33"/>
            <p:cNvPicPr>
              <a:picLocks noChangeAspect="1"/>
            </p:cNvPicPr>
            <p:nvPr/>
          </p:nvPicPr>
          <p:blipFill rotWithShape="1">
            <a:blip r:embed="rId4" cstate="print">
              <a:extLst>
                <a:ext uri="{28A0092B-C50C-407E-A947-70E740481C1C}">
                  <a14:useLocalDpi xmlns:a14="http://schemas.microsoft.com/office/drawing/2010/main" val="0"/>
                </a:ext>
              </a:extLst>
            </a:blip>
            <a:srcRect t="3492" b="28130"/>
            <a:stretch>
              <a:fillRect/>
            </a:stretch>
          </p:blipFill>
          <p:spPr>
            <a:xfrm>
              <a:off x="553608" y="1877341"/>
              <a:ext cx="2148840" cy="2148860"/>
            </a:xfrm>
            <a:prstGeom prst="rect">
              <a:avLst/>
            </a:prstGeom>
            <a:noFill/>
            <a:ln>
              <a:noFill/>
            </a:ln>
          </p:spPr>
        </p:pic>
        <p:sp>
          <p:nvSpPr>
            <p:cNvPr id="12" name="Rounded Rectangle 10"/>
            <p:cNvSpPr/>
            <p:nvPr/>
          </p:nvSpPr>
          <p:spPr bwMode="auto">
            <a:xfrm>
              <a:off x="2697689" y="1877341"/>
              <a:ext cx="2889164" cy="2148861"/>
            </a:xfrm>
            <a:prstGeom prst="roundRect">
              <a:avLst>
                <a:gd name="adj" fmla="val 0"/>
              </a:avLst>
            </a:prstGeom>
            <a:solidFill>
              <a:schemeClr val="tx2">
                <a:lumMod val="75000"/>
              </a:schemeClr>
            </a:solidFill>
            <a:ln w="25400" cap="flat" cmpd="sng" algn="ctr">
              <a:noFill/>
              <a:prstDash val="solid"/>
            </a:ln>
            <a:effectLst/>
          </p:spPr>
          <p:txBody>
            <a:bodyPr bIns="91440" anchor="b"/>
            <a:lstStyle/>
            <a:p>
              <a:pPr algn="ctr" defTabSz="685165" fontAlgn="auto">
                <a:spcBef>
                  <a:spcPts val="0"/>
                </a:spcBef>
                <a:spcAft>
                  <a:spcPts val="0"/>
                </a:spcAft>
              </a:pPr>
              <a:endParaRPr lang="en-US" sz="2000" kern="0" dirty="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3" name="Rectangle 73"/>
            <p:cNvSpPr/>
            <p:nvPr/>
          </p:nvSpPr>
          <p:spPr>
            <a:xfrm>
              <a:off x="3092166" y="2563634"/>
              <a:ext cx="2085866" cy="615553"/>
            </a:xfrm>
            <a:prstGeom prst="rect">
              <a:avLst/>
            </a:prstGeom>
          </p:spPr>
          <p:txBody>
            <a:bodyPr wrap="square">
              <a:spAutoFit/>
            </a:bodyPr>
            <a:lstStyle/>
            <a:p>
              <a:pPr marL="0" marR="0" lvl="0" indent="0" defTabSz="685165" eaLnBrk="1" fontAlgn="auto" latinLnBrk="0" hangingPunct="1">
                <a:lnSpc>
                  <a:spcPct val="100000"/>
                </a:lnSpc>
                <a:spcBef>
                  <a:spcPts val="0"/>
                </a:spcBef>
                <a:spcAft>
                  <a:spcPts val="0"/>
                </a:spcAft>
                <a:buClrTx/>
                <a:buSzTx/>
                <a:buFontTx/>
                <a:buNone/>
                <a:defRPr/>
              </a:pPr>
              <a:r>
                <a:rPr kumimoji="0" lang="zh-CN" alt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rPr>
                <a:t>技术创新</a:t>
              </a:r>
              <a:endParaRPr kumimoji="0" lang="en-US" sz="2400" b="0" i="0" u="none" strike="noStrike" kern="0" cap="none" spc="0" normalizeH="0" baseline="0" noProof="0" dirty="0">
                <a:ln>
                  <a:noFill/>
                </a:ln>
                <a:solidFill>
                  <a:srgbClr val="FFFFFF"/>
                </a:solidFill>
                <a:effectLst/>
                <a:uLnTx/>
                <a:uFillTx/>
                <a:latin typeface="微软雅黑" panose="020B0503020204020204" pitchFamily="34" charset="-122"/>
                <a:ea typeface="微软雅黑" panose="020B0503020204020204" pitchFamily="34" charset="-122"/>
              </a:endParaRPr>
            </a:p>
          </p:txBody>
        </p:sp>
      </p:grpSp>
      <p:cxnSp>
        <p:nvCxnSpPr>
          <p:cNvPr id="14" name="Straight Arrow Connector 70"/>
          <p:cNvCxnSpPr/>
          <p:nvPr/>
        </p:nvCxnSpPr>
        <p:spPr>
          <a:xfrm>
            <a:off x="4691938" y="4022222"/>
            <a:ext cx="633046" cy="0"/>
          </a:xfrm>
          <a:prstGeom prst="straightConnector1">
            <a:avLst/>
          </a:prstGeom>
          <a:noFill/>
          <a:ln w="38100" cap="rnd" cmpd="sng" algn="ctr">
            <a:solidFill>
              <a:srgbClr val="002060"/>
            </a:solidFill>
            <a:prstDash val="sysDot"/>
            <a:tailEnd type="oval"/>
          </a:ln>
          <a:effectLst/>
        </p:spPr>
      </p:cxnSp>
      <p:cxnSp>
        <p:nvCxnSpPr>
          <p:cNvPr id="15" name="Straight Arrow Connector 75"/>
          <p:cNvCxnSpPr/>
          <p:nvPr/>
        </p:nvCxnSpPr>
        <p:spPr>
          <a:xfrm flipV="1">
            <a:off x="4691938" y="2238540"/>
            <a:ext cx="633046" cy="1"/>
          </a:xfrm>
          <a:prstGeom prst="straightConnector1">
            <a:avLst/>
          </a:prstGeom>
          <a:noFill/>
          <a:ln w="38100" cap="rnd" cmpd="sng" algn="ctr">
            <a:solidFill>
              <a:srgbClr val="002060"/>
            </a:solidFill>
            <a:prstDash val="sysDot"/>
            <a:tailEnd type="oval"/>
          </a:ln>
          <a:effectLst/>
        </p:spPr>
      </p:cxnSp>
      <p:sp>
        <p:nvSpPr>
          <p:cNvPr id="16" name="矩形 15"/>
          <p:cNvSpPr/>
          <p:nvPr/>
        </p:nvSpPr>
        <p:spPr>
          <a:xfrm>
            <a:off x="762033" y="820068"/>
            <a:ext cx="1467068" cy="400110"/>
          </a:xfrm>
          <a:prstGeom prst="rect">
            <a:avLst/>
          </a:prstGeom>
          <a:noFill/>
        </p:spPr>
        <p:txBody>
          <a:bodyPr vert="horz" wrap="square" rtlCol="0">
            <a:spAutoFit/>
          </a:bodyPr>
          <a:lstStyle/>
          <a:p>
            <a:pPr algn="ctr" fontAlgn="b"/>
            <a:r>
              <a:rPr lang="zh-CN" altLang="en-US" sz="2000" b="1" dirty="0">
                <a:solidFill>
                  <a:schemeClr val="tx2">
                    <a:lumMod val="75000"/>
                  </a:schemeClr>
                </a:solidFill>
                <a:latin typeface="微软雅黑" panose="020B0503020204020204" pitchFamily="34" charset="-122"/>
                <a:ea typeface="微软雅黑" panose="020B0503020204020204" pitchFamily="34" charset="-122"/>
              </a:rPr>
              <a:t>研究意义</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zh-CN" dirty="0">
                <a:solidFill>
                  <a:schemeClr val="tx2">
                    <a:lumMod val="75000"/>
                  </a:schemeClr>
                </a:solidFill>
                <a:latin typeface="微软雅黑" panose="020B0503020204020204" pitchFamily="34" charset="-122"/>
                <a:ea typeface="微软雅黑" panose="020B0503020204020204" pitchFamily="34" charset="-122"/>
              </a:rPr>
              <a:t>选题背景</a:t>
            </a:r>
            <a:r>
              <a:rPr lang="zh-CN" altLang="en-US" dirty="0">
                <a:solidFill>
                  <a:schemeClr val="tx2">
                    <a:lumMod val="75000"/>
                  </a:schemeClr>
                </a:solidFill>
                <a:latin typeface="微软雅黑" panose="020B0503020204020204" pitchFamily="34" charset="-122"/>
                <a:ea typeface="微软雅黑" panose="020B0503020204020204" pitchFamily="34" charset="-122"/>
              </a:rPr>
              <a:t>与意义</a:t>
            </a:r>
            <a:endParaRPr lang="zh-CN" altLang="zh-CN" dirty="0">
              <a:solidFill>
                <a:schemeClr val="tx2">
                  <a:lumMod val="75000"/>
                </a:schemeClr>
              </a:solidFill>
              <a:latin typeface="微软雅黑" panose="020B0503020204020204" pitchFamily="34" charset="-122"/>
              <a:ea typeface="微软雅黑" panose="020B0503020204020204" pitchFamily="34" charset="-122"/>
            </a:endParaRPr>
          </a:p>
        </p:txBody>
      </p:sp>
    </p:spTree>
  </p:cSld>
  <p:clrMapOvr>
    <a:masterClrMapping/>
  </p:clrMapOvr>
  <p:transition spd="slow" advClick="0" advTm="4000">
    <p:pull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par>
                          <p:cTn id="8" fill="hold">
                            <p:stCondLst>
                              <p:cond delay="500"/>
                            </p:stCondLst>
                            <p:childTnLst>
                              <p:par>
                                <p:cTn id="9" presetID="2" presetClass="entr" presetSubtype="8" decel="100000"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 calcmode="lin" valueType="num">
                                      <p:cBhvr additive="base">
                                        <p:cTn id="11" dur="1000" fill="hold"/>
                                        <p:tgtEl>
                                          <p:spTgt spid="10"/>
                                        </p:tgtEl>
                                        <p:attrNameLst>
                                          <p:attrName>ppt_x</p:attrName>
                                        </p:attrNameLst>
                                      </p:cBhvr>
                                      <p:tavLst>
                                        <p:tav tm="0">
                                          <p:val>
                                            <p:strVal val="0-#ppt_w/2"/>
                                          </p:val>
                                        </p:tav>
                                        <p:tav tm="100000">
                                          <p:val>
                                            <p:strVal val="#ppt_x"/>
                                          </p:val>
                                        </p:tav>
                                      </p:tavLst>
                                    </p:anim>
                                    <p:anim calcmode="lin" valueType="num">
                                      <p:cBhvr additive="base">
                                        <p:cTn id="12" dur="1000" fill="hold"/>
                                        <p:tgtEl>
                                          <p:spTgt spid="10"/>
                                        </p:tgtEl>
                                        <p:attrNameLst>
                                          <p:attrName>ppt_y</p:attrName>
                                        </p:attrNameLst>
                                      </p:cBhvr>
                                      <p:tavLst>
                                        <p:tav tm="0">
                                          <p:val>
                                            <p:strVal val="#ppt_y"/>
                                          </p:val>
                                        </p:tav>
                                        <p:tav tm="100000">
                                          <p:val>
                                            <p:strVal val="#ppt_y"/>
                                          </p:val>
                                        </p:tav>
                                      </p:tavLst>
                                    </p:anim>
                                  </p:childTnLst>
                                </p:cTn>
                              </p:par>
                            </p:childTnLst>
                          </p:cTn>
                        </p:par>
                        <p:par>
                          <p:cTn id="13" fill="hold">
                            <p:stCondLst>
                              <p:cond delay="1500"/>
                            </p:stCondLst>
                            <p:childTnLst>
                              <p:par>
                                <p:cTn id="14" presetID="22" presetClass="entr" presetSubtype="8" fill="hold" nodeType="after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wipe(left)">
                                      <p:cBhvr>
                                        <p:cTn id="16" dur="500"/>
                                        <p:tgtEl>
                                          <p:spTgt spid="15"/>
                                        </p:tgtEl>
                                      </p:cBhvr>
                                    </p:animEffect>
                                  </p:childTnLst>
                                </p:cTn>
                              </p:par>
                            </p:childTnLst>
                          </p:cTn>
                        </p:par>
                        <p:par>
                          <p:cTn id="17" fill="hold">
                            <p:stCondLst>
                              <p:cond delay="200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childTnLst>
                                </p:cTn>
                              </p:par>
                            </p:childTnLst>
                          </p:cTn>
                        </p:par>
                        <p:par>
                          <p:cTn id="21" fill="hold">
                            <p:stCondLst>
                              <p:cond delay="2500"/>
                            </p:stCondLst>
                            <p:childTnLst>
                              <p:par>
                                <p:cTn id="22" presetID="2" presetClass="entr" presetSubtype="8" decel="100000" fill="hold" nodeType="afterEffect">
                                  <p:stCondLst>
                                    <p:cond delay="0"/>
                                  </p:stCondLst>
                                  <p:childTnLst>
                                    <p:set>
                                      <p:cBhvr>
                                        <p:cTn id="23" dur="1" fill="hold">
                                          <p:stCondLst>
                                            <p:cond delay="0"/>
                                          </p:stCondLst>
                                        </p:cTn>
                                        <p:tgtEl>
                                          <p:spTgt spid="4"/>
                                        </p:tgtEl>
                                        <p:attrNameLst>
                                          <p:attrName>style.visibility</p:attrName>
                                        </p:attrNameLst>
                                      </p:cBhvr>
                                      <p:to>
                                        <p:strVal val="visible"/>
                                      </p:to>
                                    </p:set>
                                    <p:anim calcmode="lin" valueType="num">
                                      <p:cBhvr additive="base">
                                        <p:cTn id="24" dur="1000" fill="hold"/>
                                        <p:tgtEl>
                                          <p:spTgt spid="4"/>
                                        </p:tgtEl>
                                        <p:attrNameLst>
                                          <p:attrName>ppt_x</p:attrName>
                                        </p:attrNameLst>
                                      </p:cBhvr>
                                      <p:tavLst>
                                        <p:tav tm="0">
                                          <p:val>
                                            <p:strVal val="0-#ppt_w/2"/>
                                          </p:val>
                                        </p:tav>
                                        <p:tav tm="100000">
                                          <p:val>
                                            <p:strVal val="#ppt_x"/>
                                          </p:val>
                                        </p:tav>
                                      </p:tavLst>
                                    </p:anim>
                                    <p:anim calcmode="lin" valueType="num">
                                      <p:cBhvr additive="base">
                                        <p:cTn id="25" dur="1000" fill="hold"/>
                                        <p:tgtEl>
                                          <p:spTgt spid="4"/>
                                        </p:tgtEl>
                                        <p:attrNameLst>
                                          <p:attrName>ppt_y</p:attrName>
                                        </p:attrNameLst>
                                      </p:cBhvr>
                                      <p:tavLst>
                                        <p:tav tm="0">
                                          <p:val>
                                            <p:strVal val="#ppt_y"/>
                                          </p:val>
                                        </p:tav>
                                        <p:tav tm="100000">
                                          <p:val>
                                            <p:strVal val="#ppt_y"/>
                                          </p:val>
                                        </p:tav>
                                      </p:tavLst>
                                    </p:anim>
                                  </p:childTnLst>
                                </p:cTn>
                              </p:par>
                            </p:childTnLst>
                          </p:cTn>
                        </p:par>
                        <p:par>
                          <p:cTn id="26" fill="hold">
                            <p:stCondLst>
                              <p:cond delay="3500"/>
                            </p:stCondLst>
                            <p:childTnLst>
                              <p:par>
                                <p:cTn id="27" presetID="22" presetClass="entr" presetSubtype="8" fill="hold" nodeType="afterEffect">
                                  <p:stCondLst>
                                    <p:cond delay="0"/>
                                  </p:stCondLst>
                                  <p:childTnLst>
                                    <p:set>
                                      <p:cBhvr>
                                        <p:cTn id="28" dur="1" fill="hold">
                                          <p:stCondLst>
                                            <p:cond delay="0"/>
                                          </p:stCondLst>
                                        </p:cTn>
                                        <p:tgtEl>
                                          <p:spTgt spid="14"/>
                                        </p:tgtEl>
                                        <p:attrNameLst>
                                          <p:attrName>style.visibility</p:attrName>
                                        </p:attrNameLst>
                                      </p:cBhvr>
                                      <p:to>
                                        <p:strVal val="visible"/>
                                      </p:to>
                                    </p:set>
                                    <p:animEffect transition="in" filter="wipe(left)">
                                      <p:cBhvr>
                                        <p:cTn id="29" dur="500"/>
                                        <p:tgtEl>
                                          <p:spTgt spid="14"/>
                                        </p:tgtEl>
                                      </p:cBhvr>
                                    </p:animEffect>
                                  </p:childTnLst>
                                </p:cTn>
                              </p:par>
                            </p:childTnLst>
                          </p:cTn>
                        </p:par>
                        <p:par>
                          <p:cTn id="30" fill="hold">
                            <p:stCondLst>
                              <p:cond delay="4000"/>
                            </p:stCondLst>
                            <p:childTnLst>
                              <p:par>
                                <p:cTn id="31" presetID="10" presetClass="entr" presetSubtype="0" fill="hold" grpId="0" nodeType="afterEffect">
                                  <p:stCondLst>
                                    <p:cond delay="0"/>
                                  </p:stCondLst>
                                  <p:childTnLst>
                                    <p:set>
                                      <p:cBhvr>
                                        <p:cTn id="32" dur="1" fill="hold">
                                          <p:stCondLst>
                                            <p:cond delay="0"/>
                                          </p:stCondLst>
                                        </p:cTn>
                                        <p:tgtEl>
                                          <p:spTgt spid="8"/>
                                        </p:tgtEl>
                                        <p:attrNameLst>
                                          <p:attrName>style.visibility</p:attrName>
                                        </p:attrNameLst>
                                      </p:cBhvr>
                                      <p:to>
                                        <p:strVal val="visible"/>
                                      </p:to>
                                    </p:set>
                                    <p:animEffect transition="in" filter="fade">
                                      <p:cBhvr>
                                        <p:cTn id="33"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P spid="1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369176" y="2118370"/>
            <a:ext cx="38013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理论基础与技术</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2</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r"/>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p:cNvSpPr/>
          <p:nvPr/>
        </p:nvSpPr>
        <p:spPr bwMode="auto">
          <a:xfrm>
            <a:off x="6497837" y="1715351"/>
            <a:ext cx="2322635"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r>
              <a:rPr lang="en-US" altLang="zh-CN" sz="6000" b="1" kern="0" dirty="0">
                <a:solidFill>
                  <a:srgbClr val="FFC000"/>
                </a:solidFill>
                <a:latin typeface="Segoe UI Light" panose="020B0502040204020203" pitchFamily="34" charset="0"/>
                <a:ea typeface="+mn-ea"/>
              </a:rPr>
              <a:t> </a:t>
            </a: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a:p>
            <a:pPr defTabSz="514350"/>
            <a:endParaRPr lang="en-US" altLang="zh-CN" sz="6000" b="1" kern="0" dirty="0">
              <a:solidFill>
                <a:srgbClr val="FFC000"/>
              </a:solidFill>
              <a:latin typeface="Segoe UI Light" panose="020B0502040204020203" pitchFamily="34" charset="0"/>
              <a:ea typeface="+mn-ea"/>
            </a:endParaRPr>
          </a:p>
        </p:txBody>
      </p:sp>
      <p:sp>
        <p:nvSpPr>
          <p:cNvPr id="5" name="Rectangle 3"/>
          <p:cNvSpPr/>
          <p:nvPr/>
        </p:nvSpPr>
        <p:spPr bwMode="auto">
          <a:xfrm>
            <a:off x="3561997" y="1715351"/>
            <a:ext cx="2322635" cy="2208761"/>
          </a:xfrm>
          <a:prstGeom prst="rect">
            <a:avLst/>
          </a:prstGeom>
          <a:solidFill>
            <a:srgbClr val="ED5326"/>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a:p>
            <a:pPr marL="0" marR="0" lvl="0" indent="0" defTabSz="514350" eaLnBrk="1" fontAlgn="auto" latinLnBrk="0" hangingPunct="1">
              <a:lnSpc>
                <a:spcPct val="100000"/>
              </a:lnSpc>
              <a:spcBef>
                <a:spcPts val="0"/>
              </a:spcBef>
              <a:spcAft>
                <a:spcPts val="0"/>
              </a:spcAft>
              <a:buClrTx/>
              <a:buSzTx/>
              <a:buFontTx/>
              <a:buNone/>
              <a:defRPr/>
            </a:pPr>
            <a:endParaRPr kumimoji="0" lang="en-US" altLang="zh-CN" sz="1500" b="0" i="0" u="none" strike="noStrike" kern="0" cap="none" spc="0" normalizeH="0" baseline="0" noProof="0" dirty="0">
              <a:ln>
                <a:noFill/>
              </a:ln>
              <a:gradFill>
                <a:gsLst>
                  <a:gs pos="0">
                    <a:srgbClr val="FFFFFF"/>
                  </a:gs>
                  <a:gs pos="100000">
                    <a:srgbClr val="FFFFFF"/>
                  </a:gs>
                </a:gsLst>
                <a:lin ang="5400000" scaled="0"/>
              </a:gradFill>
              <a:effectLst/>
              <a:uLnTx/>
              <a:uFillTx/>
              <a:latin typeface="Segoe UI Light" panose="020B0502040204020203" pitchFamily="34" charset="0"/>
              <a:ea typeface="+mn-ea"/>
            </a:endParaRPr>
          </a:p>
        </p:txBody>
      </p:sp>
      <p:sp>
        <p:nvSpPr>
          <p:cNvPr id="6" name="TextBox 5"/>
          <p:cNvSpPr txBox="1"/>
          <p:nvPr/>
        </p:nvSpPr>
        <p:spPr>
          <a:xfrm>
            <a:off x="3828250"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DDPM前向过程：逐步添加噪声</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DDPM反向过程：迭代去噪生成</a:t>
            </a:r>
          </a:p>
        </p:txBody>
      </p:sp>
      <p:sp>
        <p:nvSpPr>
          <p:cNvPr id="7" name="TextBox 6"/>
          <p:cNvSpPr txBox="1"/>
          <p:nvPr/>
        </p:nvSpPr>
        <p:spPr>
          <a:xfrm>
            <a:off x="6839298" y="1966498"/>
            <a:ext cx="1639713"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DDIM加速：50步确定性采样</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条件注入：弯曲角作为条件输入</a:t>
            </a:r>
          </a:p>
        </p:txBody>
      </p:sp>
      <p:sp>
        <p:nvSpPr>
          <p:cNvPr id="8" name="Rectangle 7"/>
          <p:cNvSpPr/>
          <p:nvPr/>
        </p:nvSpPr>
        <p:spPr bwMode="auto">
          <a:xfrm>
            <a:off x="542685" y="1715351"/>
            <a:ext cx="2372171" cy="2208761"/>
          </a:xfrm>
          <a:prstGeom prst="rect">
            <a:avLst/>
          </a:prstGeom>
          <a:solidFill>
            <a:srgbClr val="0070C0"/>
          </a:solidFill>
          <a:ln w="25400" cap="flat" cmpd="sng" algn="ctr">
            <a:noFill/>
            <a:prstDash val="solid"/>
            <a:headEnd type="none" w="med" len="med"/>
            <a:tailEnd type="none" w="med" len="med"/>
          </a:ln>
          <a:effectLst/>
        </p:spPr>
        <p:txBody>
          <a:bodyPr vert="horz" wrap="square" lIns="51458" tIns="25729" rIns="51458" bIns="25729" numCol="1" rtlCol="0" anchor="t" anchorCtr="0" compatLnSpc="1"/>
          <a:lstStyle/>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a:p>
            <a:pPr defTabSz="514350">
              <a:defRPr/>
            </a:pPr>
            <a:endParaRPr lang="en-US" altLang="zh-CN" sz="800" kern="0" dirty="0">
              <a:gradFill>
                <a:gsLst>
                  <a:gs pos="0">
                    <a:srgbClr val="FFFFFF"/>
                  </a:gs>
                  <a:gs pos="100000">
                    <a:srgbClr val="FFFFFF"/>
                  </a:gs>
                </a:gsLst>
                <a:lin ang="5400000" scaled="0"/>
              </a:gradFill>
              <a:latin typeface="Segoe UI Light" panose="020B0502040204020203" pitchFamily="34" charset="0"/>
              <a:ea typeface="+mn-ea"/>
            </a:endParaRPr>
          </a:p>
        </p:txBody>
      </p:sp>
      <p:sp>
        <p:nvSpPr>
          <p:cNvPr id="9" name="TextBox 8"/>
          <p:cNvSpPr txBox="1"/>
          <p:nvPr/>
        </p:nvSpPr>
        <p:spPr>
          <a:xfrm>
            <a:off x="833706" y="1966498"/>
            <a:ext cx="1790129" cy="492443"/>
          </a:xfrm>
          <a:prstGeom prst="rect">
            <a:avLst/>
          </a:prstGeom>
          <a:noFill/>
        </p:spPr>
        <p:txBody>
          <a:bodyPr wrap="square" lIns="0" tIns="0" rIns="0" bIns="0" rtlCol="0">
            <a:spAutoFit/>
          </a:bodyPr>
          <a:lstStyle/>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交叉注意力机制</a:t>
            </a:r>
          </a:p>
          <a:p>
            <a:pPr defTabSz="685165" fontAlgn="auto">
              <a:spcBef>
                <a:spcPts val="0"/>
              </a:spcBef>
              <a:spcAft>
                <a:spcPts val="0"/>
              </a:spcAft>
            </a:pPr>
            <a:r>
              <a:rPr lang="zh-CN" altLang="en-US" sz="1600" b="1" dirty="0">
                <a:solidFill>
                  <a:schemeClr val="bg1">
                    <a:alpha val="99000"/>
                  </a:schemeClr>
                </a:solidFill>
                <a:latin typeface="微软雅黑" panose="020B0503020204020204" pitchFamily="34" charset="-122"/>
                <a:ea typeface="微软雅黑" panose="020B0503020204020204" pitchFamily="34" charset="-122"/>
              </a:rPr>
              <a:t>残差块+GroupNorm</a:t>
            </a:r>
          </a:p>
        </p:txBody>
      </p:sp>
      <p:sp>
        <p:nvSpPr>
          <p:cNvPr id="10" name="手杖形箭头 9"/>
          <p:cNvSpPr/>
          <p:nvPr/>
        </p:nvSpPr>
        <p:spPr>
          <a:xfrm flipH="1">
            <a:off x="1477702" y="984340"/>
            <a:ext cx="3245611" cy="649024"/>
          </a:xfrm>
          <a:prstGeom prst="uturnArrow">
            <a:avLst>
              <a:gd name="adj1" fmla="val 23277"/>
              <a:gd name="adj2" fmla="val 25000"/>
              <a:gd name="adj3" fmla="val 28448"/>
              <a:gd name="adj4" fmla="val 37717"/>
              <a:gd name="adj5" fmla="val 99132"/>
            </a:avLst>
          </a:prstGeom>
          <a:solidFill>
            <a:srgbClr val="ED5326"/>
          </a:solidFill>
          <a:ln w="25400" cap="flat" cmpd="sng" algn="ctr">
            <a:noFill/>
            <a:prstDash val="solid"/>
          </a:ln>
          <a:effectLst/>
        </p:spPr>
        <p:txBody>
          <a:bodyPr bIns="91440" anchor="b"/>
          <a:lstStyle/>
          <a:p>
            <a:pPr algn="ctr" defTabSz="685165" fontAlgn="auto">
              <a:spcBef>
                <a:spcPts val="0"/>
              </a:spcBef>
              <a:spcAft>
                <a:spcPts val="0"/>
              </a:spcAft>
            </a:pPr>
            <a:endParaRPr lang="zh-CN" altLang="en-US" sz="2000" kern="0">
              <a:solidFill>
                <a:srgbClr val="FFFFFF"/>
              </a:solidFill>
              <a:latin typeface="微软雅黑" panose="020B0503020204020204" pitchFamily="34" charset="-122"/>
              <a:ea typeface="微软雅黑" panose="020B0503020204020204" pitchFamily="34" charset="-122"/>
              <a:cs typeface="Segoe UI" panose="020B0502040204020203" pitchFamily="34" charset="0"/>
            </a:endParaRPr>
          </a:p>
        </p:txBody>
      </p:sp>
      <p:sp>
        <p:nvSpPr>
          <p:cNvPr id="11" name="手杖形箭头 10"/>
          <p:cNvSpPr/>
          <p:nvPr/>
        </p:nvSpPr>
        <p:spPr>
          <a:xfrm flipV="1">
            <a:off x="1496305" y="4081636"/>
            <a:ext cx="6316055" cy="594659"/>
          </a:xfrm>
          <a:prstGeom prst="uturnArrow">
            <a:avLst>
              <a:gd name="adj1" fmla="val 29328"/>
              <a:gd name="adj2" fmla="val 25000"/>
              <a:gd name="adj3" fmla="val 30212"/>
              <a:gd name="adj4" fmla="val 37717"/>
              <a:gd name="adj5" fmla="val 97354"/>
            </a:avLst>
          </a:prstGeom>
          <a:solidFill>
            <a:srgbClr val="00B0F0"/>
          </a:solidFill>
          <a:ln>
            <a:noFill/>
          </a:ln>
          <a:effectLst/>
        </p:spPr>
        <p:txBody>
          <a:bodyPr wrap="none" anchor="ctr"/>
          <a:lstStyle/>
          <a:p>
            <a:pPr fontAlgn="auto">
              <a:spcBef>
                <a:spcPts val="0"/>
              </a:spcBef>
              <a:spcAft>
                <a:spcPts val="0"/>
              </a:spcAft>
            </a:pPr>
            <a:endParaRPr lang="zh-CN" altLang="en-US">
              <a:solidFill>
                <a:prstClr val="black"/>
              </a:solidFill>
              <a:latin typeface="Calibri" panose="020F0502020204030204"/>
              <a:ea typeface="宋体" panose="02010600030101010101" pitchFamily="2" charset="-122"/>
            </a:endParaRPr>
          </a:p>
        </p:txBody>
      </p:sp>
      <p:sp>
        <p:nvSpPr>
          <p:cNvPr id="12" name="Freeform 1075"/>
          <p:cNvSpPr>
            <a:spLocks noChangeAspect="1"/>
          </p:cNvSpPr>
          <p:nvPr/>
        </p:nvSpPr>
        <p:spPr bwMode="auto">
          <a:xfrm>
            <a:off x="752086" y="2569468"/>
            <a:ext cx="1853369" cy="1267200"/>
          </a:xfrm>
          <a:custGeom>
            <a:avLst/>
            <a:gdLst/>
            <a:ahLst/>
            <a:cxnLst>
              <a:cxn ang="0">
                <a:pos x="1524" y="1020"/>
              </a:cxn>
              <a:cxn ang="0">
                <a:pos x="1524" y="1032"/>
              </a:cxn>
              <a:cxn ang="0">
                <a:pos x="1524" y="1032"/>
              </a:cxn>
              <a:cxn ang="0">
                <a:pos x="1524" y="1036"/>
              </a:cxn>
              <a:cxn ang="0">
                <a:pos x="1522" y="1040"/>
              </a:cxn>
              <a:cxn ang="0">
                <a:pos x="1518" y="1042"/>
              </a:cxn>
              <a:cxn ang="0">
                <a:pos x="1514" y="1042"/>
              </a:cxn>
              <a:cxn ang="0">
                <a:pos x="8" y="1042"/>
              </a:cxn>
              <a:cxn ang="0">
                <a:pos x="8" y="1042"/>
              </a:cxn>
              <a:cxn ang="0">
                <a:pos x="6" y="1042"/>
              </a:cxn>
              <a:cxn ang="0">
                <a:pos x="2" y="1040"/>
              </a:cxn>
              <a:cxn ang="0">
                <a:pos x="0" y="1036"/>
              </a:cxn>
              <a:cxn ang="0">
                <a:pos x="0" y="1032"/>
              </a:cxn>
              <a:cxn ang="0">
                <a:pos x="0" y="1020"/>
              </a:cxn>
              <a:cxn ang="0">
                <a:pos x="0" y="10"/>
              </a:cxn>
              <a:cxn ang="0">
                <a:pos x="0" y="10"/>
              </a:cxn>
              <a:cxn ang="0">
                <a:pos x="0" y="10"/>
              </a:cxn>
              <a:cxn ang="0">
                <a:pos x="0" y="6"/>
              </a:cxn>
              <a:cxn ang="0">
                <a:pos x="2" y="4"/>
              </a:cxn>
              <a:cxn ang="0">
                <a:pos x="2" y="4"/>
              </a:cxn>
              <a:cxn ang="0">
                <a:pos x="4" y="0"/>
              </a:cxn>
              <a:cxn ang="0">
                <a:pos x="8" y="0"/>
              </a:cxn>
              <a:cxn ang="0">
                <a:pos x="1514" y="0"/>
              </a:cxn>
              <a:cxn ang="0">
                <a:pos x="1514" y="0"/>
              </a:cxn>
              <a:cxn ang="0">
                <a:pos x="1518" y="0"/>
              </a:cxn>
              <a:cxn ang="0">
                <a:pos x="1522" y="4"/>
              </a:cxn>
              <a:cxn ang="0">
                <a:pos x="1522" y="4"/>
              </a:cxn>
              <a:cxn ang="0">
                <a:pos x="1524" y="6"/>
              </a:cxn>
              <a:cxn ang="0">
                <a:pos x="1524" y="10"/>
              </a:cxn>
              <a:cxn ang="0">
                <a:pos x="1524" y="10"/>
              </a:cxn>
              <a:cxn ang="0">
                <a:pos x="1524" y="1020"/>
              </a:cxn>
            </a:cxnLst>
            <a:rect l="0" t="0" r="r" b="b"/>
            <a:pathLst>
              <a:path w="1524" h="1042">
                <a:moveTo>
                  <a:pt x="1524" y="1020"/>
                </a:moveTo>
                <a:lnTo>
                  <a:pt x="1524" y="1032"/>
                </a:lnTo>
                <a:lnTo>
                  <a:pt x="1524" y="1032"/>
                </a:lnTo>
                <a:lnTo>
                  <a:pt x="1524" y="1036"/>
                </a:lnTo>
                <a:lnTo>
                  <a:pt x="1522" y="1040"/>
                </a:lnTo>
                <a:lnTo>
                  <a:pt x="1518" y="1042"/>
                </a:lnTo>
                <a:lnTo>
                  <a:pt x="1514" y="1042"/>
                </a:lnTo>
                <a:lnTo>
                  <a:pt x="8" y="1042"/>
                </a:lnTo>
                <a:lnTo>
                  <a:pt x="8" y="1042"/>
                </a:lnTo>
                <a:lnTo>
                  <a:pt x="6" y="1042"/>
                </a:lnTo>
                <a:lnTo>
                  <a:pt x="2" y="1040"/>
                </a:lnTo>
                <a:lnTo>
                  <a:pt x="0" y="1036"/>
                </a:lnTo>
                <a:lnTo>
                  <a:pt x="0" y="1032"/>
                </a:lnTo>
                <a:lnTo>
                  <a:pt x="0" y="1020"/>
                </a:lnTo>
                <a:lnTo>
                  <a:pt x="0" y="10"/>
                </a:lnTo>
                <a:lnTo>
                  <a:pt x="0" y="10"/>
                </a:lnTo>
                <a:lnTo>
                  <a:pt x="0" y="10"/>
                </a:lnTo>
                <a:lnTo>
                  <a:pt x="0" y="6"/>
                </a:lnTo>
                <a:lnTo>
                  <a:pt x="2" y="4"/>
                </a:lnTo>
                <a:lnTo>
                  <a:pt x="2" y="4"/>
                </a:lnTo>
                <a:lnTo>
                  <a:pt x="4" y="0"/>
                </a:lnTo>
                <a:lnTo>
                  <a:pt x="8" y="0"/>
                </a:lnTo>
                <a:lnTo>
                  <a:pt x="1514" y="0"/>
                </a:lnTo>
                <a:lnTo>
                  <a:pt x="1514" y="0"/>
                </a:lnTo>
                <a:lnTo>
                  <a:pt x="1518" y="0"/>
                </a:lnTo>
                <a:lnTo>
                  <a:pt x="1522" y="4"/>
                </a:lnTo>
                <a:lnTo>
                  <a:pt x="1522" y="4"/>
                </a:lnTo>
                <a:lnTo>
                  <a:pt x="1524" y="6"/>
                </a:lnTo>
                <a:lnTo>
                  <a:pt x="1524" y="10"/>
                </a:lnTo>
                <a:lnTo>
                  <a:pt x="1524" y="10"/>
                </a:lnTo>
                <a:lnTo>
                  <a:pt x="1524" y="1020"/>
                </a:lnTo>
                <a:close/>
              </a:path>
            </a:pathLst>
          </a:custGeom>
          <a:blipFill dpi="0" rotWithShape="1">
            <a:blip r:embed="rId3" cstate="print"/>
            <a:srcRect/>
            <a:stretch>
              <a:fillRect/>
            </a:stretch>
          </a:blipFill>
          <a:ln w="9525">
            <a:noFill/>
            <a:round/>
          </a:ln>
        </p:spPr>
        <p:txBody>
          <a:bodyPr/>
          <a:lstStyle/>
          <a:p>
            <a:pPr defTabSz="457200">
              <a:defRPr/>
            </a:pPr>
            <a:endParaRPr lang="da-DK">
              <a:ea typeface="MS PGothic" panose="020B0600070205080204" pitchFamily="-97" charset="-128"/>
            </a:endParaRPr>
          </a:p>
        </p:txBody>
      </p:sp>
      <p:pic>
        <p:nvPicPr>
          <p:cNvPr id="13" name="Gruppe 122"/>
          <p:cNvPicPr>
            <a:picLocks noChangeArrowheads="1"/>
          </p:cNvPicPr>
          <p:nvPr/>
        </p:nvPicPr>
        <p:blipFill rotWithShape="1">
          <a:blip r:embed="rId4" cstate="print">
            <a:extLst>
              <a:ext uri="{28A0092B-C50C-407E-A947-70E740481C1C}">
                <a14:useLocalDpi xmlns:a14="http://schemas.microsoft.com/office/drawing/2010/main" val="0"/>
              </a:ext>
            </a:extLst>
          </a:blip>
          <a:srcRect l="6120" t="17080" r="8483" b="19104"/>
          <a:stretch>
            <a:fillRect/>
          </a:stretch>
        </p:blipFill>
        <p:spPr bwMode="auto">
          <a:xfrm>
            <a:off x="6670627" y="2569468"/>
            <a:ext cx="1977054" cy="1267200"/>
          </a:xfrm>
          <a:prstGeom prst="rect">
            <a:avLst/>
          </a:prstGeom>
          <a:noFill/>
          <a:extLst>
            <a:ext uri="{909E8E84-426E-40DD-AFC4-6F175D3DCCD1}">
              <a14:hiddenFill xmlns:a14="http://schemas.microsoft.com/office/drawing/2010/main">
                <a:solidFill>
                  <a:srgbClr val="FFFFFF"/>
                </a:solidFill>
              </a14:hiddenFill>
            </a:ext>
          </a:extLst>
        </p:spPr>
      </p:pic>
      <p:pic>
        <p:nvPicPr>
          <p:cNvPr id="14" name="Gruppe 122"/>
          <p:cNvPicPr>
            <a:picLocks noChangeArrowheads="1"/>
          </p:cNvPicPr>
          <p:nvPr/>
        </p:nvPicPr>
        <p:blipFill rotWithShape="1">
          <a:blip r:embed="rId5" cstate="print">
            <a:extLst>
              <a:ext uri="{28A0092B-C50C-407E-A947-70E740481C1C}">
                <a14:useLocalDpi xmlns:a14="http://schemas.microsoft.com/office/drawing/2010/main" val="0"/>
              </a:ext>
            </a:extLst>
          </a:blip>
          <a:srcRect l="5928" t="15379" r="8085" b="19565"/>
          <a:stretch>
            <a:fillRect/>
          </a:stretch>
        </p:blipFill>
        <p:spPr bwMode="auto">
          <a:xfrm>
            <a:off x="3828250" y="2569468"/>
            <a:ext cx="1790129" cy="1268012"/>
          </a:xfrm>
          <a:prstGeom prst="rect">
            <a:avLst/>
          </a:prstGeom>
          <a:noFill/>
          <a:extLst>
            <a:ext uri="{909E8E84-426E-40DD-AFC4-6F175D3DCCD1}">
              <a14:hiddenFill xmlns:a14="http://schemas.microsoft.com/office/drawing/2010/main">
                <a:solidFill>
                  <a:srgbClr val="FFFFFF"/>
                </a:solidFill>
              </a14:hiddenFill>
            </a:ext>
          </a:extLst>
        </p:spPr>
      </p:pic>
      <p:sp>
        <p:nvSpPr>
          <p:cNvPr id="15" name="TextBox 14"/>
          <p:cNvSpPr txBox="1"/>
          <p:nvPr/>
        </p:nvSpPr>
        <p:spPr>
          <a:xfrm>
            <a:off x="1992412" y="1201316"/>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条件扩散模型原理</a:t>
            </a:r>
          </a:p>
        </p:txBody>
      </p:sp>
      <p:sp>
        <p:nvSpPr>
          <p:cNvPr id="16" name="TextBox 15"/>
          <p:cNvSpPr txBox="1"/>
          <p:nvPr/>
        </p:nvSpPr>
        <p:spPr>
          <a:xfrm>
            <a:off x="3707904" y="4081388"/>
            <a:ext cx="2236510" cy="400110"/>
          </a:xfrm>
          <a:prstGeom prst="rect">
            <a:avLst/>
          </a:prstGeom>
          <a:noFill/>
        </p:spPr>
        <p:txBody>
          <a:bodyPr wrap="none" rtlCol="0">
            <a:spAutoFit/>
          </a:bodyPr>
          <a:lstStyle/>
          <a:p>
            <a:r>
              <a:rPr lang="zh-CN" altLang="en-US" sz="2000" b="1" dirty="0">
                <a:solidFill>
                  <a:schemeClr val="tx2">
                    <a:lumMod val="75000"/>
                  </a:schemeClr>
                </a:solidFill>
                <a:latin typeface="微软雅黑" panose="020B0503020204020204" pitchFamily="34" charset="-122"/>
                <a:ea typeface="微软雅黑" panose="020B0503020204020204" pitchFamily="34" charset="-122"/>
              </a:rPr>
              <a:t>增强版U-Net架构</a:t>
            </a:r>
          </a:p>
        </p:txBody>
      </p:sp>
      <p:sp>
        <p:nvSpPr>
          <p:cNvPr id="17" name="TextBox 16"/>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理论基础与技术</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l"/>
      </p:transition>
    </mc:Choice>
    <mc:Fallback xmlns="">
      <p:transition spd="slow" advClick="0" advTm="6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decel="100000"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par>
                                <p:cTn id="9" presetID="2" presetClass="entr" presetSubtype="4" decel="100000" fill="hold" grpId="0" nodeType="withEffect">
                                  <p:stCondLst>
                                    <p:cond delay="250"/>
                                  </p:stCondLst>
                                  <p:childTnLst>
                                    <p:set>
                                      <p:cBhvr>
                                        <p:cTn id="10" dur="1" fill="hold">
                                          <p:stCondLst>
                                            <p:cond delay="0"/>
                                          </p:stCondLst>
                                        </p:cTn>
                                        <p:tgtEl>
                                          <p:spTgt spid="5"/>
                                        </p:tgtEl>
                                        <p:attrNameLst>
                                          <p:attrName>style.visibility</p:attrName>
                                        </p:attrNameLst>
                                      </p:cBhvr>
                                      <p:to>
                                        <p:strVal val="visible"/>
                                      </p:to>
                                    </p:set>
                                    <p:anim calcmode="lin" valueType="num">
                                      <p:cBhvr additive="base">
                                        <p:cTn id="11" dur="500" fill="hold"/>
                                        <p:tgtEl>
                                          <p:spTgt spid="5"/>
                                        </p:tgtEl>
                                        <p:attrNameLst>
                                          <p:attrName>ppt_x</p:attrName>
                                        </p:attrNameLst>
                                      </p:cBhvr>
                                      <p:tavLst>
                                        <p:tav tm="0">
                                          <p:val>
                                            <p:strVal val="#ppt_x"/>
                                          </p:val>
                                        </p:tav>
                                        <p:tav tm="100000">
                                          <p:val>
                                            <p:strVal val="#ppt_x"/>
                                          </p:val>
                                        </p:tav>
                                      </p:tavLst>
                                    </p:anim>
                                    <p:anim calcmode="lin" valueType="num">
                                      <p:cBhvr additive="base">
                                        <p:cTn id="12" dur="500" fill="hold"/>
                                        <p:tgtEl>
                                          <p:spTgt spid="5"/>
                                        </p:tgtEl>
                                        <p:attrNameLst>
                                          <p:attrName>ppt_y</p:attrName>
                                        </p:attrNameLst>
                                      </p:cBhvr>
                                      <p:tavLst>
                                        <p:tav tm="0">
                                          <p:val>
                                            <p:strVal val="1+#ppt_h/2"/>
                                          </p:val>
                                        </p:tav>
                                        <p:tav tm="100000">
                                          <p:val>
                                            <p:strVal val="#ppt_y"/>
                                          </p:val>
                                        </p:tav>
                                      </p:tavLst>
                                    </p:anim>
                                  </p:childTnLst>
                                </p:cTn>
                              </p:par>
                              <p:par>
                                <p:cTn id="13" presetID="2" presetClass="entr" presetSubtype="4" decel="100000" fill="hold" grpId="0" nodeType="withEffect">
                                  <p:stCondLst>
                                    <p:cond delay="500"/>
                                  </p:stCondLst>
                                  <p:childTnLst>
                                    <p:set>
                                      <p:cBhvr>
                                        <p:cTn id="14" dur="1" fill="hold">
                                          <p:stCondLst>
                                            <p:cond delay="0"/>
                                          </p:stCondLst>
                                        </p:cTn>
                                        <p:tgtEl>
                                          <p:spTgt spid="4"/>
                                        </p:tgtEl>
                                        <p:attrNameLst>
                                          <p:attrName>style.visibility</p:attrName>
                                        </p:attrNameLst>
                                      </p:cBhvr>
                                      <p:to>
                                        <p:strVal val="visible"/>
                                      </p:to>
                                    </p:set>
                                    <p:anim calcmode="lin" valueType="num">
                                      <p:cBhvr additive="base">
                                        <p:cTn id="15" dur="500" fill="hold"/>
                                        <p:tgtEl>
                                          <p:spTgt spid="4"/>
                                        </p:tgtEl>
                                        <p:attrNameLst>
                                          <p:attrName>ppt_x</p:attrName>
                                        </p:attrNameLst>
                                      </p:cBhvr>
                                      <p:tavLst>
                                        <p:tav tm="0">
                                          <p:val>
                                            <p:strVal val="#ppt_x"/>
                                          </p:val>
                                        </p:tav>
                                        <p:tav tm="100000">
                                          <p:val>
                                            <p:strVal val="#ppt_x"/>
                                          </p:val>
                                        </p:tav>
                                      </p:tavLst>
                                    </p:anim>
                                    <p:anim calcmode="lin" valueType="num">
                                      <p:cBhvr additive="base">
                                        <p:cTn id="16" dur="500" fill="hold"/>
                                        <p:tgtEl>
                                          <p:spTgt spid="4"/>
                                        </p:tgtEl>
                                        <p:attrNameLst>
                                          <p:attrName>ppt_y</p:attrName>
                                        </p:attrNameLst>
                                      </p:cBhvr>
                                      <p:tavLst>
                                        <p:tav tm="0">
                                          <p:val>
                                            <p:strVal val="1+#ppt_h/2"/>
                                          </p:val>
                                        </p:tav>
                                        <p:tav tm="100000">
                                          <p:val>
                                            <p:strVal val="#ppt_y"/>
                                          </p:val>
                                        </p:tav>
                                      </p:tavLst>
                                    </p:anim>
                                  </p:childTnLst>
                                </p:cTn>
                              </p:par>
                            </p:childTnLst>
                          </p:cTn>
                        </p:par>
                        <p:par>
                          <p:cTn id="17" fill="hold">
                            <p:stCondLst>
                              <p:cond delay="500"/>
                            </p:stCondLst>
                            <p:childTnLst>
                              <p:par>
                                <p:cTn id="18" presetID="42"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500"/>
                                        <p:tgtEl>
                                          <p:spTgt spid="9"/>
                                        </p:tgtEl>
                                      </p:cBhvr>
                                    </p:animEffect>
                                    <p:anim calcmode="lin" valueType="num">
                                      <p:cBhvr>
                                        <p:cTn id="21" dur="500" fill="hold"/>
                                        <p:tgtEl>
                                          <p:spTgt spid="9"/>
                                        </p:tgtEl>
                                        <p:attrNameLst>
                                          <p:attrName>ppt_x</p:attrName>
                                        </p:attrNameLst>
                                      </p:cBhvr>
                                      <p:tavLst>
                                        <p:tav tm="0">
                                          <p:val>
                                            <p:strVal val="#ppt_x"/>
                                          </p:val>
                                        </p:tav>
                                        <p:tav tm="100000">
                                          <p:val>
                                            <p:strVal val="#ppt_x"/>
                                          </p:val>
                                        </p:tav>
                                      </p:tavLst>
                                    </p:anim>
                                    <p:anim calcmode="lin" valueType="num">
                                      <p:cBhvr>
                                        <p:cTn id="22" dur="500" fill="hold"/>
                                        <p:tgtEl>
                                          <p:spTgt spid="9"/>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6"/>
                                        </p:tgtEl>
                                        <p:attrNameLst>
                                          <p:attrName>style.visibility</p:attrName>
                                        </p:attrNameLst>
                                      </p:cBhvr>
                                      <p:to>
                                        <p:strVal val="visible"/>
                                      </p:to>
                                    </p:set>
                                    <p:animEffect transition="in" filter="fade">
                                      <p:cBhvr>
                                        <p:cTn id="25" dur="500"/>
                                        <p:tgtEl>
                                          <p:spTgt spid="6"/>
                                        </p:tgtEl>
                                      </p:cBhvr>
                                    </p:animEffect>
                                    <p:anim calcmode="lin" valueType="num">
                                      <p:cBhvr>
                                        <p:cTn id="26" dur="500" fill="hold"/>
                                        <p:tgtEl>
                                          <p:spTgt spid="6"/>
                                        </p:tgtEl>
                                        <p:attrNameLst>
                                          <p:attrName>ppt_x</p:attrName>
                                        </p:attrNameLst>
                                      </p:cBhvr>
                                      <p:tavLst>
                                        <p:tav tm="0">
                                          <p:val>
                                            <p:strVal val="#ppt_x"/>
                                          </p:val>
                                        </p:tav>
                                        <p:tav tm="100000">
                                          <p:val>
                                            <p:strVal val="#ppt_x"/>
                                          </p:val>
                                        </p:tav>
                                      </p:tavLst>
                                    </p:anim>
                                    <p:anim calcmode="lin" valueType="num">
                                      <p:cBhvr>
                                        <p:cTn id="27" dur="500" fill="hold"/>
                                        <p:tgtEl>
                                          <p:spTgt spid="6"/>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7"/>
                                        </p:tgtEl>
                                        <p:attrNameLst>
                                          <p:attrName>style.visibility</p:attrName>
                                        </p:attrNameLst>
                                      </p:cBhvr>
                                      <p:to>
                                        <p:strVal val="visible"/>
                                      </p:to>
                                    </p:set>
                                    <p:animEffect transition="in" filter="fade">
                                      <p:cBhvr>
                                        <p:cTn id="30" dur="500"/>
                                        <p:tgtEl>
                                          <p:spTgt spid="7"/>
                                        </p:tgtEl>
                                      </p:cBhvr>
                                    </p:animEffect>
                                    <p:anim calcmode="lin" valueType="num">
                                      <p:cBhvr>
                                        <p:cTn id="31" dur="500" fill="hold"/>
                                        <p:tgtEl>
                                          <p:spTgt spid="7"/>
                                        </p:tgtEl>
                                        <p:attrNameLst>
                                          <p:attrName>ppt_x</p:attrName>
                                        </p:attrNameLst>
                                      </p:cBhvr>
                                      <p:tavLst>
                                        <p:tav tm="0">
                                          <p:val>
                                            <p:strVal val="#ppt_x"/>
                                          </p:val>
                                        </p:tav>
                                        <p:tav tm="100000">
                                          <p:val>
                                            <p:strVal val="#ppt_x"/>
                                          </p:val>
                                        </p:tav>
                                      </p:tavLst>
                                    </p:anim>
                                    <p:anim calcmode="lin" valueType="num">
                                      <p:cBhvr>
                                        <p:cTn id="32" dur="500" fill="hold"/>
                                        <p:tgtEl>
                                          <p:spTgt spid="7"/>
                                        </p:tgtEl>
                                        <p:attrNameLst>
                                          <p:attrName>ppt_y</p:attrName>
                                        </p:attrNameLst>
                                      </p:cBhvr>
                                      <p:tavLst>
                                        <p:tav tm="0">
                                          <p:val>
                                            <p:strVal val="#ppt_y+.1"/>
                                          </p:val>
                                        </p:tav>
                                        <p:tav tm="100000">
                                          <p:val>
                                            <p:strVal val="#ppt_y"/>
                                          </p:val>
                                        </p:tav>
                                      </p:tavLst>
                                    </p:anim>
                                  </p:childTnLst>
                                </p:cTn>
                              </p:par>
                            </p:childTnLst>
                          </p:cTn>
                        </p:par>
                        <p:par>
                          <p:cTn id="33" fill="hold">
                            <p:stCondLst>
                              <p:cond delay="1000"/>
                            </p:stCondLst>
                            <p:childTnLst>
                              <p:par>
                                <p:cTn id="34" presetID="10" presetClass="entr" presetSubtype="0" fill="hold" grpId="0" nodeType="afterEffect">
                                  <p:stCondLst>
                                    <p:cond delay="0"/>
                                  </p:stCondLst>
                                  <p:childTnLst>
                                    <p:set>
                                      <p:cBhvr>
                                        <p:cTn id="35" dur="1" fill="hold">
                                          <p:stCondLst>
                                            <p:cond delay="0"/>
                                          </p:stCondLst>
                                        </p:cTn>
                                        <p:tgtEl>
                                          <p:spTgt spid="12"/>
                                        </p:tgtEl>
                                        <p:attrNameLst>
                                          <p:attrName>style.visibility</p:attrName>
                                        </p:attrNameLst>
                                      </p:cBhvr>
                                      <p:to>
                                        <p:strVal val="visible"/>
                                      </p:to>
                                    </p:set>
                                    <p:animEffect transition="in" filter="fade">
                                      <p:cBhvr>
                                        <p:cTn id="36" dur="500"/>
                                        <p:tgtEl>
                                          <p:spTgt spid="12"/>
                                        </p:tgtEl>
                                      </p:cBhvr>
                                    </p:animEffect>
                                  </p:childTnLst>
                                </p:cTn>
                              </p:par>
                              <p:par>
                                <p:cTn id="37" presetID="10" presetClass="entr" presetSubtype="0" fill="hold" nodeType="withEffect">
                                  <p:stCondLst>
                                    <p:cond delay="25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500"/>
                                        <p:tgtEl>
                                          <p:spTgt spid="14"/>
                                        </p:tgtEl>
                                      </p:cBhvr>
                                    </p:animEffect>
                                  </p:childTnLst>
                                </p:cTn>
                              </p:par>
                              <p:par>
                                <p:cTn id="40" presetID="10" presetClass="entr" presetSubtype="0" fill="hold" nodeType="withEffect">
                                  <p:stCondLst>
                                    <p:cond delay="500"/>
                                  </p:stCondLst>
                                  <p:childTnLst>
                                    <p:set>
                                      <p:cBhvr>
                                        <p:cTn id="41" dur="1" fill="hold">
                                          <p:stCondLst>
                                            <p:cond delay="0"/>
                                          </p:stCondLst>
                                        </p:cTn>
                                        <p:tgtEl>
                                          <p:spTgt spid="13"/>
                                        </p:tgtEl>
                                        <p:attrNameLst>
                                          <p:attrName>style.visibility</p:attrName>
                                        </p:attrNameLst>
                                      </p:cBhvr>
                                      <p:to>
                                        <p:strVal val="visible"/>
                                      </p:to>
                                    </p:set>
                                    <p:animEffect transition="in" filter="fade">
                                      <p:cBhvr>
                                        <p:cTn id="42" dur="500"/>
                                        <p:tgtEl>
                                          <p:spTgt spid="13"/>
                                        </p:tgtEl>
                                      </p:cBhvr>
                                    </p:animEffect>
                                  </p:childTnLst>
                                </p:cTn>
                              </p:par>
                            </p:childTnLst>
                          </p:cTn>
                        </p:par>
                        <p:par>
                          <p:cTn id="43" fill="hold">
                            <p:stCondLst>
                              <p:cond delay="1500"/>
                            </p:stCondLst>
                            <p:childTnLst>
                              <p:par>
                                <p:cTn id="44" presetID="22" presetClass="entr" presetSubtype="2" fill="hold" grpId="0" nodeType="afterEffect">
                                  <p:stCondLst>
                                    <p:cond delay="0"/>
                                  </p:stCondLst>
                                  <p:childTnLst>
                                    <p:set>
                                      <p:cBhvr>
                                        <p:cTn id="45" dur="1" fill="hold">
                                          <p:stCondLst>
                                            <p:cond delay="0"/>
                                          </p:stCondLst>
                                        </p:cTn>
                                        <p:tgtEl>
                                          <p:spTgt spid="10"/>
                                        </p:tgtEl>
                                        <p:attrNameLst>
                                          <p:attrName>style.visibility</p:attrName>
                                        </p:attrNameLst>
                                      </p:cBhvr>
                                      <p:to>
                                        <p:strVal val="visible"/>
                                      </p:to>
                                    </p:set>
                                    <p:animEffect transition="in" filter="wipe(right)">
                                      <p:cBhvr>
                                        <p:cTn id="46" dur="750"/>
                                        <p:tgtEl>
                                          <p:spTgt spid="10"/>
                                        </p:tgtEl>
                                      </p:cBhvr>
                                    </p:animEffect>
                                  </p:childTnLst>
                                </p:cTn>
                              </p:par>
                            </p:childTnLst>
                          </p:cTn>
                        </p:par>
                        <p:par>
                          <p:cTn id="47" fill="hold">
                            <p:stCondLst>
                              <p:cond delay="2500"/>
                            </p:stCondLst>
                            <p:childTnLst>
                              <p:par>
                                <p:cTn id="48" presetID="16" presetClass="entr" presetSubtype="21" fill="hold" grpId="0" nodeType="afterEffect">
                                  <p:stCondLst>
                                    <p:cond delay="0"/>
                                  </p:stCondLst>
                                  <p:childTnLst>
                                    <p:set>
                                      <p:cBhvr>
                                        <p:cTn id="49" dur="1" fill="hold">
                                          <p:stCondLst>
                                            <p:cond delay="0"/>
                                          </p:stCondLst>
                                        </p:cTn>
                                        <p:tgtEl>
                                          <p:spTgt spid="15"/>
                                        </p:tgtEl>
                                        <p:attrNameLst>
                                          <p:attrName>style.visibility</p:attrName>
                                        </p:attrNameLst>
                                      </p:cBhvr>
                                      <p:to>
                                        <p:strVal val="visible"/>
                                      </p:to>
                                    </p:set>
                                    <p:animEffect transition="in" filter="barn(inVertical)">
                                      <p:cBhvr>
                                        <p:cTn id="50" dur="500"/>
                                        <p:tgtEl>
                                          <p:spTgt spid="15"/>
                                        </p:tgtEl>
                                      </p:cBhvr>
                                    </p:animEffect>
                                  </p:childTnLst>
                                </p:cTn>
                              </p:par>
                            </p:childTnLst>
                          </p:cTn>
                        </p:par>
                        <p:par>
                          <p:cTn id="51" fill="hold">
                            <p:stCondLst>
                              <p:cond delay="3000"/>
                            </p:stCondLst>
                            <p:childTnLst>
                              <p:par>
                                <p:cTn id="52" presetID="22" presetClass="entr" presetSubtype="8" fill="hold" grpId="0" nodeType="afterEffect">
                                  <p:stCondLst>
                                    <p:cond delay="0"/>
                                  </p:stCondLst>
                                  <p:childTnLst>
                                    <p:set>
                                      <p:cBhvr>
                                        <p:cTn id="53" dur="1" fill="hold">
                                          <p:stCondLst>
                                            <p:cond delay="0"/>
                                          </p:stCondLst>
                                        </p:cTn>
                                        <p:tgtEl>
                                          <p:spTgt spid="11"/>
                                        </p:tgtEl>
                                        <p:attrNameLst>
                                          <p:attrName>style.visibility</p:attrName>
                                        </p:attrNameLst>
                                      </p:cBhvr>
                                      <p:to>
                                        <p:strVal val="visible"/>
                                      </p:to>
                                    </p:set>
                                    <p:animEffect transition="in" filter="wipe(left)">
                                      <p:cBhvr>
                                        <p:cTn id="54" dur="750"/>
                                        <p:tgtEl>
                                          <p:spTgt spid="11"/>
                                        </p:tgtEl>
                                      </p:cBhvr>
                                    </p:animEffect>
                                  </p:childTnLst>
                                </p:cTn>
                              </p:par>
                            </p:childTnLst>
                          </p:cTn>
                        </p:par>
                        <p:par>
                          <p:cTn id="55" fill="hold">
                            <p:stCondLst>
                              <p:cond delay="4000"/>
                            </p:stCondLst>
                            <p:childTnLst>
                              <p:par>
                                <p:cTn id="56" presetID="16" presetClass="entr" presetSubtype="21" fill="hold" grpId="0" nodeType="afterEffect">
                                  <p:stCondLst>
                                    <p:cond delay="0"/>
                                  </p:stCondLst>
                                  <p:childTnLst>
                                    <p:set>
                                      <p:cBhvr>
                                        <p:cTn id="57" dur="1" fill="hold">
                                          <p:stCondLst>
                                            <p:cond delay="0"/>
                                          </p:stCondLst>
                                        </p:cTn>
                                        <p:tgtEl>
                                          <p:spTgt spid="16"/>
                                        </p:tgtEl>
                                        <p:attrNameLst>
                                          <p:attrName>style.visibility</p:attrName>
                                        </p:attrNameLst>
                                      </p:cBhvr>
                                      <p:to>
                                        <p:strVal val="visible"/>
                                      </p:to>
                                    </p:set>
                                    <p:animEffect transition="in" filter="barn(inVertical)">
                                      <p:cBhvr>
                                        <p:cTn id="58"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P spid="8" grpId="0" animBg="1"/>
      <p:bldP spid="9" grpId="0"/>
      <p:bldP spid="10" grpId="0" animBg="1"/>
      <p:bldP spid="11" grpId="0" animBg="1"/>
      <p:bldP spid="12" grpId="0" animBg="1"/>
      <p:bldP spid="15" grpId="0"/>
      <p:bldP spid="16"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Rectangle 8"/>
          <p:cNvSpPr>
            <a:spLocks noChangeArrowheads="1"/>
          </p:cNvSpPr>
          <p:nvPr/>
        </p:nvSpPr>
        <p:spPr bwMode="gray">
          <a:xfrm>
            <a:off x="5691262" y="3733385"/>
            <a:ext cx="2609850" cy="522287"/>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7" name="Rectangle 9"/>
          <p:cNvSpPr>
            <a:spLocks noChangeArrowheads="1"/>
          </p:cNvSpPr>
          <p:nvPr/>
        </p:nvSpPr>
        <p:spPr bwMode="gray">
          <a:xfrm>
            <a:off x="5691262" y="318411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8" name="Rectangle 10"/>
          <p:cNvSpPr>
            <a:spLocks noChangeArrowheads="1"/>
          </p:cNvSpPr>
          <p:nvPr/>
        </p:nvSpPr>
        <p:spPr bwMode="gray">
          <a:xfrm>
            <a:off x="5691262" y="263483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29" name="Rectangle 11"/>
          <p:cNvSpPr>
            <a:spLocks noChangeArrowheads="1"/>
          </p:cNvSpPr>
          <p:nvPr/>
        </p:nvSpPr>
        <p:spPr bwMode="gray">
          <a:xfrm>
            <a:off x="5691262" y="2085560"/>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0" name="Rectangle 12"/>
          <p:cNvSpPr>
            <a:spLocks noChangeArrowheads="1"/>
          </p:cNvSpPr>
          <p:nvPr/>
        </p:nvSpPr>
        <p:spPr bwMode="gray">
          <a:xfrm>
            <a:off x="5691262" y="1536285"/>
            <a:ext cx="2609850" cy="523875"/>
          </a:xfrm>
          <a:prstGeom prst="rect">
            <a:avLst/>
          </a:prstGeom>
          <a:solidFill>
            <a:schemeClr val="bg1">
              <a:lumMod val="75000"/>
              <a:alpha val="29000"/>
            </a:schemeClr>
          </a:solidFill>
          <a:ln>
            <a:noFill/>
          </a:ln>
          <a:effectLst/>
        </p:spPr>
        <p:txBody>
          <a:bodyPr wrap="none" anchor="ctr"/>
          <a:lstStyle/>
          <a:p>
            <a:pPr fontAlgn="base">
              <a:spcBef>
                <a:spcPct val="0"/>
              </a:spcBef>
              <a:spcAft>
                <a:spcPct val="0"/>
              </a:spcAft>
            </a:pPr>
            <a:endParaRPr lang="zh-CN" altLang="en-US">
              <a:solidFill>
                <a:srgbClr val="17347D"/>
              </a:solidFill>
              <a:latin typeface="Arial" panose="020B0604020202020204" pitchFamily="34" charset="0"/>
            </a:endParaRPr>
          </a:p>
        </p:txBody>
      </p:sp>
      <p:sp>
        <p:nvSpPr>
          <p:cNvPr id="31" name="Text Box 13"/>
          <p:cNvSpPr txBox="1">
            <a:spLocks noChangeArrowheads="1"/>
          </p:cNvSpPr>
          <p:nvPr/>
        </p:nvSpPr>
        <p:spPr bwMode="gray">
          <a:xfrm>
            <a:off x="5578549" y="4255672"/>
            <a:ext cx="576263"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32" name="Text Box 14"/>
          <p:cNvSpPr txBox="1">
            <a:spLocks noChangeArrowheads="1"/>
          </p:cNvSpPr>
          <p:nvPr/>
        </p:nvSpPr>
        <p:spPr bwMode="gray">
          <a:xfrm>
            <a:off x="5591249" y="3695285"/>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200</a:t>
            </a:r>
          </a:p>
        </p:txBody>
      </p:sp>
      <p:sp>
        <p:nvSpPr>
          <p:cNvPr id="33" name="Text Box 15"/>
          <p:cNvSpPr txBox="1">
            <a:spLocks noChangeArrowheads="1"/>
          </p:cNvSpPr>
          <p:nvPr/>
        </p:nvSpPr>
        <p:spPr bwMode="gray">
          <a:xfrm>
            <a:off x="5583312" y="3149185"/>
            <a:ext cx="49053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400</a:t>
            </a:r>
          </a:p>
        </p:txBody>
      </p:sp>
      <p:sp>
        <p:nvSpPr>
          <p:cNvPr id="34" name="Text Box 16"/>
          <p:cNvSpPr txBox="1">
            <a:spLocks noChangeArrowheads="1"/>
          </p:cNvSpPr>
          <p:nvPr/>
        </p:nvSpPr>
        <p:spPr bwMode="gray">
          <a:xfrm>
            <a:off x="5584899" y="2606260"/>
            <a:ext cx="490538"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600</a:t>
            </a:r>
          </a:p>
        </p:txBody>
      </p:sp>
      <p:sp>
        <p:nvSpPr>
          <p:cNvPr id="35" name="Text Box 17"/>
          <p:cNvSpPr txBox="1">
            <a:spLocks noChangeArrowheads="1"/>
          </p:cNvSpPr>
          <p:nvPr/>
        </p:nvSpPr>
        <p:spPr bwMode="gray">
          <a:xfrm>
            <a:off x="5586487" y="2071272"/>
            <a:ext cx="490537"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a:solidFill>
                  <a:srgbClr val="000000">
                    <a:lumMod val="95000"/>
                    <a:lumOff val="5000"/>
                  </a:srgbClr>
                </a:solidFill>
                <a:latin typeface="Arial" panose="020B0604020202020204" pitchFamily="34" charset="0"/>
                <a:cs typeface="Arial" panose="020B0604020202020204" pitchFamily="34" charset="0"/>
              </a:rPr>
              <a:t>800</a:t>
            </a:r>
          </a:p>
        </p:txBody>
      </p:sp>
      <p:sp>
        <p:nvSpPr>
          <p:cNvPr id="36" name="Text Box 18"/>
          <p:cNvSpPr txBox="1">
            <a:spLocks noChangeArrowheads="1"/>
          </p:cNvSpPr>
          <p:nvPr/>
        </p:nvSpPr>
        <p:spPr bwMode="gray">
          <a:xfrm>
            <a:off x="5578549" y="1499772"/>
            <a:ext cx="633413" cy="274638"/>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en-US" altLang="zh-CN" sz="1200" b="1" dirty="0">
                <a:solidFill>
                  <a:srgbClr val="000000">
                    <a:lumMod val="95000"/>
                    <a:lumOff val="5000"/>
                  </a:srgbClr>
                </a:solidFill>
                <a:latin typeface="Arial" panose="020B0604020202020204" pitchFamily="34" charset="0"/>
                <a:cs typeface="Arial" panose="020B0604020202020204" pitchFamily="34" charset="0"/>
              </a:rPr>
              <a:t>1000</a:t>
            </a:r>
          </a:p>
        </p:txBody>
      </p:sp>
      <p:sp>
        <p:nvSpPr>
          <p:cNvPr id="37" name="Rectangle 19"/>
          <p:cNvSpPr>
            <a:spLocks noChangeArrowheads="1"/>
          </p:cNvSpPr>
          <p:nvPr/>
        </p:nvSpPr>
        <p:spPr bwMode="gray">
          <a:xfrm>
            <a:off x="6475487" y="2953922"/>
            <a:ext cx="217487" cy="1293813"/>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38" name="Rectangle 20"/>
          <p:cNvSpPr>
            <a:spLocks noChangeArrowheads="1"/>
          </p:cNvSpPr>
          <p:nvPr/>
        </p:nvSpPr>
        <p:spPr bwMode="gray">
          <a:xfrm>
            <a:off x="7115249" y="1706147"/>
            <a:ext cx="217488" cy="2541588"/>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pPr>
              <a:defRPr/>
            </a:pPr>
            <a:endParaRPr lang="zh-CN" altLang="en-US" kern="0">
              <a:solidFill>
                <a:srgbClr val="17347D"/>
              </a:solidFill>
              <a:latin typeface="Arial" panose="020B0604020202020204" pitchFamily="34" charset="0"/>
            </a:endParaRPr>
          </a:p>
        </p:txBody>
      </p:sp>
      <p:sp>
        <p:nvSpPr>
          <p:cNvPr id="39" name="Rectangle 21"/>
          <p:cNvSpPr>
            <a:spLocks noChangeArrowheads="1"/>
          </p:cNvSpPr>
          <p:nvPr/>
        </p:nvSpPr>
        <p:spPr bwMode="gray">
          <a:xfrm>
            <a:off x="7766124" y="2085560"/>
            <a:ext cx="217488" cy="2162175"/>
          </a:xfrm>
          <a:prstGeom prst="rect">
            <a:avLst/>
          </a:prstGeom>
          <a:gradFill rotWithShape="1">
            <a:gsLst>
              <a:gs pos="0">
                <a:schemeClr val="tx2">
                  <a:lumMod val="60000"/>
                  <a:lumOff val="40000"/>
                </a:schemeClr>
              </a:gs>
              <a:gs pos="100000">
                <a:schemeClr val="tx2">
                  <a:lumMod val="50000"/>
                </a:schemeClr>
              </a:gs>
            </a:gsLst>
            <a:lin ang="5400000" scaled="1"/>
          </a:gradFill>
          <a:ln>
            <a:noFill/>
          </a:ln>
          <a:effectLst/>
        </p:spPr>
        <p:txBody>
          <a:bodyPr wrap="none" anchor="ctr"/>
          <a:lstStyle/>
          <a:p>
            <a:endParaRPr lang="zh-CN" altLang="en-US" kern="0">
              <a:solidFill>
                <a:srgbClr val="17347D"/>
              </a:solidFill>
              <a:latin typeface="Arial" panose="020B0604020202020204" pitchFamily="34" charset="0"/>
            </a:endParaRPr>
          </a:p>
        </p:txBody>
      </p:sp>
      <p:sp>
        <p:nvSpPr>
          <p:cNvPr id="40" name="Text Box 22"/>
          <p:cNvSpPr txBox="1">
            <a:spLocks noChangeArrowheads="1"/>
          </p:cNvSpPr>
          <p:nvPr/>
        </p:nvSpPr>
        <p:spPr bwMode="gray">
          <a:xfrm>
            <a:off x="6299274" y="4255672"/>
            <a:ext cx="649288"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1" name="Text Box 23"/>
          <p:cNvSpPr txBox="1">
            <a:spLocks noChangeArrowheads="1"/>
          </p:cNvSpPr>
          <p:nvPr/>
        </p:nvSpPr>
        <p:spPr bwMode="gray">
          <a:xfrm>
            <a:off x="6919987" y="4255672"/>
            <a:ext cx="638174"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2" name="Text Box 24"/>
          <p:cNvSpPr txBox="1">
            <a:spLocks noChangeArrowheads="1"/>
          </p:cNvSpPr>
          <p:nvPr/>
        </p:nvSpPr>
        <p:spPr bwMode="gray">
          <a:xfrm>
            <a:off x="7501011" y="4255672"/>
            <a:ext cx="782637" cy="276999"/>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ctr" fontAlgn="base">
              <a:spcBef>
                <a:spcPct val="50000"/>
              </a:spcBef>
              <a:spcAft>
                <a:spcPct val="0"/>
              </a:spcAft>
            </a:pPr>
            <a:r>
              <a:rPr lang="zh-CN" altLang="en-US"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文本</a:t>
            </a:r>
            <a:endParaRPr lang="en-US" altLang="zh-CN" sz="1200"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sp>
        <p:nvSpPr>
          <p:cNvPr id="43" name="Text Box 25"/>
          <p:cNvSpPr txBox="1">
            <a:spLocks noChangeArrowheads="1"/>
          </p:cNvSpPr>
          <p:nvPr/>
        </p:nvSpPr>
        <p:spPr bwMode="gray">
          <a:xfrm>
            <a:off x="7574037" y="1201316"/>
            <a:ext cx="814387" cy="274637"/>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lgn="ctr" fontAlgn="base">
              <a:spcBef>
                <a:spcPct val="50000"/>
              </a:spcBef>
              <a:spcAft>
                <a:spcPct val="0"/>
              </a:spcAft>
            </a:pPr>
            <a:r>
              <a:rPr lang="zh-CN" altLang="en-US" sz="1200" b="1" dirty="0">
                <a:solidFill>
                  <a:srgbClr val="000000">
                    <a:lumMod val="95000"/>
                    <a:lumOff val="5000"/>
                  </a:srgbClr>
                </a:solidFill>
                <a:latin typeface="Arial" panose="020B0604020202020204" pitchFamily="34" charset="0"/>
                <a:cs typeface="Arial" panose="020B0604020202020204" pitchFamily="34" charset="0"/>
              </a:rPr>
              <a:t>增强版U-Net</a:t>
            </a:r>
            <a:endParaRPr lang="en-US" altLang="zh-CN" sz="1200" b="1" dirty="0">
              <a:solidFill>
                <a:srgbClr val="000000">
                  <a:lumMod val="95000"/>
                  <a:lumOff val="5000"/>
                </a:srgbClr>
              </a:solidFill>
              <a:latin typeface="Arial" panose="020B0604020202020204" pitchFamily="34" charset="0"/>
              <a:cs typeface="Arial" panose="020B0604020202020204" pitchFamily="34" charset="0"/>
            </a:endParaRPr>
          </a:p>
        </p:txBody>
      </p:sp>
      <p:sp>
        <p:nvSpPr>
          <p:cNvPr id="44" name="Text Box 28"/>
          <p:cNvSpPr txBox="1">
            <a:spLocks noChangeArrowheads="1"/>
          </p:cNvSpPr>
          <p:nvPr/>
        </p:nvSpPr>
        <p:spPr bwMode="auto">
          <a:xfrm>
            <a:off x="6099001" y="4654900"/>
            <a:ext cx="1857375" cy="341632"/>
          </a:xfrm>
          <a:prstGeom prst="rect">
            <a:avLst/>
          </a:prstGeom>
          <a:noFill/>
          <a:ln>
            <a:noFill/>
          </a:ln>
          <a:effectLst/>
          <a:extLst>
            <a:ext uri="{909E8E84-426E-40DD-AFC4-6F175D3DCCD1}">
              <a14:hiddenFill xmlns:a14="http://schemas.microsoft.com/office/drawing/2010/main">
                <a:gradFill rotWithShape="1">
                  <a:gsLst>
                    <a:gs pos="0">
                      <a:schemeClr val="accent2"/>
                    </a:gs>
                    <a:gs pos="100000">
                      <a:schemeClr val="accent2">
                        <a:gamma/>
                        <a:tint val="73725"/>
                        <a:invGamma/>
                      </a:schemeClr>
                    </a:gs>
                  </a:gsLst>
                  <a:lin ang="5400000" scaled="1"/>
                </a:gra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17961" dir="2700000" algn="ctr" rotWithShape="0">
                    <a:srgbClr val="4D4D4D">
                      <a:alpha val="50000"/>
                    </a:srgbClr>
                  </a:outerShdw>
                </a:effectLst>
              </a14:hiddenEffects>
            </a:ext>
          </a:extLst>
        </p:spPr>
        <p:txBody>
          <a:bodyPr wrap="square">
            <a:spAutoFit/>
          </a:bodyPr>
          <a:lstStyle>
            <a:lvl1pPr marL="173355" indent="-173355">
              <a:defRPr>
                <a:solidFill>
                  <a:schemeClr val="tx1"/>
                </a:solidFill>
                <a:latin typeface="Arial" panose="020B0604020202020204" pitchFamily="34" charset="0"/>
              </a:defRPr>
            </a:lvl1pPr>
            <a:lvl2pPr marL="800100" indent="-342900">
              <a:defRPr>
                <a:solidFill>
                  <a:schemeClr val="tx1"/>
                </a:solidFill>
                <a:latin typeface="Arial" panose="020B0604020202020204" pitchFamily="34" charset="0"/>
              </a:defRPr>
            </a:lvl2pPr>
            <a:lvl3pPr marL="1257300" indent="-342900">
              <a:defRPr>
                <a:solidFill>
                  <a:schemeClr val="tx1"/>
                </a:solidFill>
                <a:latin typeface="Arial" panose="020B0604020202020204" pitchFamily="34" charset="0"/>
              </a:defRPr>
            </a:lvl3pPr>
            <a:lvl4pPr marL="1714500" indent="-342900">
              <a:defRPr>
                <a:solidFill>
                  <a:schemeClr val="tx1"/>
                </a:solidFill>
                <a:latin typeface="Arial" panose="020B0604020202020204" pitchFamily="34" charset="0"/>
              </a:defRPr>
            </a:lvl4pPr>
            <a:lvl5pPr marL="2171700" indent="-342900">
              <a:defRPr>
                <a:solidFill>
                  <a:schemeClr val="tx1"/>
                </a:solidFill>
                <a:latin typeface="Arial" panose="020B0604020202020204" pitchFamily="34" charset="0"/>
              </a:defRPr>
            </a:lvl5pPr>
            <a:lvl6pPr marL="2628900" indent="-342900" fontAlgn="base">
              <a:spcBef>
                <a:spcPct val="0"/>
              </a:spcBef>
              <a:spcAft>
                <a:spcPct val="0"/>
              </a:spcAft>
              <a:defRPr>
                <a:solidFill>
                  <a:schemeClr val="tx1"/>
                </a:solidFill>
                <a:latin typeface="Arial" panose="020B0604020202020204" pitchFamily="34" charset="0"/>
              </a:defRPr>
            </a:lvl6pPr>
            <a:lvl7pPr marL="3086100" indent="-342900" fontAlgn="base">
              <a:spcBef>
                <a:spcPct val="0"/>
              </a:spcBef>
              <a:spcAft>
                <a:spcPct val="0"/>
              </a:spcAft>
              <a:defRPr>
                <a:solidFill>
                  <a:schemeClr val="tx1"/>
                </a:solidFill>
                <a:latin typeface="Arial" panose="020B0604020202020204" pitchFamily="34" charset="0"/>
              </a:defRPr>
            </a:lvl7pPr>
            <a:lvl8pPr marL="3543300" indent="-342900" fontAlgn="base">
              <a:spcBef>
                <a:spcPct val="0"/>
              </a:spcBef>
              <a:spcAft>
                <a:spcPct val="0"/>
              </a:spcAft>
              <a:defRPr>
                <a:solidFill>
                  <a:schemeClr val="tx1"/>
                </a:solidFill>
                <a:latin typeface="Arial" panose="020B0604020202020204" pitchFamily="34" charset="0"/>
              </a:defRPr>
            </a:lvl8pPr>
            <a:lvl9pPr marL="4000500" indent="-342900" fontAlgn="base">
              <a:spcBef>
                <a:spcPct val="0"/>
              </a:spcBef>
              <a:spcAft>
                <a:spcPct val="0"/>
              </a:spcAft>
              <a:defRPr>
                <a:solidFill>
                  <a:schemeClr val="tx1"/>
                </a:solidFill>
                <a:latin typeface="Arial" panose="020B0604020202020204" pitchFamily="34" charset="0"/>
              </a:defRPr>
            </a:lvl9pPr>
          </a:lstStyle>
          <a:p>
            <a:pPr marL="0" indent="0" algn="ctr" fontAlgn="base">
              <a:lnSpc>
                <a:spcPct val="90000"/>
              </a:lnSpc>
              <a:spcBef>
                <a:spcPct val="50000"/>
              </a:spcBef>
              <a:spcAft>
                <a:spcPct val="0"/>
              </a:spcAft>
            </a:pPr>
            <a:r>
              <a:rPr lang="zh-CN" altLang="en-US"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rPr>
              <a:t>添加图表标题</a:t>
            </a:r>
            <a:endParaRPr lang="en-US" altLang="zh-CN" b="1" dirty="0">
              <a:solidFill>
                <a:srgbClr val="000000">
                  <a:lumMod val="95000"/>
                  <a:lumOff val="5000"/>
                </a:srgbClr>
              </a:solidFill>
              <a:latin typeface="微软雅黑" panose="020B0503020204020204" pitchFamily="34" charset="-122"/>
              <a:ea typeface="微软雅黑" panose="020B0503020204020204" pitchFamily="34" charset="-122"/>
              <a:cs typeface="Arial" panose="020B0604020202020204" pitchFamily="34" charset="0"/>
            </a:endParaRPr>
          </a:p>
        </p:txBody>
      </p:sp>
      <p:pic>
        <p:nvPicPr>
          <p:cNvPr id="45" name="Picture 2" descr="C:\Users\hd02\Desktop\bld036040.jpg"/>
          <p:cNvPicPr>
            <a:picLocks noChangeAspect="1" noChangeArrowheads="1"/>
          </p:cNvPicPr>
          <p:nvPr/>
        </p:nvPicPr>
        <p:blipFill rotWithShape="1">
          <a:blip r:embed="rId3" cstate="print">
            <a:grayscl/>
            <a:extLst>
              <a:ext uri="{28A0092B-C50C-407E-A947-70E740481C1C}">
                <a14:useLocalDpi xmlns:a14="http://schemas.microsoft.com/office/drawing/2010/main" val="0"/>
              </a:ext>
            </a:extLst>
          </a:blip>
          <a:srcRect t="36845"/>
          <a:stretch>
            <a:fillRect/>
          </a:stretch>
        </p:blipFill>
        <p:spPr bwMode="auto">
          <a:xfrm>
            <a:off x="876974" y="2306272"/>
            <a:ext cx="4629567" cy="194225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pic>
      <p:sp>
        <p:nvSpPr>
          <p:cNvPr id="46" name="矩形 45"/>
          <p:cNvSpPr/>
          <p:nvPr/>
        </p:nvSpPr>
        <p:spPr>
          <a:xfrm>
            <a:off x="876974" y="1536285"/>
            <a:ext cx="4629568" cy="672306"/>
          </a:xfrm>
          <a:prstGeom prst="rect">
            <a:avLst/>
          </a:prstGeom>
          <a:solidFill>
            <a:srgbClr val="00B0F0"/>
          </a:solidFill>
          <a:ln w="25400" cap="flat" cmpd="sng" algn="ctr">
            <a:noFill/>
            <a:prstDash val="solid"/>
          </a:ln>
          <a:effectLst/>
        </p:spPr>
        <p:txBody>
          <a:bodyPr rtlCol="0" anchor="ctr"/>
          <a:lstStyle/>
          <a:p>
            <a:pPr marL="0" marR="0" lvl="0" indent="0" algn="ctr" defTabSz="914400" eaLnBrk="1" fontAlgn="base" latinLnBrk="0" hangingPunct="1">
              <a:lnSpc>
                <a:spcPct val="100000"/>
              </a:lnSpc>
              <a:spcBef>
                <a:spcPct val="0"/>
              </a:spcBef>
              <a:spcAft>
                <a:spcPct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Arial" panose="020B0604020202020204"/>
              <a:ea typeface="宋体" panose="02010600030101010101" pitchFamily="2" charset="-122"/>
            </a:endParaRPr>
          </a:p>
        </p:txBody>
      </p:sp>
      <p:sp>
        <p:nvSpPr>
          <p:cNvPr id="47" name="矩形 46"/>
          <p:cNvSpPr/>
          <p:nvPr/>
        </p:nvSpPr>
        <p:spPr>
          <a:xfrm>
            <a:off x="1042045" y="1610828"/>
            <a:ext cx="3057247" cy="523220"/>
          </a:xfrm>
          <a:prstGeom prst="rect">
            <a:avLst/>
          </a:prstGeom>
        </p:spPr>
        <p:txBody>
          <a:bodyPr wrap="none">
            <a:spAutoFit/>
          </a:bodyPr>
          <a:lstStyle/>
          <a:p>
            <a:pPr defTabSz="1028700">
              <a:spcBef>
                <a:spcPct val="0"/>
              </a:spcBef>
              <a:defRPr/>
            </a:pPr>
            <a:r>
              <a:rPr lang="zh-CN" altLang="en-US" sz="2800" b="1" dirty="0">
                <a:solidFill>
                  <a:srgbClr val="FFFFFF"/>
                </a:solidFill>
                <a:latin typeface="微软雅黑" panose="020B0503020204020204" pitchFamily="34" charset="-122"/>
                <a:ea typeface="微软雅黑" panose="020B0503020204020204" pitchFamily="34" charset="-122"/>
              </a:rPr>
              <a:t>模型架构设计</a:t>
            </a:r>
          </a:p>
        </p:txBody>
      </p:sp>
      <p:sp>
        <p:nvSpPr>
          <p:cNvPr id="48" name="TextBox 4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理论基础与技术</a:t>
            </a:r>
          </a:p>
        </p:txBody>
      </p:sp>
    </p:spTree>
  </p:cSld>
  <p:clrMapOvr>
    <a:masterClrMapping/>
  </p:clrMapOvr>
  <mc:AlternateContent xmlns:mc="http://schemas.openxmlformats.org/markup-compatibility/2006" xmlns:p14="http://schemas.microsoft.com/office/powerpoint/2010/main">
    <mc:Choice Requires="p14">
      <p:transition spd="slow" p14:dur="1600" advClick="0" advTm="6000">
        <p14:gallery dir="r"/>
      </p:transition>
    </mc:Choice>
    <mc:Fallback xmlns="">
      <p:transition spd="slow" advClick="0" advTm="6000">
        <p:fade/>
      </p:transition>
    </mc:Fallback>
  </mc:AlternateContent>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14:presetBounceEnd="22000">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14:bounceEnd="22000">
                                          <p:cBhvr additive="base">
                                            <p:cTn id="15" dur="500" fill="hold"/>
                                            <p:tgtEl>
                                              <p:spTgt spid="45"/>
                                            </p:tgtEl>
                                            <p:attrNameLst>
                                              <p:attrName>ppt_x</p:attrName>
                                            </p:attrNameLst>
                                          </p:cBhvr>
                                          <p:tavLst>
                                            <p:tav tm="0">
                                              <p:val>
                                                <p:strVal val="0-#ppt_w/2"/>
                                              </p:val>
                                            </p:tav>
                                            <p:tav tm="100000">
                                              <p:val>
                                                <p:strVal val="#ppt_x"/>
                                              </p:val>
                                            </p:tav>
                                          </p:tavLst>
                                        </p:anim>
                                        <p:anim calcmode="lin" valueType="num" p14:bounceEnd="22000">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46"/>
                                            </p:tgtEl>
                                            <p:attrNameLst>
                                              <p:attrName>style.visibility</p:attrName>
                                            </p:attrNameLst>
                                          </p:cBhvr>
                                          <p:to>
                                            <p:strVal val="visible"/>
                                          </p:to>
                                        </p:set>
                                        <p:animEffect transition="in" filter="wipe(left)">
                                          <p:cBhvr>
                                            <p:cTn id="7" dur="500"/>
                                            <p:tgtEl>
                                              <p:spTgt spid="46"/>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47"/>
                                            </p:tgtEl>
                                            <p:attrNameLst>
                                              <p:attrName>style.visibility</p:attrName>
                                            </p:attrNameLst>
                                          </p:cBhvr>
                                          <p:to>
                                            <p:strVal val="visible"/>
                                          </p:to>
                                        </p:set>
                                        <p:animEffect transition="in" filter="wipe(left)">
                                          <p:cBhvr>
                                            <p:cTn id="11" dur="500"/>
                                            <p:tgtEl>
                                              <p:spTgt spid="47"/>
                                            </p:tgtEl>
                                          </p:cBhvr>
                                        </p:animEffect>
                                      </p:childTnLst>
                                    </p:cTn>
                                  </p:par>
                                </p:childTnLst>
                              </p:cTn>
                            </p:par>
                            <p:par>
                              <p:cTn id="12" fill="hold">
                                <p:stCondLst>
                                  <p:cond delay="1000"/>
                                </p:stCondLst>
                                <p:childTnLst>
                                  <p:par>
                                    <p:cTn id="13" presetID="2" presetClass="entr" presetSubtype="8" fill="hold" nodeType="afterEffect">
                                      <p:stCondLst>
                                        <p:cond delay="0"/>
                                      </p:stCondLst>
                                      <p:childTnLst>
                                        <p:set>
                                          <p:cBhvr>
                                            <p:cTn id="14" dur="1" fill="hold">
                                              <p:stCondLst>
                                                <p:cond delay="0"/>
                                              </p:stCondLst>
                                            </p:cTn>
                                            <p:tgtEl>
                                              <p:spTgt spid="45"/>
                                            </p:tgtEl>
                                            <p:attrNameLst>
                                              <p:attrName>style.visibility</p:attrName>
                                            </p:attrNameLst>
                                          </p:cBhvr>
                                          <p:to>
                                            <p:strVal val="visible"/>
                                          </p:to>
                                        </p:set>
                                        <p:anim calcmode="lin" valueType="num">
                                          <p:cBhvr additive="base">
                                            <p:cTn id="15" dur="500" fill="hold"/>
                                            <p:tgtEl>
                                              <p:spTgt spid="45"/>
                                            </p:tgtEl>
                                            <p:attrNameLst>
                                              <p:attrName>ppt_x</p:attrName>
                                            </p:attrNameLst>
                                          </p:cBhvr>
                                          <p:tavLst>
                                            <p:tav tm="0">
                                              <p:val>
                                                <p:strVal val="0-#ppt_w/2"/>
                                              </p:val>
                                            </p:tav>
                                            <p:tav tm="100000">
                                              <p:val>
                                                <p:strVal val="#ppt_x"/>
                                              </p:val>
                                            </p:tav>
                                          </p:tavLst>
                                        </p:anim>
                                        <p:anim calcmode="lin" valueType="num">
                                          <p:cBhvr additive="base">
                                            <p:cTn id="16" dur="500" fill="hold"/>
                                            <p:tgtEl>
                                              <p:spTgt spid="45"/>
                                            </p:tgtEl>
                                            <p:attrNameLst>
                                              <p:attrName>ppt_y</p:attrName>
                                            </p:attrNameLst>
                                          </p:cBhvr>
                                          <p:tavLst>
                                            <p:tav tm="0">
                                              <p:val>
                                                <p:strVal val="#ppt_y"/>
                                              </p:val>
                                            </p:tav>
                                            <p:tav tm="100000">
                                              <p:val>
                                                <p:strVal val="#ppt_y"/>
                                              </p:val>
                                            </p:tav>
                                          </p:tavLst>
                                        </p:anim>
                                      </p:childTnLst>
                                    </p:cTn>
                                  </p:par>
                                </p:childTnLst>
                              </p:cTn>
                            </p:par>
                            <p:par>
                              <p:cTn id="17" fill="hold">
                                <p:stCondLst>
                                  <p:cond delay="1500"/>
                                </p:stCondLst>
                                <p:childTnLst>
                                  <p:par>
                                    <p:cTn id="18" presetID="23" presetClass="entr" presetSubtype="16" fill="hold" grpId="0" nodeType="afterEffect">
                                      <p:stCondLst>
                                        <p:cond delay="0"/>
                                      </p:stCondLst>
                                      <p:childTnLst>
                                        <p:set>
                                          <p:cBhvr>
                                            <p:cTn id="19" dur="1" fill="hold">
                                              <p:stCondLst>
                                                <p:cond delay="0"/>
                                              </p:stCondLst>
                                            </p:cTn>
                                            <p:tgtEl>
                                              <p:spTgt spid="26"/>
                                            </p:tgtEl>
                                            <p:attrNameLst>
                                              <p:attrName>style.visibility</p:attrName>
                                            </p:attrNameLst>
                                          </p:cBhvr>
                                          <p:to>
                                            <p:strVal val="visible"/>
                                          </p:to>
                                        </p:set>
                                        <p:anim calcmode="lin" valueType="num">
                                          <p:cBhvr>
                                            <p:cTn id="20" dur="250" fill="hold"/>
                                            <p:tgtEl>
                                              <p:spTgt spid="26"/>
                                            </p:tgtEl>
                                            <p:attrNameLst>
                                              <p:attrName>ppt_w</p:attrName>
                                            </p:attrNameLst>
                                          </p:cBhvr>
                                          <p:tavLst>
                                            <p:tav tm="0">
                                              <p:val>
                                                <p:fltVal val="0"/>
                                              </p:val>
                                            </p:tav>
                                            <p:tav tm="100000">
                                              <p:val>
                                                <p:strVal val="#ppt_w"/>
                                              </p:val>
                                            </p:tav>
                                          </p:tavLst>
                                        </p:anim>
                                        <p:anim calcmode="lin" valueType="num">
                                          <p:cBhvr>
                                            <p:cTn id="21" dur="250" fill="hold"/>
                                            <p:tgtEl>
                                              <p:spTgt spid="26"/>
                                            </p:tgtEl>
                                            <p:attrNameLst>
                                              <p:attrName>ppt_h</p:attrName>
                                            </p:attrNameLst>
                                          </p:cBhvr>
                                          <p:tavLst>
                                            <p:tav tm="0">
                                              <p:val>
                                                <p:fltVal val="0"/>
                                              </p:val>
                                            </p:tav>
                                            <p:tav tm="100000">
                                              <p:val>
                                                <p:strVal val="#ppt_h"/>
                                              </p:val>
                                            </p:tav>
                                          </p:tavLst>
                                        </p:anim>
                                      </p:childTnLst>
                                    </p:cTn>
                                  </p:par>
                                  <p:par>
                                    <p:cTn id="22" presetID="23" presetClass="entr" presetSubtype="16" fill="hold" grpId="0" nodeType="withEffect">
                                      <p:stCondLst>
                                        <p:cond delay="200"/>
                                      </p:stCondLst>
                                      <p:childTnLst>
                                        <p:set>
                                          <p:cBhvr>
                                            <p:cTn id="23" dur="1" fill="hold">
                                              <p:stCondLst>
                                                <p:cond delay="0"/>
                                              </p:stCondLst>
                                            </p:cTn>
                                            <p:tgtEl>
                                              <p:spTgt spid="27"/>
                                            </p:tgtEl>
                                            <p:attrNameLst>
                                              <p:attrName>style.visibility</p:attrName>
                                            </p:attrNameLst>
                                          </p:cBhvr>
                                          <p:to>
                                            <p:strVal val="visible"/>
                                          </p:to>
                                        </p:set>
                                        <p:anim calcmode="lin" valueType="num">
                                          <p:cBhvr>
                                            <p:cTn id="24" dur="250" fill="hold"/>
                                            <p:tgtEl>
                                              <p:spTgt spid="27"/>
                                            </p:tgtEl>
                                            <p:attrNameLst>
                                              <p:attrName>ppt_w</p:attrName>
                                            </p:attrNameLst>
                                          </p:cBhvr>
                                          <p:tavLst>
                                            <p:tav tm="0">
                                              <p:val>
                                                <p:fltVal val="0"/>
                                              </p:val>
                                            </p:tav>
                                            <p:tav tm="100000">
                                              <p:val>
                                                <p:strVal val="#ppt_w"/>
                                              </p:val>
                                            </p:tav>
                                          </p:tavLst>
                                        </p:anim>
                                        <p:anim calcmode="lin" valueType="num">
                                          <p:cBhvr>
                                            <p:cTn id="25" dur="250" fill="hold"/>
                                            <p:tgtEl>
                                              <p:spTgt spid="27"/>
                                            </p:tgtEl>
                                            <p:attrNameLst>
                                              <p:attrName>ppt_h</p:attrName>
                                            </p:attrNameLst>
                                          </p:cBhvr>
                                          <p:tavLst>
                                            <p:tav tm="0">
                                              <p:val>
                                                <p:fltVal val="0"/>
                                              </p:val>
                                            </p:tav>
                                            <p:tav tm="100000">
                                              <p:val>
                                                <p:strVal val="#ppt_h"/>
                                              </p:val>
                                            </p:tav>
                                          </p:tavLst>
                                        </p:anim>
                                      </p:childTnLst>
                                    </p:cTn>
                                  </p:par>
                                  <p:par>
                                    <p:cTn id="26" presetID="23" presetClass="entr" presetSubtype="16" fill="hold" grpId="0" nodeType="withEffect">
                                      <p:stCondLst>
                                        <p:cond delay="400"/>
                                      </p:stCondLst>
                                      <p:childTnLst>
                                        <p:set>
                                          <p:cBhvr>
                                            <p:cTn id="27" dur="1" fill="hold">
                                              <p:stCondLst>
                                                <p:cond delay="0"/>
                                              </p:stCondLst>
                                            </p:cTn>
                                            <p:tgtEl>
                                              <p:spTgt spid="28"/>
                                            </p:tgtEl>
                                            <p:attrNameLst>
                                              <p:attrName>style.visibility</p:attrName>
                                            </p:attrNameLst>
                                          </p:cBhvr>
                                          <p:to>
                                            <p:strVal val="visible"/>
                                          </p:to>
                                        </p:set>
                                        <p:anim calcmode="lin" valueType="num">
                                          <p:cBhvr>
                                            <p:cTn id="28" dur="250" fill="hold"/>
                                            <p:tgtEl>
                                              <p:spTgt spid="28"/>
                                            </p:tgtEl>
                                            <p:attrNameLst>
                                              <p:attrName>ppt_w</p:attrName>
                                            </p:attrNameLst>
                                          </p:cBhvr>
                                          <p:tavLst>
                                            <p:tav tm="0">
                                              <p:val>
                                                <p:fltVal val="0"/>
                                              </p:val>
                                            </p:tav>
                                            <p:tav tm="100000">
                                              <p:val>
                                                <p:strVal val="#ppt_w"/>
                                              </p:val>
                                            </p:tav>
                                          </p:tavLst>
                                        </p:anim>
                                        <p:anim calcmode="lin" valueType="num">
                                          <p:cBhvr>
                                            <p:cTn id="29" dur="250" fill="hold"/>
                                            <p:tgtEl>
                                              <p:spTgt spid="28"/>
                                            </p:tgtEl>
                                            <p:attrNameLst>
                                              <p:attrName>ppt_h</p:attrName>
                                            </p:attrNameLst>
                                          </p:cBhvr>
                                          <p:tavLst>
                                            <p:tav tm="0">
                                              <p:val>
                                                <p:fltVal val="0"/>
                                              </p:val>
                                            </p:tav>
                                            <p:tav tm="100000">
                                              <p:val>
                                                <p:strVal val="#ppt_h"/>
                                              </p:val>
                                            </p:tav>
                                          </p:tavLst>
                                        </p:anim>
                                      </p:childTnLst>
                                    </p:cTn>
                                  </p:par>
                                  <p:par>
                                    <p:cTn id="30" presetID="23" presetClass="entr" presetSubtype="16" fill="hold" grpId="0" nodeType="withEffect">
                                      <p:stCondLst>
                                        <p:cond delay="600"/>
                                      </p:stCondLst>
                                      <p:childTnLst>
                                        <p:set>
                                          <p:cBhvr>
                                            <p:cTn id="31" dur="1" fill="hold">
                                              <p:stCondLst>
                                                <p:cond delay="0"/>
                                              </p:stCondLst>
                                            </p:cTn>
                                            <p:tgtEl>
                                              <p:spTgt spid="29"/>
                                            </p:tgtEl>
                                            <p:attrNameLst>
                                              <p:attrName>style.visibility</p:attrName>
                                            </p:attrNameLst>
                                          </p:cBhvr>
                                          <p:to>
                                            <p:strVal val="visible"/>
                                          </p:to>
                                        </p:set>
                                        <p:anim calcmode="lin" valueType="num">
                                          <p:cBhvr>
                                            <p:cTn id="32" dur="250" fill="hold"/>
                                            <p:tgtEl>
                                              <p:spTgt spid="29"/>
                                            </p:tgtEl>
                                            <p:attrNameLst>
                                              <p:attrName>ppt_w</p:attrName>
                                            </p:attrNameLst>
                                          </p:cBhvr>
                                          <p:tavLst>
                                            <p:tav tm="0">
                                              <p:val>
                                                <p:fltVal val="0"/>
                                              </p:val>
                                            </p:tav>
                                            <p:tav tm="100000">
                                              <p:val>
                                                <p:strVal val="#ppt_w"/>
                                              </p:val>
                                            </p:tav>
                                          </p:tavLst>
                                        </p:anim>
                                        <p:anim calcmode="lin" valueType="num">
                                          <p:cBhvr>
                                            <p:cTn id="33" dur="250" fill="hold"/>
                                            <p:tgtEl>
                                              <p:spTgt spid="29"/>
                                            </p:tgtEl>
                                            <p:attrNameLst>
                                              <p:attrName>ppt_h</p:attrName>
                                            </p:attrNameLst>
                                          </p:cBhvr>
                                          <p:tavLst>
                                            <p:tav tm="0">
                                              <p:val>
                                                <p:fltVal val="0"/>
                                              </p:val>
                                            </p:tav>
                                            <p:tav tm="100000">
                                              <p:val>
                                                <p:strVal val="#ppt_h"/>
                                              </p:val>
                                            </p:tav>
                                          </p:tavLst>
                                        </p:anim>
                                      </p:childTnLst>
                                    </p:cTn>
                                  </p:par>
                                  <p:par>
                                    <p:cTn id="34" presetID="23" presetClass="entr" presetSubtype="16" fill="hold" grpId="0" nodeType="withEffect">
                                      <p:stCondLst>
                                        <p:cond delay="800"/>
                                      </p:stCondLst>
                                      <p:childTnLst>
                                        <p:set>
                                          <p:cBhvr>
                                            <p:cTn id="35" dur="1" fill="hold">
                                              <p:stCondLst>
                                                <p:cond delay="0"/>
                                              </p:stCondLst>
                                            </p:cTn>
                                            <p:tgtEl>
                                              <p:spTgt spid="30"/>
                                            </p:tgtEl>
                                            <p:attrNameLst>
                                              <p:attrName>style.visibility</p:attrName>
                                            </p:attrNameLst>
                                          </p:cBhvr>
                                          <p:to>
                                            <p:strVal val="visible"/>
                                          </p:to>
                                        </p:set>
                                        <p:anim calcmode="lin" valueType="num">
                                          <p:cBhvr>
                                            <p:cTn id="36" dur="250" fill="hold"/>
                                            <p:tgtEl>
                                              <p:spTgt spid="30"/>
                                            </p:tgtEl>
                                            <p:attrNameLst>
                                              <p:attrName>ppt_w</p:attrName>
                                            </p:attrNameLst>
                                          </p:cBhvr>
                                          <p:tavLst>
                                            <p:tav tm="0">
                                              <p:val>
                                                <p:fltVal val="0"/>
                                              </p:val>
                                            </p:tav>
                                            <p:tav tm="100000">
                                              <p:val>
                                                <p:strVal val="#ppt_w"/>
                                              </p:val>
                                            </p:tav>
                                          </p:tavLst>
                                        </p:anim>
                                        <p:anim calcmode="lin" valueType="num">
                                          <p:cBhvr>
                                            <p:cTn id="37" dur="250" fill="hold"/>
                                            <p:tgtEl>
                                              <p:spTgt spid="30"/>
                                            </p:tgtEl>
                                            <p:attrNameLst>
                                              <p:attrName>ppt_h</p:attrName>
                                            </p:attrNameLst>
                                          </p:cBhvr>
                                          <p:tavLst>
                                            <p:tav tm="0">
                                              <p:val>
                                                <p:fltVal val="0"/>
                                              </p:val>
                                            </p:tav>
                                            <p:tav tm="100000">
                                              <p:val>
                                                <p:strVal val="#ppt_h"/>
                                              </p:val>
                                            </p:tav>
                                          </p:tavLst>
                                        </p:anim>
                                      </p:childTnLst>
                                    </p:cTn>
                                  </p:par>
                                </p:childTnLst>
                              </p:cTn>
                            </p:par>
                            <p:par>
                              <p:cTn id="38" fill="hold">
                                <p:stCondLst>
                                  <p:cond delay="2000"/>
                                </p:stCondLst>
                                <p:childTnLst>
                                  <p:par>
                                    <p:cTn id="39" presetID="2" presetClass="entr" presetSubtype="2" fill="hold" grpId="0" nodeType="afterEffect">
                                      <p:stCondLst>
                                        <p:cond delay="0"/>
                                      </p:stCondLst>
                                      <p:childTnLst>
                                        <p:set>
                                          <p:cBhvr>
                                            <p:cTn id="40" dur="1" fill="hold">
                                              <p:stCondLst>
                                                <p:cond delay="0"/>
                                              </p:stCondLst>
                                            </p:cTn>
                                            <p:tgtEl>
                                              <p:spTgt spid="36"/>
                                            </p:tgtEl>
                                            <p:attrNameLst>
                                              <p:attrName>style.visibility</p:attrName>
                                            </p:attrNameLst>
                                          </p:cBhvr>
                                          <p:to>
                                            <p:strVal val="visible"/>
                                          </p:to>
                                        </p:set>
                                        <p:anim calcmode="lin" valueType="num">
                                          <p:cBhvr additive="base">
                                            <p:cTn id="41" dur="500" fill="hold"/>
                                            <p:tgtEl>
                                              <p:spTgt spid="36"/>
                                            </p:tgtEl>
                                            <p:attrNameLst>
                                              <p:attrName>ppt_x</p:attrName>
                                            </p:attrNameLst>
                                          </p:cBhvr>
                                          <p:tavLst>
                                            <p:tav tm="0">
                                              <p:val>
                                                <p:strVal val="1+#ppt_w/2"/>
                                              </p:val>
                                            </p:tav>
                                            <p:tav tm="100000">
                                              <p:val>
                                                <p:strVal val="#ppt_x"/>
                                              </p:val>
                                            </p:tav>
                                          </p:tavLst>
                                        </p:anim>
                                        <p:anim calcmode="lin" valueType="num">
                                          <p:cBhvr additive="base">
                                            <p:cTn id="42" dur="500" fill="hold"/>
                                            <p:tgtEl>
                                              <p:spTgt spid="36"/>
                                            </p:tgtEl>
                                            <p:attrNameLst>
                                              <p:attrName>ppt_y</p:attrName>
                                            </p:attrNameLst>
                                          </p:cBhvr>
                                          <p:tavLst>
                                            <p:tav tm="0">
                                              <p:val>
                                                <p:strVal val="#ppt_y"/>
                                              </p:val>
                                            </p:tav>
                                            <p:tav tm="100000">
                                              <p:val>
                                                <p:strVal val="#ppt_y"/>
                                              </p:val>
                                            </p:tav>
                                          </p:tavLst>
                                        </p:anim>
                                      </p:childTnLst>
                                    </p:cTn>
                                  </p:par>
                                  <p:par>
                                    <p:cTn id="43" presetID="2" presetClass="entr" presetSubtype="2" fill="hold" grpId="0" nodeType="withEffect">
                                      <p:stCondLst>
                                        <p:cond delay="0"/>
                                      </p:stCondLst>
                                      <p:childTnLst>
                                        <p:set>
                                          <p:cBhvr>
                                            <p:cTn id="44" dur="1" fill="hold">
                                              <p:stCondLst>
                                                <p:cond delay="0"/>
                                              </p:stCondLst>
                                            </p:cTn>
                                            <p:tgtEl>
                                              <p:spTgt spid="35"/>
                                            </p:tgtEl>
                                            <p:attrNameLst>
                                              <p:attrName>style.visibility</p:attrName>
                                            </p:attrNameLst>
                                          </p:cBhvr>
                                          <p:to>
                                            <p:strVal val="visible"/>
                                          </p:to>
                                        </p:set>
                                        <p:anim calcmode="lin" valueType="num">
                                          <p:cBhvr additive="base">
                                            <p:cTn id="45" dur="500" fill="hold"/>
                                            <p:tgtEl>
                                              <p:spTgt spid="35"/>
                                            </p:tgtEl>
                                            <p:attrNameLst>
                                              <p:attrName>ppt_x</p:attrName>
                                            </p:attrNameLst>
                                          </p:cBhvr>
                                          <p:tavLst>
                                            <p:tav tm="0">
                                              <p:val>
                                                <p:strVal val="1+#ppt_w/2"/>
                                              </p:val>
                                            </p:tav>
                                            <p:tav tm="100000">
                                              <p:val>
                                                <p:strVal val="#ppt_x"/>
                                              </p:val>
                                            </p:tav>
                                          </p:tavLst>
                                        </p:anim>
                                        <p:anim calcmode="lin" valueType="num">
                                          <p:cBhvr additive="base">
                                            <p:cTn id="46" dur="500" fill="hold"/>
                                            <p:tgtEl>
                                              <p:spTgt spid="35"/>
                                            </p:tgtEl>
                                            <p:attrNameLst>
                                              <p:attrName>ppt_y</p:attrName>
                                            </p:attrNameLst>
                                          </p:cBhvr>
                                          <p:tavLst>
                                            <p:tav tm="0">
                                              <p:val>
                                                <p:strVal val="#ppt_y"/>
                                              </p:val>
                                            </p:tav>
                                            <p:tav tm="100000">
                                              <p:val>
                                                <p:strVal val="#ppt_y"/>
                                              </p:val>
                                            </p:tav>
                                          </p:tavLst>
                                        </p:anim>
                                      </p:childTnLst>
                                    </p:cTn>
                                  </p:par>
                                  <p:par>
                                    <p:cTn id="47" presetID="2" presetClass="entr" presetSubtype="2"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anim calcmode="lin" valueType="num">
                                          <p:cBhvr additive="base">
                                            <p:cTn id="49" dur="500" fill="hold"/>
                                            <p:tgtEl>
                                              <p:spTgt spid="34"/>
                                            </p:tgtEl>
                                            <p:attrNameLst>
                                              <p:attrName>ppt_x</p:attrName>
                                            </p:attrNameLst>
                                          </p:cBhvr>
                                          <p:tavLst>
                                            <p:tav tm="0">
                                              <p:val>
                                                <p:strVal val="1+#ppt_w/2"/>
                                              </p:val>
                                            </p:tav>
                                            <p:tav tm="100000">
                                              <p:val>
                                                <p:strVal val="#ppt_x"/>
                                              </p:val>
                                            </p:tav>
                                          </p:tavLst>
                                        </p:anim>
                                        <p:anim calcmode="lin" valueType="num">
                                          <p:cBhvr additive="base">
                                            <p:cTn id="50" dur="500" fill="hold"/>
                                            <p:tgtEl>
                                              <p:spTgt spid="34"/>
                                            </p:tgtEl>
                                            <p:attrNameLst>
                                              <p:attrName>ppt_y</p:attrName>
                                            </p:attrNameLst>
                                          </p:cBhvr>
                                          <p:tavLst>
                                            <p:tav tm="0">
                                              <p:val>
                                                <p:strVal val="#ppt_y"/>
                                              </p:val>
                                            </p:tav>
                                            <p:tav tm="100000">
                                              <p:val>
                                                <p:strVal val="#ppt_y"/>
                                              </p:val>
                                            </p:tav>
                                          </p:tavLst>
                                        </p:anim>
                                      </p:childTnLst>
                                    </p:cTn>
                                  </p:par>
                                  <p:par>
                                    <p:cTn id="51" presetID="2" presetClass="entr" presetSubtype="2" fill="hold" grpId="0" nodeType="withEffect">
                                      <p:stCondLst>
                                        <p:cond delay="0"/>
                                      </p:stCondLst>
                                      <p:childTnLst>
                                        <p:set>
                                          <p:cBhvr>
                                            <p:cTn id="52" dur="1" fill="hold">
                                              <p:stCondLst>
                                                <p:cond delay="0"/>
                                              </p:stCondLst>
                                            </p:cTn>
                                            <p:tgtEl>
                                              <p:spTgt spid="33"/>
                                            </p:tgtEl>
                                            <p:attrNameLst>
                                              <p:attrName>style.visibility</p:attrName>
                                            </p:attrNameLst>
                                          </p:cBhvr>
                                          <p:to>
                                            <p:strVal val="visible"/>
                                          </p:to>
                                        </p:set>
                                        <p:anim calcmode="lin" valueType="num">
                                          <p:cBhvr additive="base">
                                            <p:cTn id="53" dur="500" fill="hold"/>
                                            <p:tgtEl>
                                              <p:spTgt spid="33"/>
                                            </p:tgtEl>
                                            <p:attrNameLst>
                                              <p:attrName>ppt_x</p:attrName>
                                            </p:attrNameLst>
                                          </p:cBhvr>
                                          <p:tavLst>
                                            <p:tav tm="0">
                                              <p:val>
                                                <p:strVal val="1+#ppt_w/2"/>
                                              </p:val>
                                            </p:tav>
                                            <p:tav tm="100000">
                                              <p:val>
                                                <p:strVal val="#ppt_x"/>
                                              </p:val>
                                            </p:tav>
                                          </p:tavLst>
                                        </p:anim>
                                        <p:anim calcmode="lin" valueType="num">
                                          <p:cBhvr additive="base">
                                            <p:cTn id="54" dur="500" fill="hold"/>
                                            <p:tgtEl>
                                              <p:spTgt spid="33"/>
                                            </p:tgtEl>
                                            <p:attrNameLst>
                                              <p:attrName>ppt_y</p:attrName>
                                            </p:attrNameLst>
                                          </p:cBhvr>
                                          <p:tavLst>
                                            <p:tav tm="0">
                                              <p:val>
                                                <p:strVal val="#ppt_y"/>
                                              </p:val>
                                            </p:tav>
                                            <p:tav tm="100000">
                                              <p:val>
                                                <p:strVal val="#ppt_y"/>
                                              </p:val>
                                            </p:tav>
                                          </p:tavLst>
                                        </p:anim>
                                      </p:childTnLst>
                                    </p:cTn>
                                  </p:par>
                                  <p:par>
                                    <p:cTn id="55" presetID="2" presetClass="entr" presetSubtype="2" fill="hold" grpId="0" nodeType="withEffect">
                                      <p:stCondLst>
                                        <p:cond delay="0"/>
                                      </p:stCondLst>
                                      <p:childTnLst>
                                        <p:set>
                                          <p:cBhvr>
                                            <p:cTn id="56" dur="1" fill="hold">
                                              <p:stCondLst>
                                                <p:cond delay="0"/>
                                              </p:stCondLst>
                                            </p:cTn>
                                            <p:tgtEl>
                                              <p:spTgt spid="32"/>
                                            </p:tgtEl>
                                            <p:attrNameLst>
                                              <p:attrName>style.visibility</p:attrName>
                                            </p:attrNameLst>
                                          </p:cBhvr>
                                          <p:to>
                                            <p:strVal val="visible"/>
                                          </p:to>
                                        </p:set>
                                        <p:anim calcmode="lin" valueType="num">
                                          <p:cBhvr additive="base">
                                            <p:cTn id="57" dur="500" fill="hold"/>
                                            <p:tgtEl>
                                              <p:spTgt spid="32"/>
                                            </p:tgtEl>
                                            <p:attrNameLst>
                                              <p:attrName>ppt_x</p:attrName>
                                            </p:attrNameLst>
                                          </p:cBhvr>
                                          <p:tavLst>
                                            <p:tav tm="0">
                                              <p:val>
                                                <p:strVal val="1+#ppt_w/2"/>
                                              </p:val>
                                            </p:tav>
                                            <p:tav tm="100000">
                                              <p:val>
                                                <p:strVal val="#ppt_x"/>
                                              </p:val>
                                            </p:tav>
                                          </p:tavLst>
                                        </p:anim>
                                        <p:anim calcmode="lin" valueType="num">
                                          <p:cBhvr additive="base">
                                            <p:cTn id="58" dur="500" fill="hold"/>
                                            <p:tgtEl>
                                              <p:spTgt spid="32"/>
                                            </p:tgtEl>
                                            <p:attrNameLst>
                                              <p:attrName>ppt_y</p:attrName>
                                            </p:attrNameLst>
                                          </p:cBhvr>
                                          <p:tavLst>
                                            <p:tav tm="0">
                                              <p:val>
                                                <p:strVal val="#ppt_y"/>
                                              </p:val>
                                            </p:tav>
                                            <p:tav tm="100000">
                                              <p:val>
                                                <p:strVal val="#ppt_y"/>
                                              </p:val>
                                            </p:tav>
                                          </p:tavLst>
                                        </p:anim>
                                      </p:childTnLst>
                                    </p:cTn>
                                  </p:par>
                                </p:childTnLst>
                              </p:cTn>
                            </p:par>
                            <p:par>
                              <p:cTn id="59" fill="hold">
                                <p:stCondLst>
                                  <p:cond delay="2500"/>
                                </p:stCondLst>
                                <p:childTnLst>
                                  <p:par>
                                    <p:cTn id="60" presetID="42" presetClass="entr" presetSubtype="0" fill="hold" grpId="0" nodeType="after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fade">
                                          <p:cBhvr>
                                            <p:cTn id="62" dur="250"/>
                                            <p:tgtEl>
                                              <p:spTgt spid="31"/>
                                            </p:tgtEl>
                                          </p:cBhvr>
                                        </p:animEffect>
                                        <p:anim calcmode="lin" valueType="num">
                                          <p:cBhvr>
                                            <p:cTn id="63" dur="250" fill="hold"/>
                                            <p:tgtEl>
                                              <p:spTgt spid="31"/>
                                            </p:tgtEl>
                                            <p:attrNameLst>
                                              <p:attrName>ppt_x</p:attrName>
                                            </p:attrNameLst>
                                          </p:cBhvr>
                                          <p:tavLst>
                                            <p:tav tm="0">
                                              <p:val>
                                                <p:strVal val="#ppt_x"/>
                                              </p:val>
                                            </p:tav>
                                            <p:tav tm="100000">
                                              <p:val>
                                                <p:strVal val="#ppt_x"/>
                                              </p:val>
                                            </p:tav>
                                          </p:tavLst>
                                        </p:anim>
                                        <p:anim calcmode="lin" valueType="num">
                                          <p:cBhvr>
                                            <p:cTn id="64" dur="250" fill="hold"/>
                                            <p:tgtEl>
                                              <p:spTgt spid="31"/>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250"/>
                                      </p:stCondLst>
                                      <p:childTnLst>
                                        <p:set>
                                          <p:cBhvr>
                                            <p:cTn id="66" dur="1" fill="hold">
                                              <p:stCondLst>
                                                <p:cond delay="0"/>
                                              </p:stCondLst>
                                            </p:cTn>
                                            <p:tgtEl>
                                              <p:spTgt spid="40"/>
                                            </p:tgtEl>
                                            <p:attrNameLst>
                                              <p:attrName>style.visibility</p:attrName>
                                            </p:attrNameLst>
                                          </p:cBhvr>
                                          <p:to>
                                            <p:strVal val="visible"/>
                                          </p:to>
                                        </p:set>
                                        <p:animEffect transition="in" filter="fade">
                                          <p:cBhvr>
                                            <p:cTn id="67" dur="250"/>
                                            <p:tgtEl>
                                              <p:spTgt spid="40"/>
                                            </p:tgtEl>
                                          </p:cBhvr>
                                        </p:animEffect>
                                        <p:anim calcmode="lin" valueType="num">
                                          <p:cBhvr>
                                            <p:cTn id="68" dur="250" fill="hold"/>
                                            <p:tgtEl>
                                              <p:spTgt spid="40"/>
                                            </p:tgtEl>
                                            <p:attrNameLst>
                                              <p:attrName>ppt_x</p:attrName>
                                            </p:attrNameLst>
                                          </p:cBhvr>
                                          <p:tavLst>
                                            <p:tav tm="0">
                                              <p:val>
                                                <p:strVal val="#ppt_x"/>
                                              </p:val>
                                            </p:tav>
                                            <p:tav tm="100000">
                                              <p:val>
                                                <p:strVal val="#ppt_x"/>
                                              </p:val>
                                            </p:tav>
                                          </p:tavLst>
                                        </p:anim>
                                        <p:anim calcmode="lin" valueType="num">
                                          <p:cBhvr>
                                            <p:cTn id="69" dur="250" fill="hold"/>
                                            <p:tgtEl>
                                              <p:spTgt spid="40"/>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500"/>
                                      </p:stCondLst>
                                      <p:childTnLst>
                                        <p:set>
                                          <p:cBhvr>
                                            <p:cTn id="71" dur="1" fill="hold">
                                              <p:stCondLst>
                                                <p:cond delay="0"/>
                                              </p:stCondLst>
                                            </p:cTn>
                                            <p:tgtEl>
                                              <p:spTgt spid="41"/>
                                            </p:tgtEl>
                                            <p:attrNameLst>
                                              <p:attrName>style.visibility</p:attrName>
                                            </p:attrNameLst>
                                          </p:cBhvr>
                                          <p:to>
                                            <p:strVal val="visible"/>
                                          </p:to>
                                        </p:set>
                                        <p:animEffect transition="in" filter="fade">
                                          <p:cBhvr>
                                            <p:cTn id="72" dur="250"/>
                                            <p:tgtEl>
                                              <p:spTgt spid="41"/>
                                            </p:tgtEl>
                                          </p:cBhvr>
                                        </p:animEffect>
                                        <p:anim calcmode="lin" valueType="num">
                                          <p:cBhvr>
                                            <p:cTn id="73" dur="250" fill="hold"/>
                                            <p:tgtEl>
                                              <p:spTgt spid="41"/>
                                            </p:tgtEl>
                                            <p:attrNameLst>
                                              <p:attrName>ppt_x</p:attrName>
                                            </p:attrNameLst>
                                          </p:cBhvr>
                                          <p:tavLst>
                                            <p:tav tm="0">
                                              <p:val>
                                                <p:strVal val="#ppt_x"/>
                                              </p:val>
                                            </p:tav>
                                            <p:tav tm="100000">
                                              <p:val>
                                                <p:strVal val="#ppt_x"/>
                                              </p:val>
                                            </p:tav>
                                          </p:tavLst>
                                        </p:anim>
                                        <p:anim calcmode="lin" valueType="num">
                                          <p:cBhvr>
                                            <p:cTn id="74" dur="250" fill="hold"/>
                                            <p:tgtEl>
                                              <p:spTgt spid="41"/>
                                            </p:tgtEl>
                                            <p:attrNameLst>
                                              <p:attrName>ppt_y</p:attrName>
                                            </p:attrNameLst>
                                          </p:cBhvr>
                                          <p:tavLst>
                                            <p:tav tm="0">
                                              <p:val>
                                                <p:strVal val="#ppt_y+.1"/>
                                              </p:val>
                                            </p:tav>
                                            <p:tav tm="100000">
                                              <p:val>
                                                <p:strVal val="#ppt_y"/>
                                              </p:val>
                                            </p:tav>
                                          </p:tavLst>
                                        </p:anim>
                                      </p:childTnLst>
                                    </p:cTn>
                                  </p:par>
                                  <p:par>
                                    <p:cTn id="75" presetID="42" presetClass="entr" presetSubtype="0" fill="hold" grpId="0" nodeType="withEffect">
                                      <p:stCondLst>
                                        <p:cond delay="750"/>
                                      </p:stCondLst>
                                      <p:childTnLst>
                                        <p:set>
                                          <p:cBhvr>
                                            <p:cTn id="76" dur="1" fill="hold">
                                              <p:stCondLst>
                                                <p:cond delay="0"/>
                                              </p:stCondLst>
                                            </p:cTn>
                                            <p:tgtEl>
                                              <p:spTgt spid="42"/>
                                            </p:tgtEl>
                                            <p:attrNameLst>
                                              <p:attrName>style.visibility</p:attrName>
                                            </p:attrNameLst>
                                          </p:cBhvr>
                                          <p:to>
                                            <p:strVal val="visible"/>
                                          </p:to>
                                        </p:set>
                                        <p:animEffect transition="in" filter="fade">
                                          <p:cBhvr>
                                            <p:cTn id="77" dur="250"/>
                                            <p:tgtEl>
                                              <p:spTgt spid="42"/>
                                            </p:tgtEl>
                                          </p:cBhvr>
                                        </p:animEffect>
                                        <p:anim calcmode="lin" valueType="num">
                                          <p:cBhvr>
                                            <p:cTn id="78" dur="250" fill="hold"/>
                                            <p:tgtEl>
                                              <p:spTgt spid="42"/>
                                            </p:tgtEl>
                                            <p:attrNameLst>
                                              <p:attrName>ppt_x</p:attrName>
                                            </p:attrNameLst>
                                          </p:cBhvr>
                                          <p:tavLst>
                                            <p:tav tm="0">
                                              <p:val>
                                                <p:strVal val="#ppt_x"/>
                                              </p:val>
                                            </p:tav>
                                            <p:tav tm="100000">
                                              <p:val>
                                                <p:strVal val="#ppt_x"/>
                                              </p:val>
                                            </p:tav>
                                          </p:tavLst>
                                        </p:anim>
                                        <p:anim calcmode="lin" valueType="num">
                                          <p:cBhvr>
                                            <p:cTn id="79" dur="250" fill="hold"/>
                                            <p:tgtEl>
                                              <p:spTgt spid="42"/>
                                            </p:tgtEl>
                                            <p:attrNameLst>
                                              <p:attrName>ppt_y</p:attrName>
                                            </p:attrNameLst>
                                          </p:cBhvr>
                                          <p:tavLst>
                                            <p:tav tm="0">
                                              <p:val>
                                                <p:strVal val="#ppt_y+.1"/>
                                              </p:val>
                                            </p:tav>
                                            <p:tav tm="100000">
                                              <p:val>
                                                <p:strVal val="#ppt_y"/>
                                              </p:val>
                                            </p:tav>
                                          </p:tavLst>
                                        </p:anim>
                                      </p:childTnLst>
                                    </p:cTn>
                                  </p:par>
                                </p:childTnLst>
                              </p:cTn>
                            </p:par>
                            <p:par>
                              <p:cTn id="80" fill="hold">
                                <p:stCondLst>
                                  <p:cond delay="3000"/>
                                </p:stCondLst>
                                <p:childTnLst>
                                  <p:par>
                                    <p:cTn id="81" presetID="22" presetClass="entr" presetSubtype="4" fill="hold" grpId="0" nodeType="afterEffect">
                                      <p:stCondLst>
                                        <p:cond delay="0"/>
                                      </p:stCondLst>
                                      <p:childTnLst>
                                        <p:set>
                                          <p:cBhvr>
                                            <p:cTn id="82" dur="1" fill="hold">
                                              <p:stCondLst>
                                                <p:cond delay="0"/>
                                              </p:stCondLst>
                                            </p:cTn>
                                            <p:tgtEl>
                                              <p:spTgt spid="37"/>
                                            </p:tgtEl>
                                            <p:attrNameLst>
                                              <p:attrName>style.visibility</p:attrName>
                                            </p:attrNameLst>
                                          </p:cBhvr>
                                          <p:to>
                                            <p:strVal val="visible"/>
                                          </p:to>
                                        </p:set>
                                        <p:animEffect transition="in" filter="wipe(down)">
                                          <p:cBhvr>
                                            <p:cTn id="83" dur="500"/>
                                            <p:tgtEl>
                                              <p:spTgt spid="37"/>
                                            </p:tgtEl>
                                          </p:cBhvr>
                                        </p:animEffect>
                                      </p:childTnLst>
                                    </p:cTn>
                                  </p:par>
                                  <p:par>
                                    <p:cTn id="84" presetID="22" presetClass="entr" presetSubtype="4" fill="hold" grpId="0" nodeType="withEffect">
                                      <p:stCondLst>
                                        <p:cond delay="0"/>
                                      </p:stCondLst>
                                      <p:childTnLst>
                                        <p:set>
                                          <p:cBhvr>
                                            <p:cTn id="85" dur="1" fill="hold">
                                              <p:stCondLst>
                                                <p:cond delay="0"/>
                                              </p:stCondLst>
                                            </p:cTn>
                                            <p:tgtEl>
                                              <p:spTgt spid="38"/>
                                            </p:tgtEl>
                                            <p:attrNameLst>
                                              <p:attrName>style.visibility</p:attrName>
                                            </p:attrNameLst>
                                          </p:cBhvr>
                                          <p:to>
                                            <p:strVal val="visible"/>
                                          </p:to>
                                        </p:set>
                                        <p:animEffect transition="in" filter="wipe(down)">
                                          <p:cBhvr>
                                            <p:cTn id="86" dur="500"/>
                                            <p:tgtEl>
                                              <p:spTgt spid="38"/>
                                            </p:tgtEl>
                                          </p:cBhvr>
                                        </p:animEffect>
                                      </p:childTnLst>
                                    </p:cTn>
                                  </p:par>
                                  <p:par>
                                    <p:cTn id="87" presetID="22" presetClass="entr" presetSubtype="4" fill="hold" grpId="0" nodeType="withEffect">
                                      <p:stCondLst>
                                        <p:cond delay="0"/>
                                      </p:stCondLst>
                                      <p:childTnLst>
                                        <p:set>
                                          <p:cBhvr>
                                            <p:cTn id="88" dur="1" fill="hold">
                                              <p:stCondLst>
                                                <p:cond delay="0"/>
                                              </p:stCondLst>
                                            </p:cTn>
                                            <p:tgtEl>
                                              <p:spTgt spid="39"/>
                                            </p:tgtEl>
                                            <p:attrNameLst>
                                              <p:attrName>style.visibility</p:attrName>
                                            </p:attrNameLst>
                                          </p:cBhvr>
                                          <p:to>
                                            <p:strVal val="visible"/>
                                          </p:to>
                                        </p:set>
                                        <p:animEffect transition="in" filter="wipe(down)">
                                          <p:cBhvr>
                                            <p:cTn id="89" dur="500"/>
                                            <p:tgtEl>
                                              <p:spTgt spid="39"/>
                                            </p:tgtEl>
                                          </p:cBhvr>
                                        </p:animEffect>
                                      </p:childTnLst>
                                    </p:cTn>
                                  </p:par>
                                </p:childTnLst>
                              </p:cTn>
                            </p:par>
                            <p:par>
                              <p:cTn id="90" fill="hold">
                                <p:stCondLst>
                                  <p:cond delay="3500"/>
                                </p:stCondLst>
                                <p:childTnLst>
                                  <p:par>
                                    <p:cTn id="91" presetID="2" presetClass="entr" presetSubtype="8" fill="hold" grpId="0" nodeType="afterEffect">
                                      <p:stCondLst>
                                        <p:cond delay="0"/>
                                      </p:stCondLst>
                                      <p:childTnLst>
                                        <p:set>
                                          <p:cBhvr>
                                            <p:cTn id="92" dur="1" fill="hold">
                                              <p:stCondLst>
                                                <p:cond delay="0"/>
                                              </p:stCondLst>
                                            </p:cTn>
                                            <p:tgtEl>
                                              <p:spTgt spid="44"/>
                                            </p:tgtEl>
                                            <p:attrNameLst>
                                              <p:attrName>style.visibility</p:attrName>
                                            </p:attrNameLst>
                                          </p:cBhvr>
                                          <p:to>
                                            <p:strVal val="visible"/>
                                          </p:to>
                                        </p:set>
                                        <p:anim calcmode="lin" valueType="num">
                                          <p:cBhvr additive="base">
                                            <p:cTn id="93" dur="500" fill="hold"/>
                                            <p:tgtEl>
                                              <p:spTgt spid="44"/>
                                            </p:tgtEl>
                                            <p:attrNameLst>
                                              <p:attrName>ppt_x</p:attrName>
                                            </p:attrNameLst>
                                          </p:cBhvr>
                                          <p:tavLst>
                                            <p:tav tm="0">
                                              <p:val>
                                                <p:strVal val="0-#ppt_w/2"/>
                                              </p:val>
                                            </p:tav>
                                            <p:tav tm="100000">
                                              <p:val>
                                                <p:strVal val="#ppt_x"/>
                                              </p:val>
                                            </p:tav>
                                          </p:tavLst>
                                        </p:anim>
                                        <p:anim calcmode="lin" valueType="num">
                                          <p:cBhvr additive="base">
                                            <p:cTn id="94" dur="500" fill="hold"/>
                                            <p:tgtEl>
                                              <p:spTgt spid="44"/>
                                            </p:tgtEl>
                                            <p:attrNameLst>
                                              <p:attrName>ppt_y</p:attrName>
                                            </p:attrNameLst>
                                          </p:cBhvr>
                                          <p:tavLst>
                                            <p:tav tm="0">
                                              <p:val>
                                                <p:strVal val="#ppt_y"/>
                                              </p:val>
                                            </p:tav>
                                            <p:tav tm="100000">
                                              <p:val>
                                                <p:strVal val="#ppt_y"/>
                                              </p:val>
                                            </p:tav>
                                          </p:tavLst>
                                        </p:anim>
                                      </p:childTnLst>
                                    </p:cTn>
                                  </p:par>
                                </p:childTnLst>
                              </p:cTn>
                            </p:par>
                            <p:par>
                              <p:cTn id="95" fill="hold">
                                <p:stCondLst>
                                  <p:cond delay="4000"/>
                                </p:stCondLst>
                                <p:childTnLst>
                                  <p:par>
                                    <p:cTn id="96" presetID="2" presetClass="entr" presetSubtype="1" fill="hold" grpId="0" nodeType="afterEffect">
                                      <p:stCondLst>
                                        <p:cond delay="0"/>
                                      </p:stCondLst>
                                      <p:childTnLst>
                                        <p:set>
                                          <p:cBhvr>
                                            <p:cTn id="97" dur="1" fill="hold">
                                              <p:stCondLst>
                                                <p:cond delay="0"/>
                                              </p:stCondLst>
                                            </p:cTn>
                                            <p:tgtEl>
                                              <p:spTgt spid="43"/>
                                            </p:tgtEl>
                                            <p:attrNameLst>
                                              <p:attrName>style.visibility</p:attrName>
                                            </p:attrNameLst>
                                          </p:cBhvr>
                                          <p:to>
                                            <p:strVal val="visible"/>
                                          </p:to>
                                        </p:set>
                                        <p:anim calcmode="lin" valueType="num">
                                          <p:cBhvr additive="base">
                                            <p:cTn id="98" dur="500" fill="hold"/>
                                            <p:tgtEl>
                                              <p:spTgt spid="43"/>
                                            </p:tgtEl>
                                            <p:attrNameLst>
                                              <p:attrName>ppt_x</p:attrName>
                                            </p:attrNameLst>
                                          </p:cBhvr>
                                          <p:tavLst>
                                            <p:tav tm="0">
                                              <p:val>
                                                <p:strVal val="#ppt_x"/>
                                              </p:val>
                                            </p:tav>
                                            <p:tav tm="100000">
                                              <p:val>
                                                <p:strVal val="#ppt_x"/>
                                              </p:val>
                                            </p:tav>
                                          </p:tavLst>
                                        </p:anim>
                                        <p:anim calcmode="lin" valueType="num">
                                          <p:cBhvr additive="base">
                                            <p:cTn id="99" dur="500" fill="hold"/>
                                            <p:tgtEl>
                                              <p:spTgt spid="43"/>
                                            </p:tgtEl>
                                            <p:attrNameLst>
                                              <p:attrName>ppt_y</p:attrName>
                                            </p:attrNameLst>
                                          </p:cBhvr>
                                          <p:tavLst>
                                            <p:tav tm="0">
                                              <p:val>
                                                <p:strVal val="0-#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P spid="29" grpId="0" animBg="1"/>
          <p:bldP spid="30" grpId="0" animBg="1"/>
          <p:bldP spid="31" grpId="0"/>
          <p:bldP spid="32" grpId="0"/>
          <p:bldP spid="33" grpId="0"/>
          <p:bldP spid="34" grpId="0"/>
          <p:bldP spid="35" grpId="0"/>
          <p:bldP spid="36" grpId="0"/>
          <p:bldP spid="37" grpId="0" animBg="1"/>
          <p:bldP spid="38" grpId="0" animBg="1"/>
          <p:bldP spid="39" grpId="0" animBg="1"/>
          <p:bldP spid="40" grpId="0"/>
          <p:bldP spid="41" grpId="0"/>
          <p:bldP spid="42" grpId="0"/>
          <p:bldP spid="43" grpId="0"/>
          <p:bldP spid="44" grpId="0"/>
          <p:bldP spid="46" grpId="0" animBg="1"/>
          <p:bldP spid="47" grpId="0"/>
        </p:bldLst>
      </p:timing>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6" name="TextBox 5"/>
          <p:cNvSpPr txBox="1"/>
          <p:nvPr/>
        </p:nvSpPr>
        <p:spPr>
          <a:xfrm>
            <a:off x="2771800" y="2118370"/>
            <a:ext cx="5019248"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系统设计与实现</a:t>
            </a:r>
          </a:p>
        </p:txBody>
      </p:sp>
      <p:sp>
        <p:nvSpPr>
          <p:cNvPr id="7" name="泪滴形 6"/>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3</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u"/>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1+#ppt_w/2"/>
                                          </p:val>
                                        </p:tav>
                                        <p:tav tm="100000">
                                          <p:val>
                                            <p:strVal val="#ppt_x"/>
                                          </p:val>
                                        </p:tav>
                                      </p:tavLst>
                                    </p:anim>
                                    <p:anim calcmode="lin" valueType="num">
                                      <p:cBhvr additive="base">
                                        <p:cTn id="8" dur="500" fill="hold"/>
                                        <p:tgtEl>
                                          <p:spTgt spid="7"/>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additive="base">
                                        <p:cTn id="12" dur="500" fill="hold"/>
                                        <p:tgtEl>
                                          <p:spTgt spid="5"/>
                                        </p:tgtEl>
                                        <p:attrNameLst>
                                          <p:attrName>ppt_x</p:attrName>
                                        </p:attrNameLst>
                                      </p:cBhvr>
                                      <p:tavLst>
                                        <p:tav tm="0">
                                          <p:val>
                                            <p:strVal val="1+#ppt_w/2"/>
                                          </p:val>
                                        </p:tav>
                                        <p:tav tm="100000">
                                          <p:val>
                                            <p:strVal val="#ppt_x"/>
                                          </p:val>
                                        </p:tav>
                                      </p:tavLst>
                                    </p:anim>
                                    <p:anim calcmode="lin" valueType="num">
                                      <p:cBhvr additive="base">
                                        <p:cTn id="13" dur="500" fill="hold"/>
                                        <p:tgtEl>
                                          <p:spTgt spid="5"/>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6"/>
                                        </p:tgtEl>
                                        <p:attrNameLst>
                                          <p:attrName>style.visibility</p:attrName>
                                        </p:attrNameLst>
                                      </p:cBhvr>
                                      <p:to>
                                        <p:strVal val="visible"/>
                                      </p:to>
                                    </p:set>
                                    <p:anim calcmode="lin" valueType="num">
                                      <p:cBhvr>
                                        <p:cTn id="17" dur="500" fill="hold"/>
                                        <p:tgtEl>
                                          <p:spTgt spid="6"/>
                                        </p:tgtEl>
                                        <p:attrNameLst>
                                          <p:attrName>ppt_w</p:attrName>
                                        </p:attrNameLst>
                                      </p:cBhvr>
                                      <p:tavLst>
                                        <p:tav tm="0">
                                          <p:val>
                                            <p:fltVal val="0"/>
                                          </p:val>
                                        </p:tav>
                                        <p:tav tm="100000">
                                          <p:val>
                                            <p:strVal val="#ppt_w"/>
                                          </p:val>
                                        </p:tav>
                                      </p:tavLst>
                                    </p:anim>
                                    <p:anim calcmode="lin" valueType="num">
                                      <p:cBhvr>
                                        <p:cTn id="18" dur="500" fill="hold"/>
                                        <p:tgtEl>
                                          <p:spTgt spid="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2" descr="d:\users\pc\appdata\roaming\360se6\USERDA~1\Temp\HE091_~1.JPG"/>
          <p:cNvPicPr>
            <a:picLocks noChangeAspect="1" noChangeArrowheads="1"/>
          </p:cNvPicPr>
          <p:nvPr/>
        </p:nvPicPr>
        <p:blipFill>
          <a:blip r:embed="rId3" cstate="print">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rcRect/>
          <a:stretch>
            <a:fillRect/>
          </a:stretch>
        </p:blipFill>
        <p:spPr bwMode="auto">
          <a:xfrm>
            <a:off x="971600" y="1129308"/>
            <a:ext cx="2357637" cy="1673524"/>
          </a:xfrm>
          <a:prstGeom prst="roundRect">
            <a:avLst>
              <a:gd name="adj" fmla="val 8594"/>
            </a:avLst>
          </a:prstGeom>
          <a:solidFill>
            <a:srgbClr val="FFFFFF">
              <a:shade val="85000"/>
            </a:srgbClr>
          </a:solidFill>
          <a:ln>
            <a:solidFill>
              <a:srgbClr val="00B0F0"/>
            </a:solidFill>
          </a:ln>
          <a:effectLst>
            <a:reflection blurRad="12700" stA="38000" endPos="28000" dist="5000" dir="5400000" sy="-100000" algn="bl" rotWithShape="0"/>
          </a:effectLst>
        </p:spPr>
      </p:pic>
      <p:sp>
        <p:nvSpPr>
          <p:cNvPr id="4" name="TextBox 3"/>
          <p:cNvSpPr txBox="1"/>
          <p:nvPr/>
        </p:nvSpPr>
        <p:spPr>
          <a:xfrm>
            <a:off x="1563197" y="3084399"/>
            <a:ext cx="6681211" cy="1327785"/>
          </a:xfrm>
          <a:prstGeom prst="rect">
            <a:avLst/>
          </a:prstGeom>
          <a:noFill/>
        </p:spPr>
        <p:txBody>
          <a:bodyPr wrap="square" rtlCol="0">
            <a:spAutoFit/>
          </a:bodyPr>
          <a:lstStyle/>
          <a:p>
            <a:pPr algn="just"/>
            <a:r>
              <a:rPr lang="zh-CN" altLang="en-US" sz="1600" kern="0" dirty="0">
                <a:solidFill>
                  <a:srgbClr val="EEECE1">
                    <a:lumMod val="10000"/>
                  </a:srgbClr>
                </a:solidFill>
                <a:latin typeface="微软雅黑" panose="020B0503020204020204" pitchFamily="34" charset="-122"/>
                <a:ea typeface="微软雅黑" panose="020B0503020204020204" pitchFamily="34" charset="-122"/>
                <a:sym typeface="+mn-ea"/>
              </a:rPr>
              <a:t>数据处理流水线：COSMIC-2数据获取 - NetCDF解析 - 质量控制 - 高度插值 - 标准化处理 - 训练集/验证集/测试集划分。数据集包含约10万条高质量掩星剖面，覆盖全球不同纬度和季节。输入特征包括弯曲角剖面、冲击参数高度、经纬度、时间等；输出目标为温度、气压、水汽压剖面。</a:t>
            </a:r>
            <a:endParaRPr lang="zh-CN" altLang="en-US" sz="2400" dirty="0">
              <a:latin typeface="微软雅黑" panose="020B0503020204020204" pitchFamily="34" charset="-122"/>
              <a:ea typeface="微软雅黑" panose="020B0503020204020204" pitchFamily="34" charset="-122"/>
            </a:endParaRPr>
          </a:p>
        </p:txBody>
      </p:sp>
      <p:sp>
        <p:nvSpPr>
          <p:cNvPr id="5" name="TextBox 4"/>
          <p:cNvSpPr txBox="1"/>
          <p:nvPr/>
        </p:nvSpPr>
        <p:spPr>
          <a:xfrm>
            <a:off x="1563197" y="4298126"/>
            <a:ext cx="6681211" cy="738664"/>
          </a:xfrm>
          <a:prstGeom prst="rect">
            <a:avLst/>
          </a:prstGeom>
          <a:noFill/>
        </p:spPr>
        <p:txBody>
          <a:bodyPr wrap="square" rtlCol="0">
            <a:spAutoFit/>
          </a:bodyPr>
          <a:lstStyle/>
          <a:p>
            <a:pPr algn="just"/>
            <a:r>
              <a:rPr lang="en-US" altLang="zh-CN" sz="1050" dirty="0">
                <a:solidFill>
                  <a:schemeClr val="tx2">
                    <a:lumMod val="75000"/>
                  </a:schemeClr>
                </a:solidFill>
              </a:rPr>
              <a:t>I figure the net on August 8, 2008 (the Olympics), belongs to the \"guest\" website, mainly engaged in the original design draft, the original figure of photography, the original illustrations, the original 3 d model, the original flash source files, and other sales. In my graph, designers can get profits by selling the design draft, design company can get work by buy the design draft.</a:t>
            </a:r>
            <a:endParaRPr lang="zh-CN" altLang="en-US" sz="1400"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7" name="TextBox 6"/>
          <p:cNvSpPr txBox="1"/>
          <p:nvPr/>
        </p:nvSpPr>
        <p:spPr>
          <a:xfrm>
            <a:off x="6455016" y="2679576"/>
            <a:ext cx="1821901" cy="469077"/>
          </a:xfrm>
          <a:prstGeom prst="rect">
            <a:avLst/>
          </a:prstGeom>
          <a:noFill/>
        </p:spPr>
        <p:txBody>
          <a:bodyPr wrap="square" rtlCol="0">
            <a:spAutoFit/>
          </a:bodyPr>
          <a:lstStyle/>
          <a:p>
            <a:pPr algn="ct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 </a:t>
            </a:r>
            <a:r>
              <a:rPr lang="zh-CN" altLang="en-US" sz="2400" b="1" dirty="0">
                <a:solidFill>
                  <a:schemeClr val="tx2">
                    <a:lumMod val="75000"/>
                  </a:schemeClr>
                </a:solidFill>
                <a:latin typeface="微软雅黑" panose="020B0503020204020204" pitchFamily="34" charset="-122"/>
                <a:ea typeface="微软雅黑" panose="020B0503020204020204" pitchFamily="34" charset="-122"/>
              </a:rPr>
              <a:t>研究方向</a:t>
            </a:r>
            <a:r>
              <a:rPr lang="en-US" altLang="zh-CN" sz="2400" b="1" dirty="0">
                <a:solidFill>
                  <a:schemeClr val="tx2">
                    <a:lumMod val="75000"/>
                  </a:schemeClr>
                </a:solidFill>
                <a:latin typeface="微软雅黑" panose="020B0503020204020204" pitchFamily="34" charset="-122"/>
                <a:ea typeface="微软雅黑" panose="020B0503020204020204" pitchFamily="34" charset="-122"/>
              </a:rPr>
              <a:t>]</a:t>
            </a:r>
            <a:endParaRPr lang="zh-CN" altLang="en-US" sz="3600" b="1" dirty="0">
              <a:solidFill>
                <a:schemeClr val="tx2">
                  <a:lumMod val="75000"/>
                </a:schemeClr>
              </a:solidFill>
              <a:latin typeface="微软雅黑" panose="020B0503020204020204" pitchFamily="34" charset="-122"/>
              <a:ea typeface="微软雅黑" panose="020B0503020204020204" pitchFamily="34" charset="-122"/>
            </a:endParaRPr>
          </a:p>
        </p:txBody>
      </p:sp>
      <p:sp>
        <p:nvSpPr>
          <p:cNvPr id="8" name="燕尾形 7"/>
          <p:cNvSpPr/>
          <p:nvPr/>
        </p:nvSpPr>
        <p:spPr>
          <a:xfrm>
            <a:off x="6411128"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sp>
        <p:nvSpPr>
          <p:cNvPr id="9" name="燕尾形 8"/>
          <p:cNvSpPr/>
          <p:nvPr/>
        </p:nvSpPr>
        <p:spPr>
          <a:xfrm>
            <a:off x="6319242" y="2902789"/>
            <a:ext cx="91935" cy="150807"/>
          </a:xfrm>
          <a:prstGeom prst="chevron">
            <a:avLst/>
          </a:prstGeom>
          <a:solidFill>
            <a:schemeClr val="tx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tx2">
                  <a:lumMod val="75000"/>
                </a:schemeClr>
              </a:solidFill>
            </a:endParaRPr>
          </a:p>
        </p:txBody>
      </p:sp>
      <p:pic>
        <p:nvPicPr>
          <p:cNvPr id="10" name="Picture 2"/>
          <p:cNvPicPr>
            <a:picLocks noChangeAspect="1" noChangeArrowheads="1"/>
          </p:cNvPicPr>
          <p:nvPr/>
        </p:nvPicPr>
        <p:blipFill>
          <a:blip r:embed="rId5" cstate="print">
            <a:extLst>
              <a:ext uri="{28A0092B-C50C-407E-A947-70E740481C1C}">
                <a14:useLocalDpi xmlns:a14="http://schemas.microsoft.com/office/drawing/2010/main" val="0"/>
              </a:ext>
            </a:extLst>
          </a:blip>
          <a:stretch>
            <a:fillRect/>
          </a:stretch>
        </p:blipFill>
        <p:spPr bwMode="auto">
          <a:xfrm>
            <a:off x="3707904" y="1816174"/>
            <a:ext cx="1284433" cy="802770"/>
          </a:xfrm>
          <a:prstGeom prst="roundRect">
            <a:avLst>
              <a:gd name="adj" fmla="val 8594"/>
            </a:avLst>
          </a:prstGeom>
          <a:blipFill>
            <a:blip r:embed="rId6" cstate="print"/>
            <a:stretch>
              <a:fillRect l="-26000" r="-8000" b="-5000"/>
            </a:stretch>
          </a:blipFill>
          <a:ln>
            <a:solidFill>
              <a:srgbClr val="00B0F0"/>
            </a:solidFill>
          </a:ln>
          <a:effectLst>
            <a:reflection blurRad="12700" stA="38000" endPos="28000" dist="5000" dir="5400000" sy="-100000" algn="bl" rotWithShape="0"/>
          </a:effectLst>
        </p:spPr>
      </p:pic>
      <p:sp>
        <p:nvSpPr>
          <p:cNvPr id="11" name="TextBox 10"/>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系统设计与实现</a:t>
            </a:r>
          </a:p>
        </p:txBody>
      </p:sp>
    </p:spTree>
  </p:cSld>
  <p:clrMapOvr>
    <a:masterClrMapping/>
  </p:clrMapOvr>
  <p:transition spd="slow" advClick="0" advTm="5000">
    <p:push dir="r"/>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37" fill="hold"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outVertical)">
                                      <p:cBhvr>
                                        <p:cTn id="7" dur="500"/>
                                        <p:tgtEl>
                                          <p:spTgt spid="6"/>
                                        </p:tgtEl>
                                      </p:cBhvr>
                                    </p:animEffect>
                                  </p:childTnLst>
                                </p:cTn>
                              </p:par>
                            </p:childTnLst>
                          </p:cTn>
                        </p:par>
                        <p:par>
                          <p:cTn id="8" fill="hold">
                            <p:stCondLst>
                              <p:cond delay="500"/>
                            </p:stCondLst>
                            <p:childTnLst>
                              <p:par>
                                <p:cTn id="9" presetID="16" presetClass="entr" presetSubtype="37" fill="hold" nodeType="afterEffect">
                                  <p:stCondLst>
                                    <p:cond delay="0"/>
                                  </p:stCondLst>
                                  <p:childTnLst>
                                    <p:set>
                                      <p:cBhvr>
                                        <p:cTn id="10" dur="1" fill="hold">
                                          <p:stCondLst>
                                            <p:cond delay="0"/>
                                          </p:stCondLst>
                                        </p:cTn>
                                        <p:tgtEl>
                                          <p:spTgt spid="10"/>
                                        </p:tgtEl>
                                        <p:attrNameLst>
                                          <p:attrName>style.visibility</p:attrName>
                                        </p:attrNameLst>
                                      </p:cBhvr>
                                      <p:to>
                                        <p:strVal val="visible"/>
                                      </p:to>
                                    </p:set>
                                    <p:animEffect transition="in" filter="barn(outVertical)">
                                      <p:cBhvr>
                                        <p:cTn id="11" dur="500"/>
                                        <p:tgtEl>
                                          <p:spTgt spid="10"/>
                                        </p:tgtEl>
                                      </p:cBhvr>
                                    </p:animEffect>
                                  </p:childTnLst>
                                </p:cTn>
                              </p:par>
                            </p:childTnLst>
                          </p:cTn>
                        </p:par>
                        <p:par>
                          <p:cTn id="12" fill="hold">
                            <p:stCondLst>
                              <p:cond delay="1000"/>
                            </p:stCondLst>
                            <p:childTnLst>
                              <p:par>
                                <p:cTn id="13" presetID="2" presetClass="entr" presetSubtype="8"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additive="base">
                                        <p:cTn id="15" dur="500" fill="hold"/>
                                        <p:tgtEl>
                                          <p:spTgt spid="8"/>
                                        </p:tgtEl>
                                        <p:attrNameLst>
                                          <p:attrName>ppt_x</p:attrName>
                                        </p:attrNameLst>
                                      </p:cBhvr>
                                      <p:tavLst>
                                        <p:tav tm="0">
                                          <p:val>
                                            <p:strVal val="0-#ppt_w/2"/>
                                          </p:val>
                                        </p:tav>
                                        <p:tav tm="100000">
                                          <p:val>
                                            <p:strVal val="#ppt_x"/>
                                          </p:val>
                                        </p:tav>
                                      </p:tavLst>
                                    </p:anim>
                                    <p:anim calcmode="lin" valueType="num">
                                      <p:cBhvr additive="base">
                                        <p:cTn id="16" dur="500" fill="hold"/>
                                        <p:tgtEl>
                                          <p:spTgt spid="8"/>
                                        </p:tgtEl>
                                        <p:attrNameLst>
                                          <p:attrName>ppt_y</p:attrName>
                                        </p:attrNameLst>
                                      </p:cBhvr>
                                      <p:tavLst>
                                        <p:tav tm="0">
                                          <p:val>
                                            <p:strVal val="#ppt_y"/>
                                          </p:val>
                                        </p:tav>
                                        <p:tav tm="100000">
                                          <p:val>
                                            <p:strVal val="#ppt_y"/>
                                          </p:val>
                                        </p:tav>
                                      </p:tavLst>
                                    </p:anim>
                                  </p:childTnLst>
                                </p:cTn>
                              </p:par>
                              <p:par>
                                <p:cTn id="17" presetID="2" presetClass="entr" presetSubtype="8" fill="hold" grpId="0" nodeType="withEffect">
                                  <p:stCondLst>
                                    <p:cond delay="250"/>
                                  </p:stCondLst>
                                  <p:childTnLst>
                                    <p:set>
                                      <p:cBhvr>
                                        <p:cTn id="18" dur="1" fill="hold">
                                          <p:stCondLst>
                                            <p:cond delay="0"/>
                                          </p:stCondLst>
                                        </p:cTn>
                                        <p:tgtEl>
                                          <p:spTgt spid="9"/>
                                        </p:tgtEl>
                                        <p:attrNameLst>
                                          <p:attrName>style.visibility</p:attrName>
                                        </p:attrNameLst>
                                      </p:cBhvr>
                                      <p:to>
                                        <p:strVal val="visible"/>
                                      </p:to>
                                    </p:set>
                                    <p:anim calcmode="lin" valueType="num">
                                      <p:cBhvr additive="base">
                                        <p:cTn id="19" dur="500" fill="hold"/>
                                        <p:tgtEl>
                                          <p:spTgt spid="9"/>
                                        </p:tgtEl>
                                        <p:attrNameLst>
                                          <p:attrName>ppt_x</p:attrName>
                                        </p:attrNameLst>
                                      </p:cBhvr>
                                      <p:tavLst>
                                        <p:tav tm="0">
                                          <p:val>
                                            <p:strVal val="0-#ppt_w/2"/>
                                          </p:val>
                                        </p:tav>
                                        <p:tav tm="100000">
                                          <p:val>
                                            <p:strVal val="#ppt_x"/>
                                          </p:val>
                                        </p:tav>
                                      </p:tavLst>
                                    </p:anim>
                                    <p:anim calcmode="lin" valueType="num">
                                      <p:cBhvr additive="base">
                                        <p:cTn id="20" dur="500" fill="hold"/>
                                        <p:tgtEl>
                                          <p:spTgt spid="9"/>
                                        </p:tgtEl>
                                        <p:attrNameLst>
                                          <p:attrName>ppt_y</p:attrName>
                                        </p:attrNameLst>
                                      </p:cBhvr>
                                      <p:tavLst>
                                        <p:tav tm="0">
                                          <p:val>
                                            <p:strVal val="#ppt_y"/>
                                          </p:val>
                                        </p:tav>
                                        <p:tav tm="100000">
                                          <p:val>
                                            <p:strVal val="#ppt_y"/>
                                          </p:val>
                                        </p:tav>
                                      </p:tavLst>
                                    </p:anim>
                                  </p:childTnLst>
                                </p:cTn>
                              </p:par>
                            </p:childTnLst>
                          </p:cTn>
                        </p:par>
                        <p:par>
                          <p:cTn id="21" fill="hold">
                            <p:stCondLst>
                              <p:cond delay="1500"/>
                            </p:stCondLst>
                            <p:childTnLst>
                              <p:par>
                                <p:cTn id="22" presetID="22" presetClass="entr" presetSubtype="1" fill="hold" grpId="0" nodeType="afterEffect">
                                  <p:stCondLst>
                                    <p:cond delay="0"/>
                                  </p:stCondLst>
                                  <p:childTnLst>
                                    <p:set>
                                      <p:cBhvr>
                                        <p:cTn id="23" dur="1" fill="hold">
                                          <p:stCondLst>
                                            <p:cond delay="0"/>
                                          </p:stCondLst>
                                        </p:cTn>
                                        <p:tgtEl>
                                          <p:spTgt spid="7"/>
                                        </p:tgtEl>
                                        <p:attrNameLst>
                                          <p:attrName>style.visibility</p:attrName>
                                        </p:attrNameLst>
                                      </p:cBhvr>
                                      <p:to>
                                        <p:strVal val="visible"/>
                                      </p:to>
                                    </p:set>
                                    <p:animEffect transition="in" filter="wipe(up)">
                                      <p:cBhvr>
                                        <p:cTn id="24" dur="500"/>
                                        <p:tgtEl>
                                          <p:spTgt spid="7"/>
                                        </p:tgtEl>
                                      </p:cBhvr>
                                    </p:animEffect>
                                  </p:childTnLst>
                                </p:cTn>
                              </p:par>
                            </p:childTnLst>
                          </p:cTn>
                        </p:par>
                        <p:par>
                          <p:cTn id="25" fill="hold">
                            <p:stCondLst>
                              <p:cond delay="2000"/>
                            </p:stCondLst>
                            <p:childTnLst>
                              <p:par>
                                <p:cTn id="26" presetID="22" presetClass="entr" presetSubtype="1" fill="hold" grpId="0" nodeType="after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wipe(up)">
                                      <p:cBhvr>
                                        <p:cTn id="28" dur="500"/>
                                        <p:tgtEl>
                                          <p:spTgt spid="4"/>
                                        </p:tgtEl>
                                      </p:cBhvr>
                                    </p:animEffect>
                                  </p:childTnLst>
                                </p:cTn>
                              </p:par>
                            </p:childTnLst>
                          </p:cTn>
                        </p:par>
                        <p:par>
                          <p:cTn id="29" fill="hold">
                            <p:stCondLst>
                              <p:cond delay="2500"/>
                            </p:stCondLst>
                            <p:childTnLst>
                              <p:par>
                                <p:cTn id="30" presetID="22" presetClass="entr" presetSubtype="1" fill="hold" grpId="0" nodeType="after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up)">
                                      <p:cBhvr>
                                        <p:cTn id="32" dur="500"/>
                                        <p:tgtEl>
                                          <p:spTgt spid="5"/>
                                        </p:tgtEl>
                                      </p:cBhvr>
                                    </p:animEffect>
                                  </p:childTnLst>
                                </p:cTn>
                              </p:par>
                            </p:childTnLst>
                          </p:cTn>
                        </p:par>
                        <p:par>
                          <p:cTn id="33" fill="hold">
                            <p:stCondLst>
                              <p:cond delay="3000"/>
                            </p:stCondLst>
                            <p:childTnLst>
                              <p:par>
                                <p:cTn id="34" presetID="42" presetClass="exit" presetSubtype="0" fill="hold" grpId="1" nodeType="afterEffect">
                                  <p:stCondLst>
                                    <p:cond delay="1500"/>
                                  </p:stCondLst>
                                  <p:childTnLst>
                                    <p:animEffect transition="out" filter="fade">
                                      <p:cBhvr>
                                        <p:cTn id="35" dur="500"/>
                                        <p:tgtEl>
                                          <p:spTgt spid="4"/>
                                        </p:tgtEl>
                                      </p:cBhvr>
                                    </p:animEffect>
                                    <p:anim calcmode="lin" valueType="num">
                                      <p:cBhvr>
                                        <p:cTn id="36" dur="500"/>
                                        <p:tgtEl>
                                          <p:spTgt spid="4"/>
                                        </p:tgtEl>
                                        <p:attrNameLst>
                                          <p:attrName>ppt_x</p:attrName>
                                        </p:attrNameLst>
                                      </p:cBhvr>
                                      <p:tavLst>
                                        <p:tav tm="0">
                                          <p:val>
                                            <p:strVal val="ppt_x"/>
                                          </p:val>
                                        </p:tav>
                                        <p:tav tm="100000">
                                          <p:val>
                                            <p:strVal val="ppt_x"/>
                                          </p:val>
                                        </p:tav>
                                      </p:tavLst>
                                    </p:anim>
                                    <p:anim calcmode="lin" valueType="num">
                                      <p:cBhvr>
                                        <p:cTn id="37" dur="500"/>
                                        <p:tgtEl>
                                          <p:spTgt spid="4"/>
                                        </p:tgtEl>
                                        <p:attrNameLst>
                                          <p:attrName>ppt_y</p:attrName>
                                        </p:attrNameLst>
                                      </p:cBhvr>
                                      <p:tavLst>
                                        <p:tav tm="0">
                                          <p:val>
                                            <p:strVal val="ppt_y"/>
                                          </p:val>
                                        </p:tav>
                                        <p:tav tm="100000">
                                          <p:val>
                                            <p:strVal val="ppt_y+.1"/>
                                          </p:val>
                                        </p:tav>
                                      </p:tavLst>
                                    </p:anim>
                                    <p:set>
                                      <p:cBhvr>
                                        <p:cTn id="38" dur="1" fill="hold">
                                          <p:stCondLst>
                                            <p:cond delay="499"/>
                                          </p:stCondLst>
                                        </p:cTn>
                                        <p:tgtEl>
                                          <p:spTgt spid="4"/>
                                        </p:tgtEl>
                                        <p:attrNameLst>
                                          <p:attrName>style.visibility</p:attrName>
                                        </p:attrNameLst>
                                      </p:cBhvr>
                                      <p:to>
                                        <p:strVal val="hidden"/>
                                      </p:to>
                                    </p:set>
                                  </p:childTnLst>
                                </p:cTn>
                              </p:par>
                              <p:par>
                                <p:cTn id="39" presetID="42" presetClass="exit" presetSubtype="0" fill="hold" grpId="1" nodeType="withEffect">
                                  <p:stCondLst>
                                    <p:cond delay="1500"/>
                                  </p:stCondLst>
                                  <p:childTnLst>
                                    <p:animEffect transition="out" filter="fade">
                                      <p:cBhvr>
                                        <p:cTn id="40" dur="500"/>
                                        <p:tgtEl>
                                          <p:spTgt spid="5"/>
                                        </p:tgtEl>
                                      </p:cBhvr>
                                    </p:animEffect>
                                    <p:anim calcmode="lin" valueType="num">
                                      <p:cBhvr>
                                        <p:cTn id="41" dur="500"/>
                                        <p:tgtEl>
                                          <p:spTgt spid="5"/>
                                        </p:tgtEl>
                                        <p:attrNameLst>
                                          <p:attrName>ppt_x</p:attrName>
                                        </p:attrNameLst>
                                      </p:cBhvr>
                                      <p:tavLst>
                                        <p:tav tm="0">
                                          <p:val>
                                            <p:strVal val="ppt_x"/>
                                          </p:val>
                                        </p:tav>
                                        <p:tav tm="100000">
                                          <p:val>
                                            <p:strVal val="ppt_x"/>
                                          </p:val>
                                        </p:tav>
                                      </p:tavLst>
                                    </p:anim>
                                    <p:anim calcmode="lin" valueType="num">
                                      <p:cBhvr>
                                        <p:cTn id="42" dur="500"/>
                                        <p:tgtEl>
                                          <p:spTgt spid="5"/>
                                        </p:tgtEl>
                                        <p:attrNameLst>
                                          <p:attrName>ppt_y</p:attrName>
                                        </p:attrNameLst>
                                      </p:cBhvr>
                                      <p:tavLst>
                                        <p:tav tm="0">
                                          <p:val>
                                            <p:strVal val="ppt_y"/>
                                          </p:val>
                                        </p:tav>
                                        <p:tav tm="100000">
                                          <p:val>
                                            <p:strVal val="ppt_y+.1"/>
                                          </p:val>
                                        </p:tav>
                                      </p:tavLst>
                                    </p:anim>
                                    <p:set>
                                      <p:cBhvr>
                                        <p:cTn id="43" dur="1" fill="hold">
                                          <p:stCondLst>
                                            <p:cond delay="499"/>
                                          </p:stCondLst>
                                        </p:cTn>
                                        <p:tgtEl>
                                          <p:spTgt spid="5"/>
                                        </p:tgtEl>
                                        <p:attrNameLst>
                                          <p:attrName>style.visibility</p:attrName>
                                        </p:attrNameLst>
                                      </p:cBhvr>
                                      <p:to>
                                        <p:strVal val="hidden"/>
                                      </p:to>
                                    </p:set>
                                  </p:childTnLst>
                                </p:cTn>
                              </p:par>
                              <p:par>
                                <p:cTn id="44" presetID="42" presetClass="exit" presetSubtype="0" fill="hold" grpId="1" nodeType="withEffect">
                                  <p:stCondLst>
                                    <p:cond delay="1500"/>
                                  </p:stCondLst>
                                  <p:childTnLst>
                                    <p:animEffect transition="out" filter="fade">
                                      <p:cBhvr>
                                        <p:cTn id="45" dur="500"/>
                                        <p:tgtEl>
                                          <p:spTgt spid="7"/>
                                        </p:tgtEl>
                                      </p:cBhvr>
                                    </p:animEffect>
                                    <p:anim calcmode="lin" valueType="num">
                                      <p:cBhvr>
                                        <p:cTn id="46" dur="500"/>
                                        <p:tgtEl>
                                          <p:spTgt spid="7"/>
                                        </p:tgtEl>
                                        <p:attrNameLst>
                                          <p:attrName>ppt_x</p:attrName>
                                        </p:attrNameLst>
                                      </p:cBhvr>
                                      <p:tavLst>
                                        <p:tav tm="0">
                                          <p:val>
                                            <p:strVal val="ppt_x"/>
                                          </p:val>
                                        </p:tav>
                                        <p:tav tm="100000">
                                          <p:val>
                                            <p:strVal val="ppt_x"/>
                                          </p:val>
                                        </p:tav>
                                      </p:tavLst>
                                    </p:anim>
                                    <p:anim calcmode="lin" valueType="num">
                                      <p:cBhvr>
                                        <p:cTn id="47" dur="500"/>
                                        <p:tgtEl>
                                          <p:spTgt spid="7"/>
                                        </p:tgtEl>
                                        <p:attrNameLst>
                                          <p:attrName>ppt_y</p:attrName>
                                        </p:attrNameLst>
                                      </p:cBhvr>
                                      <p:tavLst>
                                        <p:tav tm="0">
                                          <p:val>
                                            <p:strVal val="ppt_y"/>
                                          </p:val>
                                        </p:tav>
                                        <p:tav tm="100000">
                                          <p:val>
                                            <p:strVal val="ppt_y+.1"/>
                                          </p:val>
                                        </p:tav>
                                      </p:tavLst>
                                    </p:anim>
                                    <p:set>
                                      <p:cBhvr>
                                        <p:cTn id="48" dur="1" fill="hold">
                                          <p:stCondLst>
                                            <p:cond delay="499"/>
                                          </p:stCondLst>
                                        </p:cTn>
                                        <p:tgtEl>
                                          <p:spTgt spid="7"/>
                                        </p:tgtEl>
                                        <p:attrNameLst>
                                          <p:attrName>style.visibility</p:attrName>
                                        </p:attrNameLst>
                                      </p:cBhvr>
                                      <p:to>
                                        <p:strVal val="hidden"/>
                                      </p:to>
                                    </p:set>
                                  </p:childTnLst>
                                </p:cTn>
                              </p:par>
                            </p:childTnLst>
                          </p:cTn>
                        </p:par>
                        <p:par>
                          <p:cTn id="49" fill="hold">
                            <p:stCondLst>
                              <p:cond delay="5000"/>
                            </p:stCondLst>
                            <p:childTnLst>
                              <p:par>
                                <p:cTn id="50" presetID="2" presetClass="exit" presetSubtype="2" fill="hold" grpId="1" nodeType="afterEffect">
                                  <p:stCondLst>
                                    <p:cond delay="0"/>
                                  </p:stCondLst>
                                  <p:childTnLst>
                                    <p:anim calcmode="lin" valueType="num">
                                      <p:cBhvr additive="base">
                                        <p:cTn id="51" dur="500"/>
                                        <p:tgtEl>
                                          <p:spTgt spid="8"/>
                                        </p:tgtEl>
                                        <p:attrNameLst>
                                          <p:attrName>ppt_x</p:attrName>
                                        </p:attrNameLst>
                                      </p:cBhvr>
                                      <p:tavLst>
                                        <p:tav tm="0">
                                          <p:val>
                                            <p:strVal val="ppt_x"/>
                                          </p:val>
                                        </p:tav>
                                        <p:tav tm="100000">
                                          <p:val>
                                            <p:strVal val="1+ppt_w/2"/>
                                          </p:val>
                                        </p:tav>
                                      </p:tavLst>
                                    </p:anim>
                                    <p:anim calcmode="lin" valueType="num">
                                      <p:cBhvr additive="base">
                                        <p:cTn id="52" dur="500"/>
                                        <p:tgtEl>
                                          <p:spTgt spid="8"/>
                                        </p:tgtEl>
                                        <p:attrNameLst>
                                          <p:attrName>ppt_y</p:attrName>
                                        </p:attrNameLst>
                                      </p:cBhvr>
                                      <p:tavLst>
                                        <p:tav tm="0">
                                          <p:val>
                                            <p:strVal val="ppt_y"/>
                                          </p:val>
                                        </p:tav>
                                        <p:tav tm="100000">
                                          <p:val>
                                            <p:strVal val="ppt_y"/>
                                          </p:val>
                                        </p:tav>
                                      </p:tavLst>
                                    </p:anim>
                                    <p:set>
                                      <p:cBhvr>
                                        <p:cTn id="53" dur="1" fill="hold">
                                          <p:stCondLst>
                                            <p:cond delay="499"/>
                                          </p:stCondLst>
                                        </p:cTn>
                                        <p:tgtEl>
                                          <p:spTgt spid="8"/>
                                        </p:tgtEl>
                                        <p:attrNameLst>
                                          <p:attrName>style.visibility</p:attrName>
                                        </p:attrNameLst>
                                      </p:cBhvr>
                                      <p:to>
                                        <p:strVal val="hidden"/>
                                      </p:to>
                                    </p:set>
                                  </p:childTnLst>
                                </p:cTn>
                              </p:par>
                              <p:par>
                                <p:cTn id="54" presetID="2" presetClass="exit" presetSubtype="2" fill="hold" grpId="1" nodeType="withEffect">
                                  <p:stCondLst>
                                    <p:cond delay="0"/>
                                  </p:stCondLst>
                                  <p:childTnLst>
                                    <p:anim calcmode="lin" valueType="num">
                                      <p:cBhvr additive="base">
                                        <p:cTn id="55" dur="500"/>
                                        <p:tgtEl>
                                          <p:spTgt spid="9"/>
                                        </p:tgtEl>
                                        <p:attrNameLst>
                                          <p:attrName>ppt_x</p:attrName>
                                        </p:attrNameLst>
                                      </p:cBhvr>
                                      <p:tavLst>
                                        <p:tav tm="0">
                                          <p:val>
                                            <p:strVal val="ppt_x"/>
                                          </p:val>
                                        </p:tav>
                                        <p:tav tm="100000">
                                          <p:val>
                                            <p:strVal val="1+ppt_w/2"/>
                                          </p:val>
                                        </p:tav>
                                      </p:tavLst>
                                    </p:anim>
                                    <p:anim calcmode="lin" valueType="num">
                                      <p:cBhvr additive="base">
                                        <p:cTn id="56" dur="500"/>
                                        <p:tgtEl>
                                          <p:spTgt spid="9"/>
                                        </p:tgtEl>
                                        <p:attrNameLst>
                                          <p:attrName>ppt_y</p:attrName>
                                        </p:attrNameLst>
                                      </p:cBhvr>
                                      <p:tavLst>
                                        <p:tav tm="0">
                                          <p:val>
                                            <p:strVal val="ppt_y"/>
                                          </p:val>
                                        </p:tav>
                                        <p:tav tm="100000">
                                          <p:val>
                                            <p:strVal val="ppt_y"/>
                                          </p:val>
                                        </p:tav>
                                      </p:tavLst>
                                    </p:anim>
                                    <p:set>
                                      <p:cBhvr>
                                        <p:cTn id="57" dur="1" fill="hold">
                                          <p:stCondLst>
                                            <p:cond delay="499"/>
                                          </p:stCondLst>
                                        </p:cTn>
                                        <p:tgtEl>
                                          <p:spTgt spid="9"/>
                                        </p:tgtEl>
                                        <p:attrNameLst>
                                          <p:attrName>style.visibility</p:attrName>
                                        </p:attrNameLst>
                                      </p:cBhvr>
                                      <p:to>
                                        <p:strVal val="hidden"/>
                                      </p:to>
                                    </p:set>
                                  </p:childTnLst>
                                </p:cTn>
                              </p:par>
                            </p:childTnLst>
                          </p:cTn>
                        </p:par>
                        <p:par>
                          <p:cTn id="58" fill="hold">
                            <p:stCondLst>
                              <p:cond delay="5500"/>
                            </p:stCondLst>
                            <p:childTnLst>
                              <p:par>
                                <p:cTn id="59" presetID="42" presetClass="exit" presetSubtype="0" fill="hold" nodeType="afterEffect">
                                  <p:stCondLst>
                                    <p:cond delay="0"/>
                                  </p:stCondLst>
                                  <p:childTnLst>
                                    <p:animEffect transition="out" filter="fade">
                                      <p:cBhvr>
                                        <p:cTn id="60" dur="1000"/>
                                        <p:tgtEl>
                                          <p:spTgt spid="6"/>
                                        </p:tgtEl>
                                      </p:cBhvr>
                                    </p:animEffect>
                                    <p:anim calcmode="lin" valueType="num">
                                      <p:cBhvr>
                                        <p:cTn id="61" dur="1000"/>
                                        <p:tgtEl>
                                          <p:spTgt spid="6"/>
                                        </p:tgtEl>
                                        <p:attrNameLst>
                                          <p:attrName>ppt_x</p:attrName>
                                        </p:attrNameLst>
                                      </p:cBhvr>
                                      <p:tavLst>
                                        <p:tav tm="0">
                                          <p:val>
                                            <p:strVal val="ppt_x"/>
                                          </p:val>
                                        </p:tav>
                                        <p:tav tm="100000">
                                          <p:val>
                                            <p:strVal val="ppt_x"/>
                                          </p:val>
                                        </p:tav>
                                      </p:tavLst>
                                    </p:anim>
                                    <p:anim calcmode="lin" valueType="num">
                                      <p:cBhvr>
                                        <p:cTn id="62" dur="1000"/>
                                        <p:tgtEl>
                                          <p:spTgt spid="6"/>
                                        </p:tgtEl>
                                        <p:attrNameLst>
                                          <p:attrName>ppt_y</p:attrName>
                                        </p:attrNameLst>
                                      </p:cBhvr>
                                      <p:tavLst>
                                        <p:tav tm="0">
                                          <p:val>
                                            <p:strVal val="ppt_y"/>
                                          </p:val>
                                        </p:tav>
                                        <p:tav tm="100000">
                                          <p:val>
                                            <p:strVal val="ppt_y+.1"/>
                                          </p:val>
                                        </p:tav>
                                      </p:tavLst>
                                    </p:anim>
                                    <p:set>
                                      <p:cBhvr>
                                        <p:cTn id="63" dur="1" fill="hold">
                                          <p:stCondLst>
                                            <p:cond delay="999"/>
                                          </p:stCondLst>
                                        </p:cTn>
                                        <p:tgtEl>
                                          <p:spTgt spid="6"/>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5" grpId="0"/>
      <p:bldP spid="5" grpId="1"/>
      <p:bldP spid="7" grpId="0"/>
      <p:bldP spid="7" grpId="1"/>
      <p:bldP spid="8" grpId="0" animBg="1"/>
      <p:bldP spid="8" grpId="1" animBg="1"/>
      <p:bldP spid="9" grpId="0" animBg="1"/>
      <p:bldP spid="9"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627784" y="2067570"/>
            <a:ext cx="5275634" cy="923330"/>
          </a:xfrm>
          <a:prstGeom prst="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5" name="TextBox 4"/>
          <p:cNvSpPr txBox="1"/>
          <p:nvPr/>
        </p:nvSpPr>
        <p:spPr>
          <a:xfrm>
            <a:off x="3723145" y="2118370"/>
            <a:ext cx="3116559" cy="830997"/>
          </a:xfrm>
          <a:prstGeom prst="rect">
            <a:avLst/>
          </a:prstGeom>
          <a:noFill/>
        </p:spPr>
        <p:txBody>
          <a:bodyPr vert="horz" wrap="square" rtlCol="0">
            <a:spAutoFit/>
          </a:bodyPr>
          <a:lstStyle/>
          <a:p>
            <a:pPr algn="ctr" fontAlgn="b"/>
            <a:r>
              <a:rPr lang="zh-CN" altLang="en-US" sz="4800" b="1" dirty="0">
                <a:solidFill>
                  <a:schemeClr val="bg1"/>
                </a:solidFill>
                <a:latin typeface="微软雅黑" panose="020B0503020204020204" pitchFamily="34" charset="-122"/>
                <a:ea typeface="微软雅黑" panose="020B0503020204020204" pitchFamily="34" charset="-122"/>
              </a:rPr>
              <a:t>实验结果与总结</a:t>
            </a:r>
          </a:p>
        </p:txBody>
      </p:sp>
      <p:sp>
        <p:nvSpPr>
          <p:cNvPr id="6" name="泪滴形 5"/>
          <p:cNvSpPr/>
          <p:nvPr/>
        </p:nvSpPr>
        <p:spPr>
          <a:xfrm>
            <a:off x="1475656" y="2067570"/>
            <a:ext cx="1043726" cy="1043726"/>
          </a:xfrm>
          <a:prstGeom prst="teardrop">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r>
              <a:rPr lang="en-US" altLang="zh-CN" sz="6000" dirty="0"/>
              <a:t>4</a:t>
            </a:r>
            <a:endParaRPr lang="zh-CN" altLang="en-US" sz="6000" dirty="0"/>
          </a:p>
        </p:txBody>
      </p:sp>
    </p:spTree>
  </p:cSld>
  <p:clrMapOvr>
    <a:masterClrMapping/>
  </p:clrMapOvr>
  <mc:AlternateContent xmlns:mc="http://schemas.openxmlformats.org/markup-compatibility/2006" xmlns:p14="http://schemas.microsoft.com/office/powerpoint/2010/main">
    <mc:Choice Requires="p14">
      <p:transition spd="slow" p14:dur="1200" advClick="0" advTm="4000">
        <p14:prism dir="d"/>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3" fill="hold" grpId="0" nodeType="with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1+#ppt_w/2"/>
                                          </p:val>
                                        </p:tav>
                                        <p:tav tm="100000">
                                          <p:val>
                                            <p:strVal val="#ppt_x"/>
                                          </p:val>
                                        </p:tav>
                                      </p:tavLst>
                                    </p:anim>
                                    <p:anim calcmode="lin" valueType="num">
                                      <p:cBhvr additive="base">
                                        <p:cTn id="8" dur="500" fill="hold"/>
                                        <p:tgtEl>
                                          <p:spTgt spid="6"/>
                                        </p:tgtEl>
                                        <p:attrNameLst>
                                          <p:attrName>ppt_y</p:attrName>
                                        </p:attrNameLst>
                                      </p:cBhvr>
                                      <p:tavLst>
                                        <p:tav tm="0">
                                          <p:val>
                                            <p:strVal val="0-#ppt_h/2"/>
                                          </p:val>
                                        </p:tav>
                                        <p:tav tm="100000">
                                          <p:val>
                                            <p:strVal val="#ppt_y"/>
                                          </p:val>
                                        </p:tav>
                                      </p:tavLst>
                                    </p:anim>
                                  </p:childTnLst>
                                </p:cTn>
                              </p:par>
                            </p:childTnLst>
                          </p:cTn>
                        </p:par>
                        <p:par>
                          <p:cTn id="9" fill="hold">
                            <p:stCondLst>
                              <p:cond delay="500"/>
                            </p:stCondLst>
                            <p:childTnLst>
                              <p:par>
                                <p:cTn id="10" presetID="2" presetClass="entr" presetSubtype="2" fill="hold" grpId="0" nodeType="after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additive="base">
                                        <p:cTn id="12" dur="500" fill="hold"/>
                                        <p:tgtEl>
                                          <p:spTgt spid="4"/>
                                        </p:tgtEl>
                                        <p:attrNameLst>
                                          <p:attrName>ppt_x</p:attrName>
                                        </p:attrNameLst>
                                      </p:cBhvr>
                                      <p:tavLst>
                                        <p:tav tm="0">
                                          <p:val>
                                            <p:strVal val="1+#ppt_w/2"/>
                                          </p:val>
                                        </p:tav>
                                        <p:tav tm="100000">
                                          <p:val>
                                            <p:strVal val="#ppt_x"/>
                                          </p:val>
                                        </p:tav>
                                      </p:tavLst>
                                    </p:anim>
                                    <p:anim calcmode="lin" valueType="num">
                                      <p:cBhvr additive="base">
                                        <p:cTn id="13" dur="500" fill="hold"/>
                                        <p:tgtEl>
                                          <p:spTgt spid="4"/>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3" presetClass="entr" presetSubtype="16" fill="hold" grpId="0" nodeType="afterEffect">
                                  <p:stCondLst>
                                    <p:cond delay="0"/>
                                  </p:stCondLst>
                                  <p:childTnLst>
                                    <p:set>
                                      <p:cBhvr>
                                        <p:cTn id="16" dur="1" fill="hold">
                                          <p:stCondLst>
                                            <p:cond delay="0"/>
                                          </p:stCondLst>
                                        </p:cTn>
                                        <p:tgtEl>
                                          <p:spTgt spid="5"/>
                                        </p:tgtEl>
                                        <p:attrNameLst>
                                          <p:attrName>style.visibility</p:attrName>
                                        </p:attrNameLst>
                                      </p:cBhvr>
                                      <p:to>
                                        <p:strVal val="visible"/>
                                      </p:to>
                                    </p:set>
                                    <p:anim calcmode="lin" valueType="num">
                                      <p:cBhvr>
                                        <p:cTn id="17" dur="500" fill="hold"/>
                                        <p:tgtEl>
                                          <p:spTgt spid="5"/>
                                        </p:tgtEl>
                                        <p:attrNameLst>
                                          <p:attrName>ppt_w</p:attrName>
                                        </p:attrNameLst>
                                      </p:cBhvr>
                                      <p:tavLst>
                                        <p:tav tm="0">
                                          <p:val>
                                            <p:fltVal val="0"/>
                                          </p:val>
                                        </p:tav>
                                        <p:tav tm="100000">
                                          <p:val>
                                            <p:strVal val="#ppt_w"/>
                                          </p:val>
                                        </p:tav>
                                      </p:tavLst>
                                    </p:anim>
                                    <p:anim calcmode="lin" valueType="num">
                                      <p:cBhvr>
                                        <p:cTn id="18" dur="500" fill="hold"/>
                                        <p:tgtEl>
                                          <p:spTgt spid="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圆角矩形 3"/>
          <p:cNvSpPr/>
          <p:nvPr/>
        </p:nvSpPr>
        <p:spPr>
          <a:xfrm>
            <a:off x="961090" y="1201316"/>
            <a:ext cx="2098742" cy="1487005"/>
          </a:xfrm>
          <a:prstGeom prst="roundRect">
            <a:avLst>
              <a:gd name="adj" fmla="val 0"/>
            </a:avLst>
          </a:prstGeom>
          <a:blipFill dpi="0" rotWithShape="1">
            <a:blip r:embed="rId3"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5" name="TextBox 4"/>
          <p:cNvSpPr txBox="1"/>
          <p:nvPr/>
        </p:nvSpPr>
        <p:spPr>
          <a:xfrm>
            <a:off x="865035" y="2850301"/>
            <a:ext cx="6884842" cy="1535805"/>
          </a:xfrm>
          <a:prstGeom prst="rect">
            <a:avLst/>
          </a:prstGeom>
          <a:noFill/>
        </p:spPr>
        <p:txBody>
          <a:bodyPr wrap="square" rtlCol="0">
            <a:spAutoFit/>
          </a:bodyPr>
          <a:lstStyle/>
          <a:p>
            <a:pPr algn="just">
              <a:spcAft>
                <a:spcPts val="600"/>
              </a:spcAft>
            </a:pPr>
            <a:r>
              <a:rPr lang="zh-CN" altLang="en-US" b="1" dirty="0">
                <a:solidFill>
                  <a:schemeClr val="tx2">
                    <a:lumMod val="75000"/>
                  </a:schemeClr>
                </a:solidFill>
                <a:latin typeface="微软雅黑" panose="020B0503020204020204" pitchFamily="34" charset="-122"/>
                <a:ea typeface="微软雅黑" panose="020B0503020204020204" pitchFamily="34" charset="-122"/>
              </a:rPr>
              <a:t>实验结果表明，基于条件扩散模型的反演方法在温度、气压和水汽压三个变量上均取得了优异的性能。</a:t>
            </a:r>
            <a:endParaRPr lang="en-US" altLang="zh-CN" b="1" dirty="0">
              <a:solidFill>
                <a:schemeClr val="tx2">
                  <a:lumMod val="75000"/>
                </a:schemeClr>
              </a:solidFill>
              <a:latin typeface="微软雅黑" panose="020B0503020204020204" pitchFamily="34" charset="-122"/>
              <a:ea typeface="微软雅黑" panose="020B0503020204020204" pitchFamily="34" charset="-122"/>
            </a:endParaRPr>
          </a:p>
          <a:p>
            <a:pPr algn="just">
              <a:lnSpc>
                <a:spcPct val="120000"/>
              </a:lnSpc>
              <a:spcAft>
                <a:spcPts val="600"/>
              </a:spcAft>
            </a:pPr>
            <a:r>
              <a:rPr lang="zh-CN" altLang="en-US" sz="1400" dirty="0">
                <a:solidFill>
                  <a:prstClr val="black"/>
                </a:solidFill>
                <a:latin typeface="微软雅黑" panose="020B0503020204020204" pitchFamily="34" charset="-122"/>
                <a:ea typeface="微软雅黑" panose="020B0503020204020204" pitchFamily="34" charset="-122"/>
              </a:rPr>
              <a:t>温度反演RMSE约1.5K，气压反演相对误差小于1%，水汽压反演在对流层表现良好。与传统Abel变换方法相比，深度学习方法在复杂大气条件下具有更强的鲁棒性，特别是在低对流层和高纬度地区。DDIM加速采样将推理时间从1000步降至50步，满足业务化应用需求。</a:t>
            </a:r>
          </a:p>
        </p:txBody>
      </p:sp>
      <p:sp>
        <p:nvSpPr>
          <p:cNvPr id="6" name="圆角矩形 5"/>
          <p:cNvSpPr/>
          <p:nvPr/>
        </p:nvSpPr>
        <p:spPr>
          <a:xfrm>
            <a:off x="3256648" y="1201316"/>
            <a:ext cx="2098742" cy="1487005"/>
          </a:xfrm>
          <a:prstGeom prst="roundRect">
            <a:avLst>
              <a:gd name="adj" fmla="val 0"/>
            </a:avLst>
          </a:prstGeom>
          <a:blipFill dpi="0" rotWithShape="1">
            <a:blip r:embed="rId4"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7" name="圆角矩形 6"/>
          <p:cNvSpPr/>
          <p:nvPr/>
        </p:nvSpPr>
        <p:spPr>
          <a:xfrm>
            <a:off x="5580112" y="1201316"/>
            <a:ext cx="2098742" cy="1487005"/>
          </a:xfrm>
          <a:prstGeom prst="roundRect">
            <a:avLst>
              <a:gd name="adj" fmla="val 0"/>
            </a:avLst>
          </a:prstGeom>
          <a:blipFill dpi="0" rotWithShape="1">
            <a:blip r:embed="rId5" cstate="print"/>
            <a:srcRect/>
            <a:stretch>
              <a:fillRect l="-11000" r="-14000" b="-1000"/>
            </a:stretch>
          </a:blipFill>
          <a:ln w="12700">
            <a:solidFill>
              <a:srgbClr val="00B0F0"/>
            </a:solidFill>
          </a:ln>
          <a:effectLst>
            <a:softEdge rad="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8" name="TextBox 7"/>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实验结果与总结</a:t>
            </a:r>
          </a:p>
        </p:txBody>
      </p:sp>
    </p:spTree>
  </p:cSld>
  <p:clrMapOvr>
    <a:masterClrMapping/>
  </p:clrMapOvr>
  <mc:AlternateContent xmlns:mc="http://schemas.openxmlformats.org/markup-compatibility/2006" xmlns:p14="http://schemas.microsoft.com/office/powerpoint/2010/main">
    <mc:Choice Requires="p14">
      <p:transition spd="slow" p14:dur="900" advClick="0" advTm="4000">
        <p14:warp dir="in"/>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2" decel="7800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1+#ppt_w/2"/>
                                          </p:val>
                                        </p:tav>
                                        <p:tav tm="100000">
                                          <p:val>
                                            <p:strVal val="#ppt_x"/>
                                          </p:val>
                                        </p:tav>
                                      </p:tavLst>
                                    </p:anim>
                                    <p:anim calcmode="lin" valueType="num">
                                      <p:cBhvr additive="base">
                                        <p:cTn id="8" dur="500" fill="hold"/>
                                        <p:tgtEl>
                                          <p:spTgt spid="4"/>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 presetClass="entr" presetSubtype="2" decel="78000" fill="hold" grpId="0" nodeType="afterEffect">
                                  <p:stCondLst>
                                    <p:cond delay="0"/>
                                  </p:stCondLst>
                                  <p:childTnLst>
                                    <p:set>
                                      <p:cBhvr>
                                        <p:cTn id="11" dur="1" fill="hold">
                                          <p:stCondLst>
                                            <p:cond delay="0"/>
                                          </p:stCondLst>
                                        </p:cTn>
                                        <p:tgtEl>
                                          <p:spTgt spid="6"/>
                                        </p:tgtEl>
                                        <p:attrNameLst>
                                          <p:attrName>style.visibility</p:attrName>
                                        </p:attrNameLst>
                                      </p:cBhvr>
                                      <p:to>
                                        <p:strVal val="visible"/>
                                      </p:to>
                                    </p:set>
                                    <p:anim calcmode="lin" valueType="num">
                                      <p:cBhvr additive="base">
                                        <p:cTn id="12" dur="400" fill="hold"/>
                                        <p:tgtEl>
                                          <p:spTgt spid="6"/>
                                        </p:tgtEl>
                                        <p:attrNameLst>
                                          <p:attrName>ppt_x</p:attrName>
                                        </p:attrNameLst>
                                      </p:cBhvr>
                                      <p:tavLst>
                                        <p:tav tm="0">
                                          <p:val>
                                            <p:strVal val="1+#ppt_w/2"/>
                                          </p:val>
                                        </p:tav>
                                        <p:tav tm="100000">
                                          <p:val>
                                            <p:strVal val="#ppt_x"/>
                                          </p:val>
                                        </p:tav>
                                      </p:tavLst>
                                    </p:anim>
                                    <p:anim calcmode="lin" valueType="num">
                                      <p:cBhvr additive="base">
                                        <p:cTn id="13" dur="400" fill="hold"/>
                                        <p:tgtEl>
                                          <p:spTgt spid="6"/>
                                        </p:tgtEl>
                                        <p:attrNameLst>
                                          <p:attrName>ppt_y</p:attrName>
                                        </p:attrNameLst>
                                      </p:cBhvr>
                                      <p:tavLst>
                                        <p:tav tm="0">
                                          <p:val>
                                            <p:strVal val="#ppt_y"/>
                                          </p:val>
                                        </p:tav>
                                        <p:tav tm="100000">
                                          <p:val>
                                            <p:strVal val="#ppt_y"/>
                                          </p:val>
                                        </p:tav>
                                      </p:tavLst>
                                    </p:anim>
                                  </p:childTnLst>
                                </p:cTn>
                              </p:par>
                            </p:childTnLst>
                          </p:cTn>
                        </p:par>
                        <p:par>
                          <p:cTn id="14" fill="hold">
                            <p:stCondLst>
                              <p:cond delay="1000"/>
                            </p:stCondLst>
                            <p:childTnLst>
                              <p:par>
                                <p:cTn id="15" presetID="2" presetClass="entr" presetSubtype="2" decel="78000" fill="hold" grpId="0" nodeType="after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400" fill="hold"/>
                                        <p:tgtEl>
                                          <p:spTgt spid="7"/>
                                        </p:tgtEl>
                                        <p:attrNameLst>
                                          <p:attrName>ppt_x</p:attrName>
                                        </p:attrNameLst>
                                      </p:cBhvr>
                                      <p:tavLst>
                                        <p:tav tm="0">
                                          <p:val>
                                            <p:strVal val="1+#ppt_w/2"/>
                                          </p:val>
                                        </p:tav>
                                        <p:tav tm="100000">
                                          <p:val>
                                            <p:strVal val="#ppt_x"/>
                                          </p:val>
                                        </p:tav>
                                      </p:tavLst>
                                    </p:anim>
                                    <p:anim calcmode="lin" valueType="num">
                                      <p:cBhvr additive="base">
                                        <p:cTn id="18" dur="400" fill="hold"/>
                                        <p:tgtEl>
                                          <p:spTgt spid="7"/>
                                        </p:tgtEl>
                                        <p:attrNameLst>
                                          <p:attrName>ppt_y</p:attrName>
                                        </p:attrNameLst>
                                      </p:cBhvr>
                                      <p:tavLst>
                                        <p:tav tm="0">
                                          <p:val>
                                            <p:strVal val="#ppt_y"/>
                                          </p:val>
                                        </p:tav>
                                        <p:tav tm="100000">
                                          <p:val>
                                            <p:strVal val="#ppt_y"/>
                                          </p:val>
                                        </p:tav>
                                      </p:tavLst>
                                    </p:anim>
                                  </p:childTnLst>
                                </p:cTn>
                              </p:par>
                            </p:childTnLst>
                          </p:cTn>
                        </p:par>
                        <p:par>
                          <p:cTn id="19" fill="hold">
                            <p:stCondLst>
                              <p:cond delay="1500"/>
                            </p:stCondLst>
                            <p:childTnLst>
                              <p:par>
                                <p:cTn id="20" presetID="22" presetClass="entr" presetSubtype="1" fill="hold" grpId="0" nodeType="after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up)">
                                      <p:cBhvr>
                                        <p:cTn id="22"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1"/>
          <p:cNvGraphicFramePr>
            <a:graphicFrameLocks noGrp="1"/>
          </p:cNvGraphicFramePr>
          <p:nvPr/>
        </p:nvGraphicFramePr>
        <p:xfrm>
          <a:off x="1331640" y="1260624"/>
          <a:ext cx="6696744" cy="3410624"/>
        </p:xfrm>
        <a:graphic>
          <a:graphicData uri="http://schemas.openxmlformats.org/drawingml/2006/table">
            <a:tbl>
              <a:tblPr firstRow="1" firstCol="1" bandRow="1">
                <a:tableStyleId>{5C22544A-7EE6-4342-B048-85BDC9FD1C3A}</a:tableStyleId>
              </a:tblPr>
              <a:tblGrid>
                <a:gridCol w="2271077">
                  <a:extLst>
                    <a:ext uri="{9D8B030D-6E8A-4147-A177-3AD203B41FA5}">
                      <a16:colId xmlns:a16="http://schemas.microsoft.com/office/drawing/2014/main" val="20000"/>
                    </a:ext>
                  </a:extLst>
                </a:gridCol>
                <a:gridCol w="4425667">
                  <a:extLst>
                    <a:ext uri="{9D8B030D-6E8A-4147-A177-3AD203B41FA5}">
                      <a16:colId xmlns:a16="http://schemas.microsoft.com/office/drawing/2014/main" val="20001"/>
                    </a:ext>
                  </a:extLst>
                </a:gridCol>
              </a:tblGrid>
              <a:tr h="432048">
                <a:tc gridSpan="2">
                  <a:txBody>
                    <a:bodyPr/>
                    <a:lstStyle/>
                    <a:p>
                      <a:pPr algn="ctr">
                        <a:lnSpc>
                          <a:spcPct val="115000"/>
                        </a:lnSpc>
                        <a:spcAft>
                          <a:spcPts val="0"/>
                        </a:spcAft>
                      </a:pPr>
                      <a:r>
                        <a:rPr lang="zh-CN" altLang="en-US" sz="2000" kern="100" dirty="0">
                          <a:effectLst/>
                          <a:latin typeface="微软雅黑" panose="020B0503020204020204" pitchFamily="34" charset="-122"/>
                          <a:ea typeface="微软雅黑" panose="020B0503020204020204" pitchFamily="34" charset="-122"/>
                        </a:rPr>
                        <a:t>总结与展望</a:t>
                      </a:r>
                      <a:endParaRPr lang="zh-CN" sz="2000" kern="100" dirty="0">
                        <a:effectLst/>
                        <a:latin typeface="微软雅黑" panose="020B0503020204020204" pitchFamily="34" charset="-122"/>
                        <a:ea typeface="微软雅黑" panose="020B0503020204020204" pitchFamily="34" charset="-122"/>
                      </a:endParaRPr>
                    </a:p>
                  </a:txBody>
                  <a:tcPr marL="68580" marR="68580" marT="0" marB="0" anchor="ctr"/>
                </a:tc>
                <a:tc hMerge="1">
                  <a:txBody>
                    <a:bodyPr/>
                    <a:lstStyle/>
                    <a:p>
                      <a:endParaRPr lang="zh-CN"/>
                    </a:p>
                  </a:txBody>
                  <a:tcPr marL="68580" marR="68580" marT="0" marB="0" anchor="ctr"/>
                </a:tc>
                <a:extLst>
                  <a:ext uri="{0D108BD9-81ED-4DB2-BD59-A6C34878D82A}">
                    <a16:rowId xmlns:a16="http://schemas.microsoft.com/office/drawing/2014/main" val="10000"/>
                  </a:ext>
                </a:extLst>
              </a:tr>
              <a:tr h="720080">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主要贡献</a:t>
                      </a:r>
                      <a:endParaRPr 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首次将扩散模型应用于掩星反演</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实现多变量联合反演</a:t>
                      </a:r>
                    </a:p>
                  </a:txBody>
                  <a:tcPr marL="68580" marR="68580" marT="0" marB="0" anchor="ctr"/>
                </a:tc>
                <a:extLst>
                  <a:ext uri="{0D108BD9-81ED-4DB2-BD59-A6C34878D82A}">
                    <a16:rowId xmlns:a16="http://schemas.microsoft.com/office/drawing/2014/main" val="10001"/>
                  </a:ext>
                </a:extLst>
              </a:tr>
              <a:tr h="720080">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技术创新</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交叉注意力条件机制</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DDIM加速采样</a:t>
                      </a:r>
                    </a:p>
                  </a:txBody>
                  <a:tcPr marL="68580" marR="68580" marT="0" marB="0" anchor="ctr"/>
                </a:tc>
                <a:extLst>
                  <a:ext uri="{0D108BD9-81ED-4DB2-BD59-A6C34878D82A}">
                    <a16:rowId xmlns:a16="http://schemas.microsoft.com/office/drawing/2014/main" val="10002"/>
                  </a:ext>
                </a:extLst>
              </a:tr>
              <a:tr h="769208">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应用价值</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b="1" kern="0" dirty="0">
                          <a:solidFill>
                            <a:srgbClr val="0070C0"/>
                          </a:solidFill>
                          <a:latin typeface="微软雅黑" panose="020B0503020204020204" pitchFamily="34" charset="-122"/>
                          <a:ea typeface="微软雅黑" panose="020B0503020204020204" pitchFamily="34" charset="-122"/>
                        </a:rPr>
                        <a:t>提升气象预报精度</a:t>
                      </a:r>
                    </a:p>
                    <a:p>
                      <a:pPr algn="ctr">
                        <a:lnSpc>
                          <a:spcPct val="120000"/>
                        </a:lnSpc>
                        <a:defRPr/>
                      </a:pPr>
                      <a:r>
                        <a:rPr lang="zh-CN" altLang="en-US" sz="1600" b="1" kern="0" dirty="0">
                          <a:solidFill>
                            <a:srgbClr val="0070C0"/>
                          </a:solidFill>
                          <a:latin typeface="微软雅黑" panose="020B0503020204020204" pitchFamily="34" charset="-122"/>
                          <a:ea typeface="微软雅黑" panose="020B0503020204020204" pitchFamily="34" charset="-122"/>
                        </a:rPr>
                        <a:t>支持业务化应用</a:t>
                      </a:r>
                    </a:p>
                  </a:txBody>
                  <a:tcPr marL="68580" marR="68580" marT="0" marB="0" anchor="ctr"/>
                </a:tc>
                <a:extLst>
                  <a:ext uri="{0D108BD9-81ED-4DB2-BD59-A6C34878D82A}">
                    <a16:rowId xmlns:a16="http://schemas.microsoft.com/office/drawing/2014/main" val="10003"/>
                  </a:ext>
                </a:extLst>
              </a:tr>
              <a:tr h="769208">
                <a:tc>
                  <a:txBody>
                    <a:bodyPr/>
                    <a:lstStyle/>
                    <a:p>
                      <a:pPr algn="ctr">
                        <a:lnSpc>
                          <a:spcPct val="115000"/>
                        </a:lnSpc>
                        <a:spcAft>
                          <a:spcPts val="0"/>
                        </a:spcAft>
                      </a:pPr>
                      <a:r>
                        <a:rPr lang="zh-CN" altLang="en-US" sz="2400" kern="100" dirty="0">
                          <a:effectLst/>
                          <a:latin typeface="微软雅黑" panose="020B0503020204020204" pitchFamily="34" charset="-122"/>
                          <a:ea typeface="微软雅黑" panose="020B0503020204020204" pitchFamily="34" charset="-122"/>
                        </a:rPr>
                        <a:t>未来工作</a:t>
                      </a:r>
                      <a:endParaRPr lang="zh-CN" altLang="zh-CN" sz="2400" kern="100" dirty="0">
                        <a:effectLst/>
                        <a:latin typeface="微软雅黑" panose="020B0503020204020204" pitchFamily="34" charset="-122"/>
                        <a:ea typeface="微软雅黑" panose="020B0503020204020204" pitchFamily="34" charset="-122"/>
                      </a:endParaRPr>
                    </a:p>
                  </a:txBody>
                  <a:tcPr marL="68580" marR="68580" marT="0" marB="0" anchor="ctr"/>
                </a:tc>
                <a:tc>
                  <a:txBody>
                    <a:bodyPr/>
                    <a:lstStyle/>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多源数据融合</a:t>
                      </a:r>
                    </a:p>
                    <a:p>
                      <a:pPr algn="ctr">
                        <a:lnSpc>
                          <a:spcPct val="120000"/>
                        </a:lnSpc>
                        <a:defRPr/>
                      </a:pPr>
                      <a:r>
                        <a:rPr lang="zh-CN" altLang="en-US" sz="1600" kern="0" dirty="0">
                          <a:solidFill>
                            <a:srgbClr val="EEECE1">
                              <a:lumMod val="10000"/>
                            </a:srgbClr>
                          </a:solidFill>
                          <a:latin typeface="微软雅黑" panose="020B0503020204020204" pitchFamily="34" charset="-122"/>
                          <a:ea typeface="微软雅黑" panose="020B0503020204020204" pitchFamily="34" charset="-122"/>
                        </a:rPr>
                        <a:t>模型轻量化部署</a:t>
                      </a:r>
                    </a:p>
                  </a:txBody>
                  <a:tcPr marL="68580" marR="68580" marT="0" marB="0" anchor="ctr"/>
                </a:tc>
                <a:extLst>
                  <a:ext uri="{0D108BD9-81ED-4DB2-BD59-A6C34878D82A}">
                    <a16:rowId xmlns:a16="http://schemas.microsoft.com/office/drawing/2014/main" val="10004"/>
                  </a:ext>
                </a:extLst>
              </a:tr>
            </a:tbl>
          </a:graphicData>
        </a:graphic>
      </p:graphicFrame>
      <p:sp>
        <p:nvSpPr>
          <p:cNvPr id="3" name="TextBox 2"/>
          <p:cNvSpPr txBox="1"/>
          <p:nvPr/>
        </p:nvSpPr>
        <p:spPr>
          <a:xfrm>
            <a:off x="6829648" y="145579"/>
            <a:ext cx="2088232" cy="369332"/>
          </a:xfrm>
          <a:prstGeom prst="rect">
            <a:avLst/>
          </a:prstGeom>
          <a:noFill/>
        </p:spPr>
        <p:txBody>
          <a:bodyPr vert="horz" wrap="square" rtlCol="0">
            <a:spAutoFit/>
          </a:bodyPr>
          <a:lstStyle/>
          <a:p>
            <a:pPr algn="ctr" fontAlgn="b"/>
            <a:r>
              <a:rPr lang="zh-CN" altLang="en-US" dirty="0">
                <a:solidFill>
                  <a:schemeClr val="tx2">
                    <a:lumMod val="75000"/>
                  </a:schemeClr>
                </a:solidFill>
                <a:latin typeface="微软雅黑" panose="020B0503020204020204" pitchFamily="34" charset="-122"/>
                <a:ea typeface="微软雅黑" panose="020B0503020204020204" pitchFamily="34" charset="-122"/>
              </a:rPr>
              <a:t>实验结果与总结</a:t>
            </a:r>
          </a:p>
        </p:txBody>
      </p:sp>
    </p:spTree>
  </p:cSld>
  <p:clrMapOvr>
    <a:masterClrMapping/>
  </p:clrMapOvr>
  <mc:AlternateContent xmlns:mc="http://schemas.openxmlformats.org/markup-compatibility/2006" xmlns:p14="http://schemas.microsoft.com/office/powerpoint/2010/main">
    <mc:Choice Requires="p14">
      <p:transition spd="slow" p14:dur="1600" advClick="0" advTm="4000">
        <p14:prism isInverted="1"/>
      </p:transition>
    </mc:Choice>
    <mc:Fallback xmlns="">
      <p:transition spd="slow" advClick="0" advTm="400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36"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strVal val="(6*min(max(#ppt_w*#ppt_h,.3),1)-7.4)/-.7*#ppt_w"/>
                                          </p:val>
                                        </p:tav>
                                        <p:tav tm="100000">
                                          <p:val>
                                            <p:strVal val="#ppt_w"/>
                                          </p:val>
                                        </p:tav>
                                      </p:tavLst>
                                    </p:anim>
                                    <p:anim calcmode="lin" valueType="num">
                                      <p:cBhvr>
                                        <p:cTn id="8" dur="500" fill="hold"/>
                                        <p:tgtEl>
                                          <p:spTgt spid="2"/>
                                        </p:tgtEl>
                                        <p:attrNameLst>
                                          <p:attrName>ppt_h</p:attrName>
                                        </p:attrNameLst>
                                      </p:cBhvr>
                                      <p:tavLst>
                                        <p:tav tm="0">
                                          <p:val>
                                            <p:strVal val="(6*min(max(#ppt_w*#ppt_h,.3),1)-7.4)/-.7*#ppt_h"/>
                                          </p:val>
                                        </p:tav>
                                        <p:tav tm="100000">
                                          <p:val>
                                            <p:strVal val="#ppt_h"/>
                                          </p:val>
                                        </p:tav>
                                      </p:tavLst>
                                    </p:anim>
                                    <p:anim calcmode="lin" valueType="num">
                                      <p:cBhvr>
                                        <p:cTn id="9" dur="500" fill="hold"/>
                                        <p:tgtEl>
                                          <p:spTgt spid="2"/>
                                        </p:tgtEl>
                                        <p:attrNameLst>
                                          <p:attrName>ppt_x</p:attrName>
                                        </p:attrNameLst>
                                      </p:cBhvr>
                                      <p:tavLst>
                                        <p:tav tm="0">
                                          <p:val>
                                            <p:fltVal val="0.5"/>
                                          </p:val>
                                        </p:tav>
                                        <p:tav tm="100000">
                                          <p:val>
                                            <p:strVal val="#ppt_x"/>
                                          </p:val>
                                        </p:tav>
                                      </p:tavLst>
                                    </p:anim>
                                    <p:anim calcmode="lin" valueType="num">
                                      <p:cBhvr>
                                        <p:cTn id="10" dur="500" fill="hold"/>
                                        <p:tgtEl>
                                          <p:spTgt spid="2"/>
                                        </p:tgtEl>
                                        <p:attrNameLst>
                                          <p:attrName>ppt_y</p:attrName>
                                        </p:attrNameLst>
                                      </p:cBhvr>
                                      <p:tavLst>
                                        <p:tav tm="0">
                                          <p:val>
                                            <p:strVal val="1+(6*min(max(#ppt_w*#ppt_h,.3),1)-7.4)/-.7*#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剪去对角的矩形 4"/>
          <p:cNvSpPr/>
          <p:nvPr/>
        </p:nvSpPr>
        <p:spPr>
          <a:xfrm flipH="1">
            <a:off x="1115616" y="1993404"/>
            <a:ext cx="6912768" cy="2232248"/>
          </a:xfrm>
          <a:prstGeom prst="snip2DiagRect">
            <a:avLst/>
          </a:prstGeom>
          <a:pattFill prst="pct50">
            <a:fgClr>
              <a:srgbClr val="0070C0"/>
            </a:fgClr>
            <a:bgClr>
              <a:schemeClr val="tx2">
                <a:lumMod val="75000"/>
              </a:schemeClr>
            </a:bgClr>
          </a:patt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lang="zh-CN" altLang="en-US"/>
          </a:p>
        </p:txBody>
      </p:sp>
      <p:sp>
        <p:nvSpPr>
          <p:cNvPr id="3" name="TextBox 2"/>
          <p:cNvSpPr txBox="1"/>
          <p:nvPr/>
        </p:nvSpPr>
        <p:spPr>
          <a:xfrm>
            <a:off x="1425555" y="2107704"/>
            <a:ext cx="6340197" cy="830997"/>
          </a:xfrm>
          <a:prstGeom prst="rect">
            <a:avLst/>
          </a:prstGeom>
          <a:noFill/>
        </p:spPr>
        <p:txBody>
          <a:bodyPr wrap="none" rtlCol="0">
            <a:spAutoFit/>
          </a:bodyPr>
          <a:lstStyle/>
          <a:p>
            <a:r>
              <a:rPr lang="zh-CN" altLang="en-US" sz="4800" b="1" dirty="0">
                <a:solidFill>
                  <a:srgbClr val="FFFF00"/>
                </a:solidFill>
                <a:latin typeface="微软雅黑" panose="020B0503020204020204" pitchFamily="34" charset="-122"/>
                <a:ea typeface="微软雅黑" panose="020B0503020204020204" pitchFamily="34" charset="-122"/>
              </a:rPr>
              <a:t>恳请各位老师批评指正</a:t>
            </a:r>
          </a:p>
        </p:txBody>
      </p:sp>
      <p:sp>
        <p:nvSpPr>
          <p:cNvPr id="4" name="TextBox 3"/>
          <p:cNvSpPr txBox="1"/>
          <p:nvPr/>
        </p:nvSpPr>
        <p:spPr>
          <a:xfrm>
            <a:off x="1763688" y="2956280"/>
            <a:ext cx="5544616" cy="874407"/>
          </a:xfrm>
          <a:prstGeom prst="rect">
            <a:avLst/>
          </a:prstGeom>
          <a:noFill/>
        </p:spPr>
        <p:txBody>
          <a:bodyPr wrap="square" rtlCol="0">
            <a:spAutoFit/>
          </a:bodyPr>
          <a:lstStyle/>
          <a:p>
            <a:pPr indent="457200">
              <a:lnSpc>
                <a:spcPct val="150000"/>
              </a:lnSpc>
            </a:pPr>
            <a:r>
              <a:rPr lang="zh-CN" altLang="en-US" dirty="0">
                <a:solidFill>
                  <a:schemeClr val="bg1"/>
                </a:solidFill>
                <a:latin typeface="微软雅黑" panose="020B0503020204020204" pitchFamily="34" charset="-122"/>
                <a:ea typeface="微软雅黑" panose="020B0503020204020204" pitchFamily="34" charset="-122"/>
              </a:rPr>
              <a:t>感谢导师的悉心指导，感谢实验室同学的帮助与支持，感谢COSMIC项目组提供的数据支持！</a:t>
            </a:r>
          </a:p>
        </p:txBody>
      </p:sp>
      <p:cxnSp>
        <p:nvCxnSpPr>
          <p:cNvPr id="7" name="直接连接符 6"/>
          <p:cNvCxnSpPr/>
          <p:nvPr/>
        </p:nvCxnSpPr>
        <p:spPr>
          <a:xfrm>
            <a:off x="1518948" y="2929508"/>
            <a:ext cx="6153411" cy="0"/>
          </a:xfrm>
          <a:prstGeom prst="line">
            <a:avLst/>
          </a:prstGeom>
          <a:ln>
            <a:solidFill>
              <a:srgbClr val="FFFF00"/>
            </a:solidFill>
            <a:prstDash val="sysDash"/>
          </a:ln>
        </p:spPr>
        <p:style>
          <a:lnRef idx="1">
            <a:schemeClr val="accent1"/>
          </a:lnRef>
          <a:fillRef idx="0">
            <a:schemeClr val="accent1"/>
          </a:fillRef>
          <a:effectRef idx="0">
            <a:schemeClr val="accent1"/>
          </a:effectRef>
          <a:fontRef idx="minor">
            <a:schemeClr val="tx1"/>
          </a:fontRef>
        </p:style>
      </p:cxnSp>
      <p:pic>
        <p:nvPicPr>
          <p:cNvPr id="8" name="图片 7"/>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2607381" y="813172"/>
            <a:ext cx="3857229" cy="857162"/>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ntr" presetSubtype="3"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strips(upRight)">
                                      <p:cBhvr>
                                        <p:cTn id="7" dur="500"/>
                                        <p:tgtEl>
                                          <p:spTgt spid="5"/>
                                        </p:tgtEl>
                                      </p:cBhvr>
                                    </p:animEffect>
                                  </p:childTnLst>
                                </p:cTn>
                              </p:par>
                            </p:childTnLst>
                          </p:cTn>
                        </p:par>
                        <p:par>
                          <p:cTn id="8" fill="hold">
                            <p:stCondLst>
                              <p:cond delay="500"/>
                            </p:stCondLst>
                            <p:childTnLst>
                              <p:par>
                                <p:cTn id="9" presetID="37" presetClass="entr" presetSubtype="0" fill="hold" grpId="0" nodeType="afterEffect">
                                  <p:stCondLst>
                                    <p:cond delay="0"/>
                                  </p:stCondLst>
                                  <p:iterate type="lt">
                                    <p:tmPct val="10000"/>
                                  </p:iterate>
                                  <p:childTnLst>
                                    <p:set>
                                      <p:cBhvr>
                                        <p:cTn id="10" dur="1" fill="hold">
                                          <p:stCondLst>
                                            <p:cond delay="0"/>
                                          </p:stCondLst>
                                        </p:cTn>
                                        <p:tgtEl>
                                          <p:spTgt spid="3"/>
                                        </p:tgtEl>
                                        <p:attrNameLst>
                                          <p:attrName>style.visibility</p:attrName>
                                        </p:attrNameLst>
                                      </p:cBhvr>
                                      <p:to>
                                        <p:strVal val="visible"/>
                                      </p:to>
                                    </p:set>
                                    <p:animEffect transition="in" filter="fade">
                                      <p:cBhvr>
                                        <p:cTn id="11" dur="1000"/>
                                        <p:tgtEl>
                                          <p:spTgt spid="3"/>
                                        </p:tgtEl>
                                      </p:cBhvr>
                                    </p:animEffect>
                                    <p:anim calcmode="lin" valueType="num">
                                      <p:cBhvr>
                                        <p:cTn id="12" dur="1000" fill="hold"/>
                                        <p:tgtEl>
                                          <p:spTgt spid="3"/>
                                        </p:tgtEl>
                                        <p:attrNameLst>
                                          <p:attrName>ppt_x</p:attrName>
                                        </p:attrNameLst>
                                      </p:cBhvr>
                                      <p:tavLst>
                                        <p:tav tm="0">
                                          <p:val>
                                            <p:strVal val="#ppt_x"/>
                                          </p:val>
                                        </p:tav>
                                        <p:tav tm="100000">
                                          <p:val>
                                            <p:strVal val="#ppt_x"/>
                                          </p:val>
                                        </p:tav>
                                      </p:tavLst>
                                    </p:anim>
                                    <p:anim calcmode="lin" valueType="num">
                                      <p:cBhvr>
                                        <p:cTn id="13" dur="900" decel="100000" fill="hold"/>
                                        <p:tgtEl>
                                          <p:spTgt spid="3"/>
                                        </p:tgtEl>
                                        <p:attrNameLst>
                                          <p:attrName>ppt_y</p:attrName>
                                        </p:attrNameLst>
                                      </p:cBhvr>
                                      <p:tavLst>
                                        <p:tav tm="0">
                                          <p:val>
                                            <p:strVal val="#ppt_y+1"/>
                                          </p:val>
                                        </p:tav>
                                        <p:tav tm="100000">
                                          <p:val>
                                            <p:strVal val="#ppt_y-.03"/>
                                          </p:val>
                                        </p:tav>
                                      </p:tavLst>
                                    </p:anim>
                                    <p:anim calcmode="lin" valueType="num">
                                      <p:cBhvr>
                                        <p:cTn id="14" dur="100" accel="100000" fill="hold">
                                          <p:stCondLst>
                                            <p:cond delay="900"/>
                                          </p:stCondLst>
                                        </p:cTn>
                                        <p:tgtEl>
                                          <p:spTgt spid="3"/>
                                        </p:tgtEl>
                                        <p:attrNameLst>
                                          <p:attrName>ppt_y</p:attrName>
                                        </p:attrNameLst>
                                      </p:cBhvr>
                                      <p:tavLst>
                                        <p:tav tm="0">
                                          <p:val>
                                            <p:strVal val="#ppt_y-.03"/>
                                          </p:val>
                                        </p:tav>
                                        <p:tav tm="100000">
                                          <p:val>
                                            <p:strVal val="#ppt_y"/>
                                          </p:val>
                                        </p:tav>
                                      </p:tavLst>
                                    </p:anim>
                                  </p:childTnLst>
                                </p:cTn>
                              </p:par>
                            </p:childTnLst>
                          </p:cTn>
                        </p:par>
                        <p:par>
                          <p:cTn id="15" fill="hold">
                            <p:stCondLst>
                              <p:cond delay="2400"/>
                            </p:stCondLst>
                            <p:childTnLst>
                              <p:par>
                                <p:cTn id="16" presetID="22" presetClass="entr" presetSubtype="2" fill="hold" nodeType="after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wipe(right)">
                                      <p:cBhvr>
                                        <p:cTn id="18" dur="500"/>
                                        <p:tgtEl>
                                          <p:spTgt spid="7"/>
                                        </p:tgtEl>
                                      </p:cBhvr>
                                    </p:animEffect>
                                  </p:childTnLst>
                                </p:cTn>
                              </p:par>
                            </p:childTnLst>
                          </p:cTn>
                        </p:par>
                        <p:par>
                          <p:cTn id="19" fill="hold">
                            <p:stCondLst>
                              <p:cond delay="2900"/>
                            </p:stCondLst>
                            <p:childTnLst>
                              <p:par>
                                <p:cTn id="20" presetID="14" presetClass="entr" presetSubtype="10" fill="hold" grpId="0" nodeType="after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randombar(horizontal)">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3" grpId="0"/>
      <p:bldP spid="4" grpId="0"/>
    </p:bldLst>
  </p:timing>
</p:sld>
</file>

<file path=ppt/theme/theme1.xml><?xml version="1.0" encoding="utf-8"?>
<a:theme xmlns:a="http://schemas.openxmlformats.org/drawingml/2006/main" name="1">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1535</Words>
  <Application>Microsoft Office PowerPoint</Application>
  <PresentationFormat>全屏显示(16:10)</PresentationFormat>
  <Paragraphs>241</Paragraphs>
  <Slides>27</Slides>
  <Notes>27</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27</vt:i4>
      </vt:variant>
    </vt:vector>
  </HeadingPairs>
  <TitlesOfParts>
    <vt:vector size="40" baseType="lpstr">
      <vt:lpstr>Goudy Stout</vt:lpstr>
      <vt:lpstr>Stencil</vt:lpstr>
      <vt:lpstr>微软雅黑</vt:lpstr>
      <vt:lpstr>Arial</vt:lpstr>
      <vt:lpstr>Arial Black</vt:lpstr>
      <vt:lpstr>Arial Narrow</vt:lpstr>
      <vt:lpstr>Calibri</vt:lpstr>
      <vt:lpstr>Impact</vt:lpstr>
      <vt:lpstr>Segoe UI</vt:lpstr>
      <vt:lpstr>Segoe UI Light</vt:lpstr>
      <vt:lpstr>Wingdings</vt:lpstr>
      <vt:lpstr>1</vt:lpstr>
      <vt:lpstr>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dc:title>
  <dc:subject>1</dc:subject>
  <dc:creator>1; PC</dc:creator>
  <dc:description>1</dc:description>
  <cp:lastModifiedBy>1106786918@qq.com</cp:lastModifiedBy>
  <cp:revision>7</cp:revision>
  <dcterms:created xsi:type="dcterms:W3CDTF">2014-05-25T02:24:00Z</dcterms:created>
  <dcterms:modified xsi:type="dcterms:W3CDTF">2020-03-29T04:11:13Z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2052-10.1.0.6490</vt:lpwstr>
  </property>
</Properties>
</file>