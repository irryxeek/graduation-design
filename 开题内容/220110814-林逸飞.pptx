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83" r:id="rId12"/>
    <p:sldId id="284" r:id="rId13"/>
    <p:sldId id="266" r:id="rId14"/>
    <p:sldId id="267" r:id="rId15"/>
    <p:sldId id="289" r:id="rId16"/>
    <p:sldId id="285" r:id="rId17"/>
    <p:sldId id="287" r:id="rId18"/>
    <p:sldId id="288" r:id="rId19"/>
    <p:sldId id="291" r:id="rId20"/>
    <p:sldId id="286" r:id="rId21"/>
    <p:sldId id="271" r:id="rId22"/>
    <p:sldId id="273" r:id="rId23"/>
    <p:sldId id="281" r:id="rId24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9" autoAdjust="0"/>
    <p:restoredTop sz="94660"/>
  </p:normalViewPr>
  <p:slideViewPr>
    <p:cSldViewPr showGuides="1">
      <p:cViewPr varScale="1">
        <p:scale>
          <a:sx n="108" d="100"/>
          <a:sy n="108" d="100"/>
        </p:scale>
        <p:origin x="438" y="54"/>
      </p:cViewPr>
      <p:guideLst>
        <p:guide orient="horz" pos="1800"/>
        <p:guide pos="287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139DD-5AAC-4F7F-9C50-1FB92AB9F9B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亮亮图文旗舰店</a:t>
            </a:r>
            <a:endParaRPr lang="zh-CN" altLang="en-US" dirty="0"/>
          </a:p>
          <a:p>
            <a:r>
              <a:rPr lang="en-US" altLang="zh-CN" dirty="0"/>
              <a:t>https://liangliangtuwen.tmall.com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BB1522-D8B8-4EE2-937D-B0D68622BD2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111250"/>
            <a:ext cx="4038600" cy="31432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11250"/>
            <a:ext cx="4038600" cy="314325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40640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4064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24BAB4B0-0DFB-4408-B496-45B60D2270C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/>
          <a:lstStyle/>
          <a:p>
            <a:fld id="{4BB7B66E-7FFA-4300-8439-347A5E0E25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PC\Desktop\3.jp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矩形 6"/>
          <p:cNvSpPr/>
          <p:nvPr userDrawn="1"/>
        </p:nvSpPr>
        <p:spPr>
          <a:xfrm>
            <a:off x="1907704" y="510989"/>
            <a:ext cx="7236296" cy="21328"/>
          </a:xfrm>
          <a:prstGeom prst="rect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5377780"/>
            <a:ext cx="9144000" cy="337220"/>
          </a:xfrm>
          <a:prstGeom prst="rect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31627" y="5409529"/>
            <a:ext cx="2217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r>
              <a:rPr lang="zh-CN" altLang="en-US" sz="12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在此输入论文题目 </a:t>
            </a:r>
            <a:r>
              <a:rPr lang="en-US" altLang="zh-CN" sz="1200" b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 </a:t>
            </a:r>
            <a:endParaRPr lang="zh-CN" altLang="en-US" sz="1200" b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0" y="510989"/>
            <a:ext cx="734669" cy="21328"/>
          </a:xfrm>
          <a:prstGeom prst="rect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304"/>
            <a:ext cx="943250" cy="8640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PC\Desktop\3.jp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jpeg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image" Target="../media/image16.jpeg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image" Target="../media/image15.jpeg"/><Relationship Id="rId2" Type="http://schemas.openxmlformats.org/officeDocument/2006/relationships/tags" Target="../tags/tag10.xml"/><Relationship Id="rId15" Type="http://schemas.openxmlformats.org/officeDocument/2006/relationships/notesSlide" Target="../notesSlides/notesSlide19.xml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6.png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849388"/>
            <a:ext cx="9144001" cy="2506712"/>
          </a:xfrm>
          <a:prstGeom prst="rect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3131820" y="2537460"/>
            <a:ext cx="56711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基于掩星数据的气象要素反演系统设计与实现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12973" y="3682621"/>
            <a:ext cx="458343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计算机科学与技术专业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班   学号：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220110814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44858" y="4459454"/>
            <a:ext cx="308800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姓名：林逸飞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指导老师：李旭涛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536" y="1659557"/>
            <a:ext cx="1107587" cy="734189"/>
          </a:xfrm>
          <a:prstGeom prst="round2DiagRect">
            <a:avLst>
              <a:gd name="adj1" fmla="val 16667"/>
              <a:gd name="adj2" fmla="val 0"/>
            </a:avLst>
          </a:prstGeom>
          <a:ln w="25400" cap="sq">
            <a:solidFill>
              <a:srgbClr val="0070C0"/>
            </a:solidFill>
            <a:miter lim="800000"/>
            <a:headEnd/>
            <a:tailEnd/>
          </a:ln>
          <a:effectLst/>
        </p:spPr>
      </p:pic>
      <p:sp>
        <p:nvSpPr>
          <p:cNvPr id="11" name="对角圆角矩形 10"/>
          <p:cNvSpPr/>
          <p:nvPr/>
        </p:nvSpPr>
        <p:spPr>
          <a:xfrm>
            <a:off x="1019659" y="1119949"/>
            <a:ext cx="609538" cy="425314"/>
          </a:xfrm>
          <a:prstGeom prst="round2DiagRect">
            <a:avLst/>
          </a:prstGeom>
          <a:solidFill>
            <a:schemeClr val="bg1">
              <a:lumMod val="85000"/>
              <a:alpha val="46000"/>
            </a:schemeClr>
          </a:solidFill>
          <a:ln w="2540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2" name="对角圆角矩形 11"/>
          <p:cNvSpPr/>
          <p:nvPr/>
        </p:nvSpPr>
        <p:spPr>
          <a:xfrm>
            <a:off x="2199739" y="2636823"/>
            <a:ext cx="375087" cy="261722"/>
          </a:xfrm>
          <a:prstGeom prst="round2DiagRect">
            <a:avLst/>
          </a:prstGeom>
          <a:solidFill>
            <a:schemeClr val="bg1">
              <a:alpha val="38000"/>
            </a:schemeClr>
          </a:solidFill>
          <a:ln w="2540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sp>
        <p:nvSpPr>
          <p:cNvPr id="13" name="对角圆角矩形 12"/>
          <p:cNvSpPr/>
          <p:nvPr/>
        </p:nvSpPr>
        <p:spPr>
          <a:xfrm>
            <a:off x="1130259" y="2491354"/>
            <a:ext cx="957263" cy="667943"/>
          </a:xfrm>
          <a:prstGeom prst="round2DiagRect">
            <a:avLst/>
          </a:prstGeom>
          <a:solidFill>
            <a:schemeClr val="bg1">
              <a:alpha val="53000"/>
            </a:schemeClr>
          </a:solidFill>
          <a:ln w="2540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pitchFamily="34" charset="-122"/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16751" y="984869"/>
            <a:ext cx="2145907" cy="1552849"/>
          </a:xfrm>
          <a:prstGeom prst="round2DiagRect">
            <a:avLst>
              <a:gd name="adj1" fmla="val 16667"/>
              <a:gd name="adj2" fmla="val 0"/>
            </a:avLst>
          </a:prstGeom>
          <a:ln w="25400" cap="sq">
            <a:solidFill>
              <a:srgbClr val="0070C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3258" y="488170"/>
            <a:ext cx="3857229" cy="8571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 advClick="0" advTm="12000">
        <p14:doors dir="vert"/>
      </p:transition>
    </mc:Choice>
    <mc:Fallback>
      <p:transition spd="slow" advClick="0" advTm="1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9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4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4600"/>
                            </p:stCondLst>
                            <p:childTnLst>
                              <p:par>
                                <p:cTn id="2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7" grpId="0"/>
      <p:bldP spid="8" grpId="0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61381" y="1273324"/>
            <a:ext cx="677108" cy="132343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2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目录页</a:t>
            </a:r>
            <a:endParaRPr lang="zh-CN" altLang="en-US" sz="32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166481" y="1339602"/>
            <a:ext cx="0" cy="324036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2274493" y="1339602"/>
            <a:ext cx="5400600" cy="32403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7783105" y="1339602"/>
            <a:ext cx="0" cy="3240360"/>
          </a:xfrm>
          <a:prstGeom prst="line">
            <a:avLst/>
          </a:prstGeom>
          <a:ln w="190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467544" y="2512318"/>
            <a:ext cx="16938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1">
                    <a:lumMod val="85000"/>
                  </a:schemeClr>
                </a:solidFill>
                <a:latin typeface="Stencil" panose="040409050D0802020404" pitchFamily="82" charset="0"/>
              </a:rPr>
              <a:t>contents</a:t>
            </a:r>
            <a:endParaRPr lang="zh-CN" altLang="en-US" sz="2400" dirty="0">
              <a:solidFill>
                <a:schemeClr val="bg1">
                  <a:lumMod val="85000"/>
                </a:schemeClr>
              </a:solidFill>
              <a:latin typeface="Stencil" panose="040409050D0802020404" pitchFamily="82" charset="0"/>
            </a:endParaRPr>
          </a:p>
        </p:txBody>
      </p:sp>
      <p:sp>
        <p:nvSpPr>
          <p:cNvPr id="12" name="TextBox 11"/>
          <p:cNvSpPr txBox="1"/>
          <p:nvPr>
            <p:custDataLst>
              <p:tags r:id="rId1"/>
            </p:custDataLst>
          </p:nvPr>
        </p:nvSpPr>
        <p:spPr>
          <a:xfrm>
            <a:off x="3721621" y="1670168"/>
            <a:ext cx="2794595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fontAlgn="b"/>
            <a:r>
              <a:rPr lang="zh-CN" altLang="zh-CN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及意义</a:t>
            </a:r>
            <a:endParaRPr lang="zh-CN" altLang="zh-CN" sz="28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泪滴形 12"/>
          <p:cNvSpPr/>
          <p:nvPr>
            <p:custDataLst>
              <p:tags r:id="rId2"/>
            </p:custDataLst>
          </p:nvPr>
        </p:nvSpPr>
        <p:spPr>
          <a:xfrm>
            <a:off x="2866101" y="1719103"/>
            <a:ext cx="486905" cy="486905"/>
          </a:xfrm>
          <a:prstGeom prst="teardrop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泪滴形 13"/>
          <p:cNvSpPr/>
          <p:nvPr>
            <p:custDataLst>
              <p:tags r:id="rId3"/>
            </p:custDataLst>
          </p:nvPr>
        </p:nvSpPr>
        <p:spPr>
          <a:xfrm>
            <a:off x="2866101" y="2376006"/>
            <a:ext cx="486905" cy="486905"/>
          </a:xfrm>
          <a:prstGeom prst="teardrop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泪滴形 14"/>
          <p:cNvSpPr/>
          <p:nvPr>
            <p:custDataLst>
              <p:tags r:id="rId4"/>
            </p:custDataLst>
          </p:nvPr>
        </p:nvSpPr>
        <p:spPr>
          <a:xfrm>
            <a:off x="2866101" y="3032909"/>
            <a:ext cx="486905" cy="486905"/>
          </a:xfrm>
          <a:prstGeom prst="teardrop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泪滴形 15"/>
          <p:cNvSpPr/>
          <p:nvPr>
            <p:custDataLst>
              <p:tags r:id="rId5"/>
            </p:custDataLst>
          </p:nvPr>
        </p:nvSpPr>
        <p:spPr>
          <a:xfrm>
            <a:off x="2866101" y="3689812"/>
            <a:ext cx="486905" cy="486905"/>
          </a:xfrm>
          <a:prstGeom prst="teardrop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6"/>
            </p:custDataLst>
          </p:nvPr>
        </p:nvSpPr>
        <p:spPr>
          <a:xfrm>
            <a:off x="3721621" y="3640877"/>
            <a:ext cx="2160240" cy="5219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fontAlgn="b"/>
            <a:r>
              <a:rPr lang="zh-CN" altLang="zh-CN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</a:t>
            </a:r>
            <a:endParaRPr lang="zh-CN" altLang="zh-CN" sz="28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>
            <p:custDataLst>
              <p:tags r:id="rId7"/>
            </p:custDataLst>
          </p:nvPr>
        </p:nvSpPr>
        <p:spPr>
          <a:xfrm>
            <a:off x="3721621" y="2327071"/>
            <a:ext cx="2160240" cy="52197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fontAlgn="b"/>
            <a:r>
              <a:rPr lang="zh-CN" altLang="zh-CN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  <a:endParaRPr lang="zh-CN" altLang="zh-CN" sz="2800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8"/>
            </p:custDataLst>
          </p:nvPr>
        </p:nvSpPr>
        <p:spPr>
          <a:xfrm>
            <a:off x="3721621" y="2983974"/>
            <a:ext cx="3456384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fontAlgn="b"/>
            <a:r>
              <a:rPr lang="zh-CN" altLang="en-US" sz="28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研究方法及过程</a:t>
            </a:r>
            <a:endParaRPr lang="zh-CN" altLang="zh-CN" sz="28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5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75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5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75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 animBg="1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/>
      <p:bldP spid="18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627784" y="2067570"/>
            <a:ext cx="5275634" cy="923330"/>
          </a:xfrm>
          <a:prstGeom prst="rect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2740050" y="2118370"/>
            <a:ext cx="505961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选题背景及意义</a:t>
            </a:r>
            <a:endParaRPr lang="zh-CN" altLang="zh-CN" sz="48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泪滴形 4"/>
          <p:cNvSpPr/>
          <p:nvPr/>
        </p:nvSpPr>
        <p:spPr>
          <a:xfrm>
            <a:off x="1475656" y="2067570"/>
            <a:ext cx="1043726" cy="1043726"/>
          </a:xfrm>
          <a:prstGeom prst="teardrop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6000" dirty="0"/>
              <a:t>1</a:t>
            </a:r>
            <a:endParaRPr lang="zh-CN" altLang="en-US" sz="6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3000">
        <p14:prism/>
      </p:transition>
    </mc:Choice>
    <mc:Fallback>
      <p:transition spd="slow" advClick="0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29648" y="145579"/>
            <a:ext cx="2088232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及意义</a:t>
            </a:r>
            <a:endParaRPr lang="zh-CN" altLang="zh-CN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Freeform 1075"/>
          <p:cNvSpPr/>
          <p:nvPr/>
        </p:nvSpPr>
        <p:spPr bwMode="auto">
          <a:xfrm>
            <a:off x="1297378" y="1056127"/>
            <a:ext cx="2101410" cy="1436792"/>
          </a:xfrm>
          <a:custGeom>
            <a:avLst/>
            <a:gdLst/>
            <a:ahLst/>
            <a:cxnLst>
              <a:cxn ang="0">
                <a:pos x="1524" y="1020"/>
              </a:cxn>
              <a:cxn ang="0">
                <a:pos x="1524" y="1032"/>
              </a:cxn>
              <a:cxn ang="0">
                <a:pos x="1524" y="1032"/>
              </a:cxn>
              <a:cxn ang="0">
                <a:pos x="1524" y="1036"/>
              </a:cxn>
              <a:cxn ang="0">
                <a:pos x="1522" y="1040"/>
              </a:cxn>
              <a:cxn ang="0">
                <a:pos x="1518" y="1042"/>
              </a:cxn>
              <a:cxn ang="0">
                <a:pos x="1514" y="1042"/>
              </a:cxn>
              <a:cxn ang="0">
                <a:pos x="8" y="1042"/>
              </a:cxn>
              <a:cxn ang="0">
                <a:pos x="8" y="1042"/>
              </a:cxn>
              <a:cxn ang="0">
                <a:pos x="6" y="1042"/>
              </a:cxn>
              <a:cxn ang="0">
                <a:pos x="2" y="1040"/>
              </a:cxn>
              <a:cxn ang="0">
                <a:pos x="0" y="1036"/>
              </a:cxn>
              <a:cxn ang="0">
                <a:pos x="0" y="1032"/>
              </a:cxn>
              <a:cxn ang="0">
                <a:pos x="0" y="1020"/>
              </a:cxn>
              <a:cxn ang="0">
                <a:pos x="0" y="10"/>
              </a:cxn>
              <a:cxn ang="0">
                <a:pos x="0" y="10"/>
              </a:cxn>
              <a:cxn ang="0">
                <a:pos x="0" y="10"/>
              </a:cxn>
              <a:cxn ang="0">
                <a:pos x="0" y="6"/>
              </a:cxn>
              <a:cxn ang="0">
                <a:pos x="2" y="4"/>
              </a:cxn>
              <a:cxn ang="0">
                <a:pos x="2" y="4"/>
              </a:cxn>
              <a:cxn ang="0">
                <a:pos x="4" y="0"/>
              </a:cxn>
              <a:cxn ang="0">
                <a:pos x="8" y="0"/>
              </a:cxn>
              <a:cxn ang="0">
                <a:pos x="1514" y="0"/>
              </a:cxn>
              <a:cxn ang="0">
                <a:pos x="1514" y="0"/>
              </a:cxn>
              <a:cxn ang="0">
                <a:pos x="1518" y="0"/>
              </a:cxn>
              <a:cxn ang="0">
                <a:pos x="1522" y="4"/>
              </a:cxn>
              <a:cxn ang="0">
                <a:pos x="1522" y="4"/>
              </a:cxn>
              <a:cxn ang="0">
                <a:pos x="1524" y="6"/>
              </a:cxn>
              <a:cxn ang="0">
                <a:pos x="1524" y="10"/>
              </a:cxn>
              <a:cxn ang="0">
                <a:pos x="1524" y="10"/>
              </a:cxn>
              <a:cxn ang="0">
                <a:pos x="1524" y="1020"/>
              </a:cxn>
            </a:cxnLst>
            <a:rect l="0" t="0" r="r" b="b"/>
            <a:pathLst>
              <a:path w="1524" h="1042">
                <a:moveTo>
                  <a:pt x="1524" y="1020"/>
                </a:moveTo>
                <a:lnTo>
                  <a:pt x="1524" y="1032"/>
                </a:lnTo>
                <a:lnTo>
                  <a:pt x="1524" y="1032"/>
                </a:lnTo>
                <a:lnTo>
                  <a:pt x="1524" y="1036"/>
                </a:lnTo>
                <a:lnTo>
                  <a:pt x="1522" y="1040"/>
                </a:lnTo>
                <a:lnTo>
                  <a:pt x="1518" y="1042"/>
                </a:lnTo>
                <a:lnTo>
                  <a:pt x="1514" y="1042"/>
                </a:lnTo>
                <a:lnTo>
                  <a:pt x="8" y="1042"/>
                </a:lnTo>
                <a:lnTo>
                  <a:pt x="8" y="1042"/>
                </a:lnTo>
                <a:lnTo>
                  <a:pt x="6" y="1042"/>
                </a:lnTo>
                <a:lnTo>
                  <a:pt x="2" y="1040"/>
                </a:lnTo>
                <a:lnTo>
                  <a:pt x="0" y="1036"/>
                </a:lnTo>
                <a:lnTo>
                  <a:pt x="0" y="1032"/>
                </a:lnTo>
                <a:lnTo>
                  <a:pt x="0" y="1020"/>
                </a:lnTo>
                <a:lnTo>
                  <a:pt x="0" y="10"/>
                </a:lnTo>
                <a:lnTo>
                  <a:pt x="0" y="10"/>
                </a:lnTo>
                <a:lnTo>
                  <a:pt x="0" y="10"/>
                </a:lnTo>
                <a:lnTo>
                  <a:pt x="0" y="6"/>
                </a:lnTo>
                <a:lnTo>
                  <a:pt x="2" y="4"/>
                </a:lnTo>
                <a:lnTo>
                  <a:pt x="2" y="4"/>
                </a:lnTo>
                <a:lnTo>
                  <a:pt x="4" y="0"/>
                </a:lnTo>
                <a:lnTo>
                  <a:pt x="8" y="0"/>
                </a:lnTo>
                <a:lnTo>
                  <a:pt x="1514" y="0"/>
                </a:lnTo>
                <a:lnTo>
                  <a:pt x="1514" y="0"/>
                </a:lnTo>
                <a:lnTo>
                  <a:pt x="1518" y="0"/>
                </a:lnTo>
                <a:lnTo>
                  <a:pt x="1522" y="4"/>
                </a:lnTo>
                <a:lnTo>
                  <a:pt x="1522" y="4"/>
                </a:lnTo>
                <a:lnTo>
                  <a:pt x="1524" y="6"/>
                </a:lnTo>
                <a:lnTo>
                  <a:pt x="1524" y="10"/>
                </a:lnTo>
                <a:lnTo>
                  <a:pt x="1524" y="10"/>
                </a:lnTo>
                <a:lnTo>
                  <a:pt x="1524" y="1020"/>
                </a:lnTo>
                <a:close/>
              </a:path>
            </a:pathLst>
          </a:cu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round/>
          </a:ln>
        </p:spPr>
        <p:txBody>
          <a:bodyPr/>
          <a:lstStyle/>
          <a:p>
            <a:pPr defTabSz="457200">
              <a:defRPr/>
            </a:pPr>
            <a:endParaRPr lang="da-DK">
              <a:ea typeface="MS PGothic" panose="020B0600070205080204" pitchFamily="-97" charset="-128"/>
            </a:endParaRPr>
          </a:p>
        </p:txBody>
      </p:sp>
      <p:pic>
        <p:nvPicPr>
          <p:cNvPr id="8" name="Gruppe 122"/>
          <p:cNvPicPr>
            <a:picLocks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0" t="17080" r="8483" b="19104"/>
          <a:stretch>
            <a:fillRect/>
          </a:stretch>
        </p:blipFill>
        <p:spPr bwMode="auto">
          <a:xfrm>
            <a:off x="5737813" y="1056127"/>
            <a:ext cx="2216124" cy="144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Gruppe 122"/>
          <p:cNvPicPr>
            <a:picLocks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8" t="15379" r="8085" b="19565"/>
          <a:stretch>
            <a:fillRect/>
          </a:stretch>
        </p:blipFill>
        <p:spPr bwMode="auto">
          <a:xfrm>
            <a:off x="3491880" y="1056159"/>
            <a:ext cx="2179258" cy="143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10"/>
          <p:cNvCxnSpPr/>
          <p:nvPr/>
        </p:nvCxnSpPr>
        <p:spPr>
          <a:xfrm>
            <a:off x="1297378" y="2559943"/>
            <a:ext cx="6656559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31895" y="2636143"/>
            <a:ext cx="1305289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endParaRPr lang="zh-CN" altLang="zh-CN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7624" y="3000375"/>
            <a:ext cx="6912768" cy="181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传统大气探测技术存在局限性：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探空气球、地基雷达等传统技术在海洋、极地等广阔区域存在观测盲区，时空分辨率有限。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新技术：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掩星探测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作为一种新型全球遥感技术，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掩星具备全天候、高精度、高垂直分辨率的优势，能有效弥补传统手段的不足。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-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我国的风云三号（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FY-3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）等卫星已搭载相关设备，积累了海量观测数据。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p:transition spd="slow" advClick="0" advTm="400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2"/>
          <p:cNvSpPr/>
          <p:nvPr/>
        </p:nvSpPr>
        <p:spPr>
          <a:xfrm>
            <a:off x="1331595" y="1417320"/>
            <a:ext cx="6384290" cy="3435350"/>
          </a:xfrm>
          <a:prstGeom prst="rect">
            <a:avLst/>
          </a:prstGeom>
          <a:effectLst/>
        </p:spPr>
        <p:txBody>
          <a:bodyPr wrap="square" lIns="68586" tIns="34294" rIns="68586" bIns="34294">
            <a:noAutofit/>
          </a:bodyPr>
          <a:lstStyle/>
          <a:p>
            <a:pPr algn="l"/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通过新型深度学习技术，设计并实现一个创新的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端到端物理约束反演模型。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构建一个集数据处理、模型反演、结果评估与可视化于一体的集成系统。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提供对反演结果精度、分辨率的分析指标，以量化系统的性能与可靠性。</a:t>
            </a:r>
            <a:endParaRPr lang="zh-CN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62033" y="820068"/>
            <a:ext cx="1467068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研究的意义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29648" y="145579"/>
            <a:ext cx="2088232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zh-CN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选题背景</a:t>
            </a: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及意义</a:t>
            </a:r>
            <a:endParaRPr lang="zh-CN" altLang="zh-CN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p:transition spd="slow" advClick="0" advTm="4000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27784" y="2067570"/>
            <a:ext cx="5275634" cy="923330"/>
          </a:xfrm>
          <a:prstGeom prst="rect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3369176" y="2118370"/>
            <a:ext cx="3801359" cy="8299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泪滴形 5"/>
          <p:cNvSpPr/>
          <p:nvPr/>
        </p:nvSpPr>
        <p:spPr>
          <a:xfrm>
            <a:off x="1475656" y="2067570"/>
            <a:ext cx="1043726" cy="1043726"/>
          </a:xfrm>
          <a:prstGeom prst="teardrop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6000" dirty="0"/>
              <a:t>2</a:t>
            </a:r>
            <a:endParaRPr lang="zh-CN" altLang="en-US" sz="6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4000">
        <p14:prism dir="r"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332440" y="1966498"/>
            <a:ext cx="17901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1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在此录入文字内容</a:t>
            </a:r>
            <a:endParaRPr lang="zh-CN" altLang="en-US" sz="1600" b="1" dirty="0">
              <a:solidFill>
                <a:schemeClr val="bg1">
                  <a:alpha val="9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1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在此录入文字内容</a:t>
            </a:r>
            <a:endParaRPr lang="zh-CN" altLang="en-US" sz="1600" b="1" dirty="0">
              <a:solidFill>
                <a:schemeClr val="bg1">
                  <a:alpha val="9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39298" y="1966498"/>
            <a:ext cx="1639713" cy="49212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1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在此录入文字内容</a:t>
            </a:r>
            <a:endParaRPr lang="zh-CN" altLang="en-US" sz="1600" b="1" dirty="0">
              <a:solidFill>
                <a:schemeClr val="bg1">
                  <a:alpha val="9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1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在此录入文内容</a:t>
            </a:r>
            <a:endParaRPr lang="zh-CN" altLang="en-US" sz="1600" b="1" dirty="0">
              <a:solidFill>
                <a:schemeClr val="bg1">
                  <a:alpha val="9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046875" y="1715351"/>
            <a:ext cx="2372171" cy="2208761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51458" tIns="25729" rIns="51458" bIns="25729" numCol="1" rtlCol="0" anchor="t" anchorCtr="0" compatLnSpc="1"/>
          <a:lstStyle/>
          <a:p>
            <a:pPr defTabSz="514350">
              <a:defRPr/>
            </a:pPr>
            <a:endParaRPr lang="en-US" altLang="zh-CN" sz="800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 Light" panose="020B0502040204020203" pitchFamily="34" charset="0"/>
              <a:ea typeface="+mn-ea"/>
            </a:endParaRPr>
          </a:p>
          <a:p>
            <a:pPr defTabSz="514350">
              <a:defRPr/>
            </a:pPr>
            <a:endParaRPr lang="en-US" altLang="zh-CN" sz="800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 Light" panose="020B0502040204020203" pitchFamily="34" charset="0"/>
              <a:ea typeface="+mn-ea"/>
            </a:endParaRPr>
          </a:p>
          <a:p>
            <a:pPr defTabSz="514350">
              <a:defRPr/>
            </a:pPr>
            <a:endParaRPr lang="en-US" altLang="zh-CN" sz="800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 Light" panose="020B0502040204020203" pitchFamily="34" charset="0"/>
              <a:ea typeface="+mn-ea"/>
            </a:endParaRPr>
          </a:p>
          <a:p>
            <a:pPr defTabSz="514350">
              <a:defRPr/>
            </a:pPr>
            <a:endParaRPr lang="en-US" altLang="zh-CN" sz="800" kern="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 Light" panose="020B0502040204020203" pitchFamily="34" charset="0"/>
              <a:ea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85595" y="1993265"/>
            <a:ext cx="1525905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1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国际现状</a:t>
            </a:r>
            <a:endParaRPr lang="zh-CN" altLang="en-US" sz="2400" b="1" dirty="0">
              <a:solidFill>
                <a:schemeClr val="bg1">
                  <a:alpha val="9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Freeform 1075"/>
          <p:cNvSpPr>
            <a:spLocks noChangeAspect="1"/>
          </p:cNvSpPr>
          <p:nvPr/>
        </p:nvSpPr>
        <p:spPr bwMode="auto">
          <a:xfrm>
            <a:off x="1306441" y="2497713"/>
            <a:ext cx="1853369" cy="1267200"/>
          </a:xfrm>
          <a:custGeom>
            <a:avLst/>
            <a:gdLst/>
            <a:ahLst/>
            <a:cxnLst>
              <a:cxn ang="0">
                <a:pos x="1524" y="1020"/>
              </a:cxn>
              <a:cxn ang="0">
                <a:pos x="1524" y="1032"/>
              </a:cxn>
              <a:cxn ang="0">
                <a:pos x="1524" y="1032"/>
              </a:cxn>
              <a:cxn ang="0">
                <a:pos x="1524" y="1036"/>
              </a:cxn>
              <a:cxn ang="0">
                <a:pos x="1522" y="1040"/>
              </a:cxn>
              <a:cxn ang="0">
                <a:pos x="1518" y="1042"/>
              </a:cxn>
              <a:cxn ang="0">
                <a:pos x="1514" y="1042"/>
              </a:cxn>
              <a:cxn ang="0">
                <a:pos x="8" y="1042"/>
              </a:cxn>
              <a:cxn ang="0">
                <a:pos x="8" y="1042"/>
              </a:cxn>
              <a:cxn ang="0">
                <a:pos x="6" y="1042"/>
              </a:cxn>
              <a:cxn ang="0">
                <a:pos x="2" y="1040"/>
              </a:cxn>
              <a:cxn ang="0">
                <a:pos x="0" y="1036"/>
              </a:cxn>
              <a:cxn ang="0">
                <a:pos x="0" y="1032"/>
              </a:cxn>
              <a:cxn ang="0">
                <a:pos x="0" y="1020"/>
              </a:cxn>
              <a:cxn ang="0">
                <a:pos x="0" y="10"/>
              </a:cxn>
              <a:cxn ang="0">
                <a:pos x="0" y="10"/>
              </a:cxn>
              <a:cxn ang="0">
                <a:pos x="0" y="10"/>
              </a:cxn>
              <a:cxn ang="0">
                <a:pos x="0" y="6"/>
              </a:cxn>
              <a:cxn ang="0">
                <a:pos x="2" y="4"/>
              </a:cxn>
              <a:cxn ang="0">
                <a:pos x="2" y="4"/>
              </a:cxn>
              <a:cxn ang="0">
                <a:pos x="4" y="0"/>
              </a:cxn>
              <a:cxn ang="0">
                <a:pos x="8" y="0"/>
              </a:cxn>
              <a:cxn ang="0">
                <a:pos x="1514" y="0"/>
              </a:cxn>
              <a:cxn ang="0">
                <a:pos x="1514" y="0"/>
              </a:cxn>
              <a:cxn ang="0">
                <a:pos x="1518" y="0"/>
              </a:cxn>
              <a:cxn ang="0">
                <a:pos x="1522" y="4"/>
              </a:cxn>
              <a:cxn ang="0">
                <a:pos x="1522" y="4"/>
              </a:cxn>
              <a:cxn ang="0">
                <a:pos x="1524" y="6"/>
              </a:cxn>
              <a:cxn ang="0">
                <a:pos x="1524" y="10"/>
              </a:cxn>
              <a:cxn ang="0">
                <a:pos x="1524" y="10"/>
              </a:cxn>
              <a:cxn ang="0">
                <a:pos x="1524" y="1020"/>
              </a:cxn>
            </a:cxnLst>
            <a:rect l="0" t="0" r="r" b="b"/>
            <a:pathLst>
              <a:path w="1524" h="1042">
                <a:moveTo>
                  <a:pt x="1524" y="1020"/>
                </a:moveTo>
                <a:lnTo>
                  <a:pt x="1524" y="1032"/>
                </a:lnTo>
                <a:lnTo>
                  <a:pt x="1524" y="1032"/>
                </a:lnTo>
                <a:lnTo>
                  <a:pt x="1524" y="1036"/>
                </a:lnTo>
                <a:lnTo>
                  <a:pt x="1522" y="1040"/>
                </a:lnTo>
                <a:lnTo>
                  <a:pt x="1518" y="1042"/>
                </a:lnTo>
                <a:lnTo>
                  <a:pt x="1514" y="1042"/>
                </a:lnTo>
                <a:lnTo>
                  <a:pt x="8" y="1042"/>
                </a:lnTo>
                <a:lnTo>
                  <a:pt x="8" y="1042"/>
                </a:lnTo>
                <a:lnTo>
                  <a:pt x="6" y="1042"/>
                </a:lnTo>
                <a:lnTo>
                  <a:pt x="2" y="1040"/>
                </a:lnTo>
                <a:lnTo>
                  <a:pt x="0" y="1036"/>
                </a:lnTo>
                <a:lnTo>
                  <a:pt x="0" y="1032"/>
                </a:lnTo>
                <a:lnTo>
                  <a:pt x="0" y="1020"/>
                </a:lnTo>
                <a:lnTo>
                  <a:pt x="0" y="10"/>
                </a:lnTo>
                <a:lnTo>
                  <a:pt x="0" y="10"/>
                </a:lnTo>
                <a:lnTo>
                  <a:pt x="0" y="10"/>
                </a:lnTo>
                <a:lnTo>
                  <a:pt x="0" y="6"/>
                </a:lnTo>
                <a:lnTo>
                  <a:pt x="2" y="4"/>
                </a:lnTo>
                <a:lnTo>
                  <a:pt x="2" y="4"/>
                </a:lnTo>
                <a:lnTo>
                  <a:pt x="4" y="0"/>
                </a:lnTo>
                <a:lnTo>
                  <a:pt x="8" y="0"/>
                </a:lnTo>
                <a:lnTo>
                  <a:pt x="1514" y="0"/>
                </a:lnTo>
                <a:lnTo>
                  <a:pt x="1514" y="0"/>
                </a:lnTo>
                <a:lnTo>
                  <a:pt x="1518" y="0"/>
                </a:lnTo>
                <a:lnTo>
                  <a:pt x="1522" y="4"/>
                </a:lnTo>
                <a:lnTo>
                  <a:pt x="1522" y="4"/>
                </a:lnTo>
                <a:lnTo>
                  <a:pt x="1524" y="6"/>
                </a:lnTo>
                <a:lnTo>
                  <a:pt x="1524" y="10"/>
                </a:lnTo>
                <a:lnTo>
                  <a:pt x="1524" y="10"/>
                </a:lnTo>
                <a:lnTo>
                  <a:pt x="1524" y="1020"/>
                </a:lnTo>
                <a:close/>
              </a:path>
            </a:pathLst>
          </a:custGeom>
          <a:blipFill dpi="0" rotWithShape="1">
            <a:blip r:embed="rId1" cstate="print"/>
            <a:srcRect/>
            <a:stretch>
              <a:fillRect/>
            </a:stretch>
          </a:blipFill>
          <a:ln w="9525">
            <a:noFill/>
            <a:round/>
          </a:ln>
        </p:spPr>
        <p:txBody>
          <a:bodyPr/>
          <a:lstStyle/>
          <a:p>
            <a:pPr defTabSz="457200">
              <a:defRPr/>
            </a:pPr>
            <a:endParaRPr lang="da-DK">
              <a:ea typeface="MS PGothic" panose="020B0600070205080204" pitchFamily="-97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36010" y="1345565"/>
            <a:ext cx="426402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近年来，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GNSS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掩星技术已从科学实验发展为成熟的业务化手段。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标杆机构以美国大学大气研究联盟（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UCAR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CDAAC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中心为代表，其处理软件和数据产品是国际基准。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目前面临的挑战：业务化系统仍以经典物理模型为核心，精度提升面临瓶颈。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29648" y="145579"/>
            <a:ext cx="2088232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6000">
        <p14:gallery dir="l"/>
      </p:transition>
    </mc:Choice>
    <mc:Fallback>
      <p:transition spd="slow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bldLvl="0" animBg="1"/>
      <p:bldP spid="9" grpId="0"/>
      <p:bldP spid="12" grpId="0" bldLvl="0" animBg="1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/>
          <p:nvPr/>
        </p:nvSpPr>
        <p:spPr bwMode="auto">
          <a:xfrm>
            <a:off x="1115977" y="1705826"/>
            <a:ext cx="2322635" cy="2208761"/>
          </a:xfrm>
          <a:prstGeom prst="rect">
            <a:avLst/>
          </a:prstGeom>
          <a:solidFill>
            <a:srgbClr val="ED5326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51458" tIns="25729" rIns="51458" bIns="25729" numCol="1" rtlCol="0" anchor="t" anchorCtr="0" compatLnSpc="1"/>
          <a:lstStyle/>
          <a:p>
            <a:pPr marL="0" marR="0" lvl="0" indent="0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 Light" panose="020B0502040204020203" pitchFamily="34" charset="0"/>
              <a:ea typeface="+mn-ea"/>
            </a:endParaRPr>
          </a:p>
          <a:p>
            <a:pPr marL="0" marR="0" lvl="0" indent="0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 Light" panose="020B0502040204020203" pitchFamily="34" charset="0"/>
              <a:ea typeface="+mn-ea"/>
            </a:endParaRPr>
          </a:p>
          <a:p>
            <a:pPr marL="0" marR="0" lvl="0" indent="0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 Light" panose="020B0502040204020203" pitchFamily="34" charset="0"/>
              <a:ea typeface="+mn-ea"/>
            </a:endParaRPr>
          </a:p>
          <a:p>
            <a:pPr marL="0" marR="0" lvl="0" indent="0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 Light" panose="020B0502040204020203" pitchFamily="34" charset="0"/>
              <a:ea typeface="+mn-ea"/>
            </a:endParaRPr>
          </a:p>
          <a:p>
            <a:pPr marL="0" marR="0" lvl="0" indent="0" defTabSz="5143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500" b="0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 Light" panose="020B0502040204020203" pitchFamily="34" charset="0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48295" y="1956973"/>
            <a:ext cx="1790129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1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国内现状</a:t>
            </a:r>
            <a:endParaRPr lang="zh-CN" altLang="en-US" sz="2400" b="1" dirty="0">
              <a:solidFill>
                <a:schemeClr val="bg1">
                  <a:alpha val="9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4" name="Gruppe 122"/>
          <p:cNvPicPr>
            <a:picLocks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28" t="15379" r="8085" b="19565"/>
          <a:stretch>
            <a:fillRect/>
          </a:stretch>
        </p:blipFill>
        <p:spPr bwMode="auto">
          <a:xfrm>
            <a:off x="1382230" y="2497713"/>
            <a:ext cx="1790129" cy="126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6829648" y="145579"/>
            <a:ext cx="2088232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4332440" y="1966498"/>
            <a:ext cx="179012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6851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在此录入文字内容</a:t>
            </a:r>
            <a:endParaRPr lang="zh-CN" altLang="en-US" sz="1600" b="1" dirty="0">
              <a:solidFill>
                <a:schemeClr val="bg1">
                  <a:alpha val="9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6851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在此录入文字内容</a:t>
            </a:r>
            <a:endParaRPr lang="zh-CN" altLang="en-US" sz="1600" b="1" dirty="0">
              <a:solidFill>
                <a:schemeClr val="bg1">
                  <a:alpha val="9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14"/>
          <p:cNvSpPr txBox="1"/>
          <p:nvPr/>
        </p:nvSpPr>
        <p:spPr>
          <a:xfrm>
            <a:off x="3636010" y="1345565"/>
            <a:ext cx="4264025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我国虽起步稍晚，但已形成从卫星研制（如风云三号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GNOS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）、数据处理到科学应用的完整体系。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国家卫星气象中心等单位已建立业务化处理系统。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多数系统同样基于经典算法，对新兴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算法的集成和业务化探索是当前的研究热点。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6000">
        <p14:gallery dir="l"/>
      </p:transition>
    </mc:Choice>
    <mc:Fallback>
      <p:transition spd="slow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2" grpId="0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/>
          <p:nvPr/>
        </p:nvSpPr>
        <p:spPr bwMode="auto">
          <a:xfrm>
            <a:off x="1043187" y="1633436"/>
            <a:ext cx="2322635" cy="2208761"/>
          </a:xfrm>
          <a:prstGeom prst="rect">
            <a:avLst/>
          </a:prstGeom>
          <a:solidFill>
            <a:srgbClr val="0070C0"/>
          </a:solidFill>
          <a:ln w="254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51458" tIns="25729" rIns="51458" bIns="25729" numCol="1" rtlCol="0" anchor="t" anchorCtr="0" compatLnSpc="1"/>
          <a:lstStyle/>
          <a:p>
            <a:pPr defTabSz="514350"/>
            <a:r>
              <a:rPr lang="en-US" altLang="zh-CN" sz="6000" b="1" kern="0" dirty="0">
                <a:solidFill>
                  <a:srgbClr val="FFC000"/>
                </a:solidFill>
                <a:latin typeface="Segoe UI Light" panose="020B0502040204020203" pitchFamily="34" charset="0"/>
                <a:ea typeface="+mn-ea"/>
              </a:rPr>
              <a:t> </a:t>
            </a:r>
            <a:endParaRPr lang="en-US" altLang="zh-CN" sz="6000" b="1" kern="0" dirty="0">
              <a:solidFill>
                <a:srgbClr val="FFC000"/>
              </a:solidFill>
              <a:latin typeface="Segoe UI Light" panose="020B0502040204020203" pitchFamily="34" charset="0"/>
              <a:ea typeface="+mn-ea"/>
            </a:endParaRPr>
          </a:p>
          <a:p>
            <a:pPr defTabSz="514350"/>
            <a:endParaRPr lang="en-US" altLang="zh-CN" sz="6000" b="1" kern="0" dirty="0">
              <a:solidFill>
                <a:srgbClr val="FFC000"/>
              </a:solidFill>
              <a:latin typeface="Segoe UI Light" panose="020B0502040204020203" pitchFamily="34" charset="0"/>
              <a:ea typeface="+mn-ea"/>
            </a:endParaRPr>
          </a:p>
          <a:p>
            <a:pPr defTabSz="514350"/>
            <a:endParaRPr lang="en-US" altLang="zh-CN" sz="6000" b="1" kern="0" dirty="0">
              <a:solidFill>
                <a:srgbClr val="FFC000"/>
              </a:solidFill>
              <a:latin typeface="Segoe UI Light" panose="020B0502040204020203" pitchFamily="34" charset="0"/>
              <a:ea typeface="+mn-ea"/>
            </a:endParaRPr>
          </a:p>
          <a:p>
            <a:pPr defTabSz="514350"/>
            <a:endParaRPr lang="en-US" altLang="zh-CN" sz="6000" b="1" kern="0" dirty="0">
              <a:solidFill>
                <a:srgbClr val="FFC000"/>
              </a:solidFill>
              <a:latin typeface="Segoe UI Light" panose="020B0502040204020203" pitchFamily="34" charset="0"/>
              <a:ea typeface="+mn-ea"/>
            </a:endParaRPr>
          </a:p>
          <a:p>
            <a:pPr defTabSz="514350"/>
            <a:endParaRPr lang="en-US" altLang="zh-CN" sz="6000" b="1" kern="0" dirty="0">
              <a:solidFill>
                <a:srgbClr val="FFC000"/>
              </a:solidFill>
              <a:latin typeface="Segoe UI Light" panose="020B0502040204020203" pitchFamily="34" charset="0"/>
              <a:ea typeface="+mn-ea"/>
            </a:endParaRPr>
          </a:p>
          <a:p>
            <a:pPr defTabSz="514350"/>
            <a:endParaRPr lang="en-US" altLang="zh-CN" sz="6000" b="1" kern="0" dirty="0">
              <a:solidFill>
                <a:srgbClr val="FFC000"/>
              </a:solidFill>
              <a:latin typeface="Segoe UI Light" panose="020B0502040204020203" pitchFamily="34" charset="0"/>
              <a:ea typeface="+mn-ea"/>
            </a:endParaRPr>
          </a:p>
        </p:txBody>
      </p:sp>
      <p:pic>
        <p:nvPicPr>
          <p:cNvPr id="13" name="Gruppe 122"/>
          <p:cNvPicPr>
            <a:picLocks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0" t="17080" r="8483" b="19104"/>
          <a:stretch>
            <a:fillRect/>
          </a:stretch>
        </p:blipFill>
        <p:spPr bwMode="auto">
          <a:xfrm>
            <a:off x="1215977" y="2487553"/>
            <a:ext cx="1977054" cy="1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/>
          <p:cNvSpPr txBox="1"/>
          <p:nvPr/>
        </p:nvSpPr>
        <p:spPr>
          <a:xfrm>
            <a:off x="6829648" y="145579"/>
            <a:ext cx="2088232" cy="3683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研究现状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75740" y="1921510"/>
            <a:ext cx="1585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685165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chemeClr val="bg1">
                    <a:alpha val="99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发展趋势</a:t>
            </a:r>
            <a:endParaRPr lang="zh-CN" altLang="en-US" sz="2400" b="1" dirty="0">
              <a:solidFill>
                <a:schemeClr val="bg1">
                  <a:alpha val="99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" name="TextBox 14"/>
          <p:cNvSpPr txBox="1"/>
          <p:nvPr/>
        </p:nvSpPr>
        <p:spPr>
          <a:xfrm>
            <a:off x="3491865" y="1118870"/>
            <a:ext cx="4978400" cy="3476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经典物理算法：仍是当前主流，但其多步级联的特性导致误差会逐级累积，且存在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温湿模糊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等固有局限。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机器学习算法：被视为突破精度瓶颈的关键。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- 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混合驱动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("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物理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+AI")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修正物理模型结果。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- 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端到端驱动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("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纯数据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")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：用一个</a:t>
            </a:r>
            <a:r>
              <a:rPr lang="en-US" altLang="zh-CN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模型替代整个物理反演链条，也是本课题的技术选型依据。</a:t>
            </a:r>
            <a:endParaRPr lang="zh-CN" altLang="en-US" sz="20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6000">
        <p14:gallery dir="l"/>
      </p:transition>
    </mc:Choice>
    <mc:Fallback>
      <p:transition spd="slow" advClick="0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27784" y="2067570"/>
            <a:ext cx="5275634" cy="923330"/>
          </a:xfrm>
          <a:prstGeom prst="rect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TextBox 5"/>
          <p:cNvSpPr txBox="1"/>
          <p:nvPr/>
        </p:nvSpPr>
        <p:spPr>
          <a:xfrm>
            <a:off x="2771800" y="2118370"/>
            <a:ext cx="5019248" cy="8299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研究内容及方案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泪滴形 6"/>
          <p:cNvSpPr/>
          <p:nvPr/>
        </p:nvSpPr>
        <p:spPr>
          <a:xfrm>
            <a:off x="1475656" y="2067570"/>
            <a:ext cx="1043726" cy="1043726"/>
          </a:xfrm>
          <a:prstGeom prst="teardrop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6000" dirty="0"/>
              <a:t>3</a:t>
            </a:r>
            <a:endParaRPr lang="zh-CN" altLang="en-US" sz="6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4000">
        <p14:prism dir="u"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31677" y="1777569"/>
            <a:ext cx="6681211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数据源获取：采用国际公认的掩星数据集（如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COSMIC, FY-3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）及其对应的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ERA5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再分析资料。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数据处理：进行严格的质量控制、时空匹配和数据清洗，构建（弯曲角廓线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大气廓线）样本对。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数据集划分：按时间顺序划分为训练集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(80%)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、验证集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(10%)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和测试集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(10%)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3590" y="985520"/>
            <a:ext cx="3252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构建基准数据集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]</a:t>
            </a:r>
            <a:endParaRPr lang="zh-CN" altLang="en-US" sz="36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739943" y="1208609"/>
            <a:ext cx="91935" cy="150807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648057" y="1208609"/>
            <a:ext cx="91935" cy="150807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29648" y="145579"/>
            <a:ext cx="2088232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研究内容及方案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"/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p:transition spd="slow" advClick="0" advTm="50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2" presetClass="exit" presetSubtype="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  <p:bldP spid="8" grpId="0" bldLvl="0" animBg="1"/>
      <p:bldP spid="8" grpId="1" bldLvl="0" animBg="1"/>
      <p:bldP spid="9" grpId="0" bldLvl="0" animBg="1"/>
      <p:bldP spid="9" grpId="1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83590" y="985520"/>
            <a:ext cx="3252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构建基准数据集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]</a:t>
            </a:r>
            <a:endParaRPr lang="zh-CN" altLang="en-US" sz="36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739943" y="1208609"/>
            <a:ext cx="91935" cy="150807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648057" y="1208609"/>
            <a:ext cx="91935" cy="150807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29648" y="145579"/>
            <a:ext cx="2088232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研究内容及方案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"/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" y="1849120"/>
            <a:ext cx="3951605" cy="20796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390" y="1706880"/>
            <a:ext cx="4030345" cy="23241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19885" y="4009390"/>
            <a:ext cx="20891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COSIMIC-1 DATA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08625" y="4030980"/>
            <a:ext cx="27412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latin typeface="Times New Roman" panose="02020603050405020304" charset="0"/>
                <a:cs typeface="Times New Roman" panose="02020603050405020304" charset="0"/>
              </a:rPr>
              <a:t>风云静止卫星大气廓线数据集</a:t>
            </a:r>
            <a:endParaRPr lang="zh-CN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p:transition spd="slow" advClick="0" advTm="50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 bldLvl="0" animBg="1"/>
      <p:bldP spid="8" grpId="1" bldLvl="0" animBg="1"/>
      <p:bldP spid="9" grpId="0" bldLvl="0" animBg="1"/>
      <p:bldP spid="9" grpId="1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43132" y="1633424"/>
            <a:ext cx="6681211" cy="316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核心算法：条件扩散模型</a:t>
            </a:r>
            <a:r>
              <a:rPr lang="en-US" altLang="zh-CN" sz="2000" b="1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(Conditonal Diffusion Models)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。该模型将通过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加噪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去噪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两个过程学习数据的内在分布。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/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网络架构：设计一个适用于一维序列数据（大气廓线）的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U-Net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网络，并通过交叉注意力机制引入弯曲角廓线作为条件。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/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实现工具：使用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Python + PyTorch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框架进行模型搭建与训练。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3590" y="985520"/>
            <a:ext cx="3252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实现反演模型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]</a:t>
            </a:r>
            <a:endParaRPr lang="zh-CN" altLang="en-US" sz="36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739943" y="1208609"/>
            <a:ext cx="91935" cy="150807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648057" y="1208609"/>
            <a:ext cx="91935" cy="150807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29648" y="145579"/>
            <a:ext cx="2088232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研究内容及方案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"/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p:transition spd="slow" advClick="0" advTm="50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2" presetClass="exit" presetSubtype="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  <p:bldP spid="8" grpId="0" bldLvl="0" animBg="1"/>
      <p:bldP spid="8" grpId="1" bldLvl="0" animBg="1"/>
      <p:bldP spid="9" grpId="0" bldLvl="0" animBg="1"/>
      <p:bldP spid="9" grpId="1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29648" y="145579"/>
            <a:ext cx="2088232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研究内容及方案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"/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3" descr="condition diffus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495" y="1344930"/>
            <a:ext cx="4688840" cy="26377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012690" y="1129030"/>
            <a:ext cx="335661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前向加噪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(Forward Diffusion)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：从真实的大气廓线数据开始，逐步、少量地添加高斯噪声，直至其变为纯粹的随机噪声。输出噪声以及含噪样本。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/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457200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后向去噪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(Reverse Diffusion)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：训练一个神经网络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(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U-Net)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，让它学会在每一步中预测所添加的噪声。在推理时，从一个随机噪声开始，以弯曲角廓线作为条件引导，通过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U-Net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反复迭代地去除噪声，最终得到符合物理规律和输入条件的大气廓线。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487805" y="4009390"/>
            <a:ext cx="25888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Conditonal Diffusion Models 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示意图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 spd="slow" advClick="0" advTm="5000">
    <p:push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29648" y="145579"/>
            <a:ext cx="2088232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研究内容及方案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"/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 descr="原理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201420"/>
            <a:ext cx="4602480" cy="30645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580380" y="1057275"/>
            <a:ext cx="294195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编码器：由一系列卷积层和下采样层构成，每个卷积层都会提取图像特征并降低空间维度</a:t>
            </a:r>
            <a:endParaRPr 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解码器：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由一系列的卷积层和上采样层，逐步将特征图恢复到原始分辨率，并填充细节。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跳跃连接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: 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将编码器中低层特征与解码器的高层特征结合，可以捕捉到更多有效信息；同时允许梯度在网络中直接流动，从而缓解了梯度消失问题，提高了模型的训练效果。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880870" y="4441825"/>
            <a:ext cx="20631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一维</a:t>
            </a:r>
            <a:r>
              <a:rPr lang="en-US" altLang="zh-CN" sz="1200" dirty="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U-NET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流程示意图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  <p:transition spd="slow" advClick="0" advTm="5000">
    <p:push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29648" y="145579"/>
            <a:ext cx="2088232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研究内容及方案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"/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32045" y="1129665"/>
            <a:ext cx="3891915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通过一个独立编码器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将输入的弯曲角廓线处理成上下文特征序列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，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然后在解码器的某一个上采样块中，</a:t>
            </a:r>
            <a:r>
              <a:rPr 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将原始特征向量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X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处理后作为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Query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，特征序列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C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作为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(Value,Key),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一同输入到交叉注意力模块中，最终输出融合后的特征向量</a:t>
            </a:r>
            <a:r>
              <a:rPr 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X’</a:t>
            </a:r>
            <a:r>
              <a:rPr lang="zh-CN" altLang="en-US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并继续向后续层传递。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通过这种方式，</a:t>
            </a:r>
            <a:r>
              <a:rPr lang="en-US" altLang="zh-CN" sz="1600"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U-Net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在从高级抽象特征逐步恢复精细空间细节的每一步，都受到弯曲角廓线特征的调制，从而实现了高保真度的条件生成。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835785" y="4225925"/>
            <a:ext cx="206311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sz="12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交叉注意力机制示意图</a:t>
            </a:r>
            <a:endParaRPr lang="zh-CN" sz="12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611505" y="1201420"/>
            <a:ext cx="4380230" cy="3041650"/>
          </a:xfrm>
          <a:prstGeom prst="rect">
            <a:avLst/>
          </a:prstGeom>
        </p:spPr>
      </p:pic>
    </p:spTree>
  </p:cSld>
  <p:clrMapOvr>
    <a:masterClrMapping/>
  </p:clrMapOvr>
  <p:transition spd="slow" advClick="0" advTm="5000">
    <p:push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71377" y="1777569"/>
            <a:ext cx="6681211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后端：将核心算法与训练好的模型封装为独立的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软件包，提供标准化的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/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457200" algn="just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前端：利用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Streamlit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框架开发一个基于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的交互式可视化界面，用于参数配置、任务执行和结果展示。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83590" y="985520"/>
            <a:ext cx="3252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zh-CN" altLang="en-US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系统封装与可视化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]</a:t>
            </a:r>
            <a:endParaRPr lang="zh-CN" altLang="en-US" sz="36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739943" y="1208609"/>
            <a:ext cx="91935" cy="150807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648057" y="1208609"/>
            <a:ext cx="91935" cy="150807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29648" y="145579"/>
            <a:ext cx="2088232" cy="6451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研究内容及方案</a:t>
            </a:r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"/>
            <a:endParaRPr lang="zh-CN" altLang="en-US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p:transition spd="slow" advClick="0" advTm="50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42" presetClass="exit" presetSubtype="0" fill="hold" grpId="1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2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7" grpId="0"/>
      <p:bldP spid="7" grpId="1"/>
      <p:bldP spid="8" grpId="0" bldLvl="0" animBg="1"/>
      <p:bldP spid="8" grpId="1" bldLvl="0" animBg="1"/>
      <p:bldP spid="9" grpId="0" bldLvl="0" animBg="1"/>
      <p:bldP spid="9" grpId="1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627784" y="2067570"/>
            <a:ext cx="5275634" cy="923330"/>
          </a:xfrm>
          <a:prstGeom prst="rect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915285" y="2118360"/>
            <a:ext cx="4897755" cy="8299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 fontAlgn="b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泪滴形 5"/>
          <p:cNvSpPr/>
          <p:nvPr/>
        </p:nvSpPr>
        <p:spPr>
          <a:xfrm>
            <a:off x="1475656" y="2067570"/>
            <a:ext cx="1043726" cy="1043726"/>
          </a:xfrm>
          <a:prstGeom prst="teardrop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r>
              <a:rPr lang="en-US" altLang="zh-CN" sz="6000" dirty="0"/>
              <a:t>4</a:t>
            </a:r>
            <a:endParaRPr lang="zh-CN" altLang="en-US" sz="60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Click="0" advTm="4000">
        <p14:prism dir="d"/>
      </p:transition>
    </mc:Choice>
    <mc:Fallback>
      <p:transition spd="slow" advClick="0" advTm="4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任意多边形 17"/>
          <p:cNvSpPr/>
          <p:nvPr>
            <p:custDataLst>
              <p:tags r:id="rId1"/>
            </p:custDataLst>
          </p:nvPr>
        </p:nvSpPr>
        <p:spPr>
          <a:xfrm>
            <a:off x="4426444" y="840853"/>
            <a:ext cx="1310631" cy="1506472"/>
          </a:xfrm>
          <a:custGeom>
            <a:avLst/>
            <a:gdLst>
              <a:gd name="connsiteX0" fmla="*/ 0 w 1506471"/>
              <a:gd name="connsiteY0" fmla="*/ 655315 h 1310630"/>
              <a:gd name="connsiteX1" fmla="*/ 327658 w 1506471"/>
              <a:gd name="connsiteY1" fmla="*/ 0 h 1310630"/>
              <a:gd name="connsiteX2" fmla="*/ 1178814 w 1506471"/>
              <a:gd name="connsiteY2" fmla="*/ 0 h 1310630"/>
              <a:gd name="connsiteX3" fmla="*/ 1506471 w 1506471"/>
              <a:gd name="connsiteY3" fmla="*/ 655315 h 1310630"/>
              <a:gd name="connsiteX4" fmla="*/ 1178814 w 1506471"/>
              <a:gd name="connsiteY4" fmla="*/ 1310630 h 1310630"/>
              <a:gd name="connsiteX5" fmla="*/ 327658 w 1506471"/>
              <a:gd name="connsiteY5" fmla="*/ 1310630 h 1310630"/>
              <a:gd name="connsiteX6" fmla="*/ 0 w 1506471"/>
              <a:gd name="connsiteY6" fmla="*/ 655315 h 1310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95680" tIns="326199" rIns="295681" bIns="326198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2400" kern="0" dirty="0">
              <a:solidFill>
                <a:srgbClr val="0070C0"/>
              </a:solidFill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/>
        </p:nvSpPr>
        <p:spPr>
          <a:xfrm>
            <a:off x="6117841" y="1132622"/>
            <a:ext cx="1681222" cy="903882"/>
          </a:xfrm>
          <a:custGeom>
            <a:avLst/>
            <a:gdLst>
              <a:gd name="connsiteX0" fmla="*/ 0 w 1681222"/>
              <a:gd name="connsiteY0" fmla="*/ 0 h 903882"/>
              <a:gd name="connsiteX1" fmla="*/ 1681222 w 1681222"/>
              <a:gd name="connsiteY1" fmla="*/ 0 h 903882"/>
              <a:gd name="connsiteX2" fmla="*/ 1681222 w 1681222"/>
              <a:gd name="connsiteY2" fmla="*/ 903882 h 903882"/>
              <a:gd name="connsiteX3" fmla="*/ 0 w 1681222"/>
              <a:gd name="connsiteY3" fmla="*/ 903882 h 903882"/>
              <a:gd name="connsiteX4" fmla="*/ 0 w 1681222"/>
              <a:gd name="connsiteY4" fmla="*/ 0 h 90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1222" h="903882">
                <a:moveTo>
                  <a:pt x="0" y="0"/>
                </a:moveTo>
                <a:lnTo>
                  <a:pt x="1681222" y="0"/>
                </a:lnTo>
                <a:lnTo>
                  <a:pt x="1681222" y="903882"/>
                </a:lnTo>
                <a:lnTo>
                  <a:pt x="0" y="90388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defTabSz="160020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3600" kern="0" dirty="0">
              <a:solidFill>
                <a:srgbClr val="0070C0"/>
              </a:solidFill>
              <a:ea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"/>
            </p:custDataLst>
          </p:nvPr>
        </p:nvSpPr>
        <p:spPr>
          <a:xfrm>
            <a:off x="3010964" y="840853"/>
            <a:ext cx="1310631" cy="1506472"/>
          </a:xfrm>
          <a:custGeom>
            <a:avLst/>
            <a:gdLst>
              <a:gd name="connsiteX0" fmla="*/ 0 w 1506471"/>
              <a:gd name="connsiteY0" fmla="*/ 655315 h 1310630"/>
              <a:gd name="connsiteX1" fmla="*/ 327658 w 1506471"/>
              <a:gd name="connsiteY1" fmla="*/ 0 h 1310630"/>
              <a:gd name="connsiteX2" fmla="*/ 1178814 w 1506471"/>
              <a:gd name="connsiteY2" fmla="*/ 0 h 1310630"/>
              <a:gd name="connsiteX3" fmla="*/ 1506471 w 1506471"/>
              <a:gd name="connsiteY3" fmla="*/ 655315 h 1310630"/>
              <a:gd name="connsiteX4" fmla="*/ 1178814 w 1506471"/>
              <a:gd name="connsiteY4" fmla="*/ 1310630 h 1310630"/>
              <a:gd name="connsiteX5" fmla="*/ 327658 w 1506471"/>
              <a:gd name="connsiteY5" fmla="*/ 1310630 h 1310630"/>
              <a:gd name="connsiteX6" fmla="*/ 0 w 1506471"/>
              <a:gd name="connsiteY6" fmla="*/ 655315 h 1310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 dpi="0" rotWithShape="1">
            <a:blip r:embed="rId3" cstate="print"/>
            <a:srcRect/>
            <a:stretch>
              <a:fillRect l="-53000" r="-14000"/>
            </a:stretch>
          </a:blip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spcFirstLastPara="0" vert="horz" wrap="square" lIns="204240" tIns="234759" rIns="204241" bIns="234758" numCol="1" spcCol="1270" anchor="ctr" anchorCtr="0">
            <a:noAutofit/>
          </a:bodyPr>
          <a:lstStyle/>
          <a:p>
            <a:pPr marL="0" marR="0" lvl="0" indent="0" algn="ctr" defTabSz="1600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4"/>
            </p:custDataLst>
          </p:nvPr>
        </p:nvSpPr>
        <p:spPr>
          <a:xfrm>
            <a:off x="3715992" y="2119545"/>
            <a:ext cx="1310631" cy="1506472"/>
          </a:xfrm>
          <a:custGeom>
            <a:avLst/>
            <a:gdLst>
              <a:gd name="connsiteX0" fmla="*/ 0 w 1506471"/>
              <a:gd name="connsiteY0" fmla="*/ 655315 h 1310630"/>
              <a:gd name="connsiteX1" fmla="*/ 327658 w 1506471"/>
              <a:gd name="connsiteY1" fmla="*/ 0 h 1310630"/>
              <a:gd name="connsiteX2" fmla="*/ 1178814 w 1506471"/>
              <a:gd name="connsiteY2" fmla="*/ 0 h 1310630"/>
              <a:gd name="connsiteX3" fmla="*/ 1506471 w 1506471"/>
              <a:gd name="connsiteY3" fmla="*/ 655315 h 1310630"/>
              <a:gd name="connsiteX4" fmla="*/ 1178814 w 1506471"/>
              <a:gd name="connsiteY4" fmla="*/ 1310630 h 1310630"/>
              <a:gd name="connsiteX5" fmla="*/ 327658 w 1506471"/>
              <a:gd name="connsiteY5" fmla="*/ 1310630 h 1310630"/>
              <a:gd name="connsiteX6" fmla="*/ 0 w 1506471"/>
              <a:gd name="connsiteY6" fmla="*/ 655315 h 1310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00B0F0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95680" tIns="326199" rIns="295681" bIns="326198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2400" kern="0" dirty="0">
              <a:solidFill>
                <a:srgbClr val="0070C0"/>
              </a:solidFill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5"/>
            </p:custDataLst>
          </p:nvPr>
        </p:nvSpPr>
        <p:spPr>
          <a:xfrm>
            <a:off x="5131473" y="2119545"/>
            <a:ext cx="1310631" cy="1506472"/>
          </a:xfrm>
          <a:custGeom>
            <a:avLst/>
            <a:gdLst>
              <a:gd name="connsiteX0" fmla="*/ 0 w 1506471"/>
              <a:gd name="connsiteY0" fmla="*/ 655315 h 1310630"/>
              <a:gd name="connsiteX1" fmla="*/ 327658 w 1506471"/>
              <a:gd name="connsiteY1" fmla="*/ 0 h 1310630"/>
              <a:gd name="connsiteX2" fmla="*/ 1178814 w 1506471"/>
              <a:gd name="connsiteY2" fmla="*/ 0 h 1310630"/>
              <a:gd name="connsiteX3" fmla="*/ 1506471 w 1506471"/>
              <a:gd name="connsiteY3" fmla="*/ 655315 h 1310630"/>
              <a:gd name="connsiteX4" fmla="*/ 1178814 w 1506471"/>
              <a:gd name="connsiteY4" fmla="*/ 1310630 h 1310630"/>
              <a:gd name="connsiteX5" fmla="*/ 327658 w 1506471"/>
              <a:gd name="connsiteY5" fmla="*/ 1310630 h 1310630"/>
              <a:gd name="connsiteX6" fmla="*/ 0 w 1506471"/>
              <a:gd name="connsiteY6" fmla="*/ 655315 h 1310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 dpi="0" rotWithShape="1">
            <a:blip r:embed="rId6" cstate="print"/>
            <a:srcRect/>
            <a:stretch>
              <a:fillRect l="-40000" r="-26000"/>
            </a:stretch>
          </a:blip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spcFirstLastPara="0" vert="horz" wrap="square" lIns="204240" tIns="234759" rIns="204241" bIns="234758" numCol="1" spcCol="1270" anchor="ctr" anchorCtr="0">
            <a:noAutofit/>
          </a:bodyPr>
          <a:lstStyle/>
          <a:p>
            <a:pPr marL="0" marR="0" lvl="0" indent="0" algn="ctr" defTabSz="1600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7"/>
            </p:custDataLst>
          </p:nvPr>
        </p:nvSpPr>
        <p:spPr>
          <a:xfrm>
            <a:off x="4426444" y="3398238"/>
            <a:ext cx="1310631" cy="1506472"/>
          </a:xfrm>
          <a:custGeom>
            <a:avLst/>
            <a:gdLst>
              <a:gd name="connsiteX0" fmla="*/ 0 w 1506471"/>
              <a:gd name="connsiteY0" fmla="*/ 655315 h 1310630"/>
              <a:gd name="connsiteX1" fmla="*/ 327658 w 1506471"/>
              <a:gd name="connsiteY1" fmla="*/ 0 h 1310630"/>
              <a:gd name="connsiteX2" fmla="*/ 1178814 w 1506471"/>
              <a:gd name="connsiteY2" fmla="*/ 0 h 1310630"/>
              <a:gd name="connsiteX3" fmla="*/ 1506471 w 1506471"/>
              <a:gd name="connsiteY3" fmla="*/ 655315 h 1310630"/>
              <a:gd name="connsiteX4" fmla="*/ 1178814 w 1506471"/>
              <a:gd name="connsiteY4" fmla="*/ 1310630 h 1310630"/>
              <a:gd name="connsiteX5" fmla="*/ 327658 w 1506471"/>
              <a:gd name="connsiteY5" fmla="*/ 1310630 h 1310630"/>
              <a:gd name="connsiteX6" fmla="*/ 0 w 1506471"/>
              <a:gd name="connsiteY6" fmla="*/ 655315 h 1310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spcFirstLastPara="0" vert="horz" wrap="square" lIns="295680" tIns="326199" rIns="295681" bIns="326198" numCol="1" spcCol="1270" anchor="ctr" anchorCtr="0">
            <a:noAutofit/>
          </a:bodyPr>
          <a:lstStyle/>
          <a:p>
            <a:pPr algn="ctr" defTabSz="106680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2400" kern="0" dirty="0">
              <a:solidFill>
                <a:srgbClr val="0070C0"/>
              </a:solidFill>
              <a:ea typeface="微软雅黑" panose="020B0503020204020204" pitchFamily="34" charset="-122"/>
            </a:endParaRPr>
          </a:p>
        </p:txBody>
      </p:sp>
      <p:sp>
        <p:nvSpPr>
          <p:cNvPr id="24" name="任意多边形 23"/>
          <p:cNvSpPr/>
          <p:nvPr/>
        </p:nvSpPr>
        <p:spPr>
          <a:xfrm>
            <a:off x="6117841" y="3690008"/>
            <a:ext cx="1681222" cy="903882"/>
          </a:xfrm>
          <a:custGeom>
            <a:avLst/>
            <a:gdLst>
              <a:gd name="connsiteX0" fmla="*/ 0 w 1681222"/>
              <a:gd name="connsiteY0" fmla="*/ 0 h 903882"/>
              <a:gd name="connsiteX1" fmla="*/ 1681222 w 1681222"/>
              <a:gd name="connsiteY1" fmla="*/ 0 h 903882"/>
              <a:gd name="connsiteX2" fmla="*/ 1681222 w 1681222"/>
              <a:gd name="connsiteY2" fmla="*/ 903882 h 903882"/>
              <a:gd name="connsiteX3" fmla="*/ 0 w 1681222"/>
              <a:gd name="connsiteY3" fmla="*/ 903882 h 903882"/>
              <a:gd name="connsiteX4" fmla="*/ 0 w 1681222"/>
              <a:gd name="connsiteY4" fmla="*/ 0 h 90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81222" h="903882">
                <a:moveTo>
                  <a:pt x="0" y="0"/>
                </a:moveTo>
                <a:lnTo>
                  <a:pt x="1681222" y="0"/>
                </a:lnTo>
                <a:lnTo>
                  <a:pt x="1681222" y="903882"/>
                </a:lnTo>
                <a:lnTo>
                  <a:pt x="0" y="903882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defTabSz="1600200">
              <a:lnSpc>
                <a:spcPct val="90000"/>
              </a:lnSpc>
              <a:spcAft>
                <a:spcPct val="35000"/>
              </a:spcAft>
              <a:defRPr/>
            </a:pPr>
            <a:endParaRPr lang="zh-CN" altLang="en-US" sz="3600" kern="0" dirty="0">
              <a:solidFill>
                <a:srgbClr val="0070C0"/>
              </a:solidFill>
              <a:ea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8"/>
            </p:custDataLst>
          </p:nvPr>
        </p:nvSpPr>
        <p:spPr>
          <a:xfrm>
            <a:off x="3010964" y="3398238"/>
            <a:ext cx="1310631" cy="1506472"/>
          </a:xfrm>
          <a:custGeom>
            <a:avLst/>
            <a:gdLst>
              <a:gd name="connsiteX0" fmla="*/ 0 w 1506471"/>
              <a:gd name="connsiteY0" fmla="*/ 655315 h 1310630"/>
              <a:gd name="connsiteX1" fmla="*/ 327658 w 1506471"/>
              <a:gd name="connsiteY1" fmla="*/ 0 h 1310630"/>
              <a:gd name="connsiteX2" fmla="*/ 1178814 w 1506471"/>
              <a:gd name="connsiteY2" fmla="*/ 0 h 1310630"/>
              <a:gd name="connsiteX3" fmla="*/ 1506471 w 1506471"/>
              <a:gd name="connsiteY3" fmla="*/ 655315 h 1310630"/>
              <a:gd name="connsiteX4" fmla="*/ 1178814 w 1506471"/>
              <a:gd name="connsiteY4" fmla="*/ 1310630 h 1310630"/>
              <a:gd name="connsiteX5" fmla="*/ 327658 w 1506471"/>
              <a:gd name="connsiteY5" fmla="*/ 1310630 h 1310630"/>
              <a:gd name="connsiteX6" fmla="*/ 0 w 1506471"/>
              <a:gd name="connsiteY6" fmla="*/ 655315 h 1310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06471" h="1310630">
                <a:moveTo>
                  <a:pt x="753236" y="0"/>
                </a:moveTo>
                <a:lnTo>
                  <a:pt x="1506470" y="285063"/>
                </a:lnTo>
                <a:lnTo>
                  <a:pt x="1506470" y="1025568"/>
                </a:lnTo>
                <a:lnTo>
                  <a:pt x="753236" y="1310630"/>
                </a:lnTo>
                <a:lnTo>
                  <a:pt x="1" y="1025568"/>
                </a:lnTo>
                <a:lnTo>
                  <a:pt x="1" y="285063"/>
                </a:lnTo>
                <a:lnTo>
                  <a:pt x="753236" y="0"/>
                </a:lnTo>
                <a:close/>
              </a:path>
            </a:pathLst>
          </a:custGeom>
          <a:blipFill>
            <a:blip r:embed="rId9" cstate="print"/>
            <a:stretch>
              <a:fillRect/>
            </a:stretch>
          </a:blipFill>
          <a:ln w="12700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spcFirstLastPara="0" vert="horz" wrap="square" lIns="204240" tIns="234759" rIns="204241" bIns="234758" numCol="1" spcCol="1270" anchor="ctr" anchorCtr="0">
            <a:noAutofit/>
          </a:bodyPr>
          <a:lstStyle/>
          <a:p>
            <a:pPr marL="0" marR="0" lvl="0" indent="0" algn="ctr" defTabSz="16002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ct val="35000"/>
              </a:spcAft>
              <a:buClrTx/>
              <a:buSzTx/>
              <a:buFontTx/>
              <a:buNone/>
              <a:defRPr/>
            </a:pP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  <p:sp>
        <p:nvSpPr>
          <p:cNvPr id="26" name="TextBox 25"/>
          <p:cNvSpPr txBox="1"/>
          <p:nvPr>
            <p:custDataLst>
              <p:tags r:id="rId10"/>
            </p:custDataLst>
          </p:nvPr>
        </p:nvSpPr>
        <p:spPr>
          <a:xfrm>
            <a:off x="1173480" y="2481580"/>
            <a:ext cx="2556510" cy="1076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lvl="1"/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ea typeface="微软雅黑" panose="020B0503020204020204" pitchFamily="34" charset="-122"/>
              </a:rPr>
              <a:t>实现一个经过充分训练和验证的、基于条件扩散模型的端到端反演模型。</a:t>
            </a:r>
            <a:endParaRPr lang="zh-CN" altLang="en-US" sz="1600" dirty="0">
              <a:solidFill>
                <a:schemeClr val="tx2">
                  <a:lumMod val="7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11"/>
            </p:custDataLst>
          </p:nvPr>
        </p:nvSpPr>
        <p:spPr>
          <a:xfrm>
            <a:off x="5835015" y="1285875"/>
            <a:ext cx="2806065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bg1"/>
                </a:solidFill>
                <a:ea typeface="微软雅黑" panose="020B0503020204020204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ea typeface="微软雅黑" panose="020B0503020204020204" pitchFamily="34" charset="-122"/>
              </a:rPr>
              <a:t>实现一个完整的、模块化的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ea typeface="微软雅黑" panose="020B0503020204020204" pitchFamily="34" charset="-122"/>
              </a:rPr>
              <a:t> GNSS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ea typeface="微软雅黑" panose="020B0503020204020204" pitchFamily="34" charset="-122"/>
              </a:rPr>
              <a:t>掩星大气反演软件系统。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12"/>
            </p:custDataLst>
          </p:nvPr>
        </p:nvSpPr>
        <p:spPr>
          <a:xfrm>
            <a:off x="5862606" y="3843969"/>
            <a:ext cx="2476293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 sz="2000">
                <a:solidFill>
                  <a:prstClr val="white"/>
                </a:solidFill>
                <a:latin typeface="Calibri" panose="020F0502020204030204"/>
                <a:ea typeface="微软雅黑" panose="020B0503020204020204" pitchFamily="34" charset="-122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</a:rPr>
              <a:t>实现一个基于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</a:rPr>
              <a:t>Web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</a:rPr>
              <a:t>的交互式可视化原型系统。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315" y="984885"/>
            <a:ext cx="3252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 </a:t>
            </a:r>
            <a:r>
              <a:rPr 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预期成果</a:t>
            </a:r>
            <a:r>
              <a:rPr lang="en-US" altLang="zh-CN" sz="24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]</a:t>
            </a:r>
            <a:endParaRPr lang="zh-CN" altLang="en-US" sz="3600" b="1" dirty="0">
              <a:solidFill>
                <a:schemeClr val="tx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697398" y="1208609"/>
            <a:ext cx="91935" cy="150807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605512" y="1208609"/>
            <a:ext cx="91935" cy="150807"/>
          </a:xfrm>
          <a:prstGeom prst="chevr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" y="5389880"/>
            <a:ext cx="9134475" cy="3251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 advClick="0" advTm="5000">
        <p14:switch dir="r"/>
      </p:transition>
    </mc:Choice>
    <mc:Fallback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exit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" presetClass="exit" presetSubtype="2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2" presetClass="exit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bldLvl="0" animBg="1"/>
      <p:bldP spid="20" grpId="0" bldLvl="0" animBg="1"/>
      <p:bldP spid="21" grpId="0" bldLvl="0" animBg="1"/>
      <p:bldP spid="22" grpId="0" bldLvl="0" animBg="1"/>
      <p:bldP spid="23" grpId="0" bldLvl="0" animBg="1"/>
      <p:bldP spid="25" grpId="0" bldLvl="0" animBg="1"/>
      <p:bldP spid="26" grpId="0"/>
      <p:bldP spid="27" grpId="0"/>
      <p:bldP spid="28" grpId="0"/>
      <p:bldP spid="7" grpId="0"/>
      <p:bldP spid="7" grpId="1"/>
      <p:bldP spid="8" grpId="0" bldLvl="0" animBg="1"/>
      <p:bldP spid="8" grpId="1" bldLvl="0" animBg="1"/>
      <p:bldP spid="9" grpId="0" bldLvl="0" animBg="1"/>
      <p:bldP spid="9" grpId="1" bldLvl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剪去对角的矩形 4"/>
          <p:cNvSpPr/>
          <p:nvPr/>
        </p:nvSpPr>
        <p:spPr>
          <a:xfrm flipH="1">
            <a:off x="1115616" y="1993404"/>
            <a:ext cx="6912768" cy="2232248"/>
          </a:xfrm>
          <a:prstGeom prst="snip2DiagRect">
            <a:avLst/>
          </a:prstGeom>
          <a:pattFill prst="pct50">
            <a:fgClr>
              <a:srgbClr val="0070C0"/>
            </a:fgClr>
            <a:bgClr>
              <a:schemeClr val="tx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425555" y="2107704"/>
            <a:ext cx="63401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</a:t>
            </a:r>
            <a:endParaRPr lang="zh-CN" altLang="en-US" sz="4800" b="1" dirty="0">
              <a:solidFill>
                <a:srgbClr val="FFFF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63688" y="2956280"/>
            <a:ext cx="5544616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大学生活即将结束，对关心、支持本设计和对本设计做出贡献的老师、同学致以最诚挚的感谢！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1518948" y="2929508"/>
            <a:ext cx="6153411" cy="0"/>
          </a:xfrm>
          <a:prstGeom prst="line">
            <a:avLst/>
          </a:prstGeom>
          <a:ln>
            <a:solidFill>
              <a:srgbClr val="FFFF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381" y="813172"/>
            <a:ext cx="3857229" cy="8571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4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900"/>
                            </p:stCondLst>
                            <p:childTnLst>
                              <p:par>
                                <p:cTn id="2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4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97.366062992126,&quot;left&quot;:225.6772440944882,&quot;top&quot;:131.50929133858267,&quot;width&quot;:339.52}"/>
</p:tagLst>
</file>

<file path=ppt/tags/tag2.xml><?xml version="1.0" encoding="utf-8"?>
<p:tagLst xmlns:p="http://schemas.openxmlformats.org/presentationml/2006/main">
  <p:tag name="KSO_WM_DIAGRAM_VIRTUALLY_FRAME" val="{&quot;height&quot;:197.366062992126,&quot;left&quot;:225.6772440944882,&quot;top&quot;:131.50929133858267,&quot;width&quot;:339.52}"/>
</p:tagLst>
</file>

<file path=ppt/tags/tag3.xml><?xml version="1.0" encoding="utf-8"?>
<p:tagLst xmlns:p="http://schemas.openxmlformats.org/presentationml/2006/main">
  <p:tag name="KSO_WM_DIAGRAM_VIRTUALLY_FRAME" val="{&quot;height&quot;:197.366062992126,&quot;left&quot;:225.6772440944882,&quot;top&quot;:131.50929133858267,&quot;width&quot;:339.52}"/>
</p:tagLst>
</file>

<file path=ppt/tags/tag4.xml><?xml version="1.0" encoding="utf-8"?>
<p:tagLst xmlns:p="http://schemas.openxmlformats.org/presentationml/2006/main">
  <p:tag name="KSO_WM_DIAGRAM_VIRTUALLY_FRAME" val="{&quot;height&quot;:197.366062992126,&quot;left&quot;:225.6772440944882,&quot;top&quot;:131.50929133858267,&quot;width&quot;:339.52}"/>
</p:tagLst>
</file>

<file path=ppt/tags/tag5.xml><?xml version="1.0" encoding="utf-8"?>
<p:tagLst xmlns:p="http://schemas.openxmlformats.org/presentationml/2006/main">
  <p:tag name="KSO_WM_DIAGRAM_VIRTUALLY_FRAME" val="{&quot;height&quot;:197.366062992126,&quot;left&quot;:225.6772440944882,&quot;top&quot;:131.50929133858267,&quot;width&quot;:339.52}"/>
</p:tagLst>
</file>

<file path=ppt/tags/tag6.xml><?xml version="1.0" encoding="utf-8"?>
<p:tagLst xmlns:p="http://schemas.openxmlformats.org/presentationml/2006/main">
  <p:tag name="KSO_WM_DIAGRAM_VIRTUALLY_FRAME" val="{&quot;height&quot;:197.366062992126,&quot;left&quot;:225.6772440944882,&quot;top&quot;:131.50929133858267,&quot;width&quot;:339.52}"/>
</p:tagLst>
</file>

<file path=ppt/tags/tag7.xml><?xml version="1.0" encoding="utf-8"?>
<p:tagLst xmlns:p="http://schemas.openxmlformats.org/presentationml/2006/main">
  <p:tag name="KSO_WM_DIAGRAM_VIRTUALLY_FRAME" val="{&quot;height&quot;:197.366062992126,&quot;left&quot;:225.6772440944882,&quot;top&quot;:131.50929133858267,&quot;width&quot;:339.52}"/>
</p:tagLst>
</file>

<file path=ppt/tags/tag8.xml><?xml version="1.0" encoding="utf-8"?>
<p:tagLst xmlns:p="http://schemas.openxmlformats.org/presentationml/2006/main">
  <p:tag name="KSO_WM_DIAGRAM_VIRTUALLY_FRAME" val="{&quot;height&quot;:197.366062992126,&quot;left&quot;:225.6772440944882,&quot;top&quot;:131.50929133858267,&quot;width&quot;:339.52}"/>
</p:tagLst>
</file>

<file path=ppt/tags/tag9.xml><?xml version="1.0" encoding="utf-8"?>
<p:tagLst xmlns:p="http://schemas.openxmlformats.org/presentationml/2006/main">
  <p:tag name="KSO_WM_DIAGRAM_VIRTUALLY_FRAME" val="{&quot;height&quot;:335.2887401574803,&quot;left&quot;:72.71000000000001,&quot;top&quot;:60.55889763779527,&quot;width&quot;:611.29}"/>
</p:tagLst>
</file>

<file path=ppt/tags/tag10.xml><?xml version="1.0" encoding="utf-8"?>
<p:tagLst xmlns:p="http://schemas.openxmlformats.org/presentationml/2006/main">
  <p:tag name="KSO_WM_DIAGRAM_VIRTUALLY_FRAME" val="{&quot;height&quot;:335.2887401574803,&quot;left&quot;:72.71000000000001,&quot;top&quot;:60.55889763779527,&quot;width&quot;:611.29}"/>
</p:tagLst>
</file>

<file path=ppt/tags/tag11.xml><?xml version="1.0" encoding="utf-8"?>
<p:tagLst xmlns:p="http://schemas.openxmlformats.org/presentationml/2006/main">
  <p:tag name="KSO_WM_DIAGRAM_VIRTUALLY_FRAME" val="{&quot;height&quot;:335.2887401574803,&quot;left&quot;:72.71000000000001,&quot;top&quot;:60.55889763779527,&quot;width&quot;:611.29}"/>
</p:tagLst>
</file>

<file path=ppt/tags/tag12.xml><?xml version="1.0" encoding="utf-8"?>
<p:tagLst xmlns:p="http://schemas.openxmlformats.org/presentationml/2006/main">
  <p:tag name="KSO_WM_DIAGRAM_VIRTUALLY_FRAME" val="{&quot;height&quot;:335.2887401574803,&quot;left&quot;:72.71000000000001,&quot;top&quot;:60.55889763779527,&quot;width&quot;:611.29}"/>
</p:tagLst>
</file>

<file path=ppt/tags/tag13.xml><?xml version="1.0" encoding="utf-8"?>
<p:tagLst xmlns:p="http://schemas.openxmlformats.org/presentationml/2006/main">
  <p:tag name="KSO_WM_DIAGRAM_VIRTUALLY_FRAME" val="{&quot;height&quot;:335.2887401574803,&quot;left&quot;:72.71000000000001,&quot;top&quot;:60.55889763779527,&quot;width&quot;:611.29}"/>
</p:tagLst>
</file>

<file path=ppt/tags/tag14.xml><?xml version="1.0" encoding="utf-8"?>
<p:tagLst xmlns:p="http://schemas.openxmlformats.org/presentationml/2006/main">
  <p:tag name="KSO_WM_DIAGRAM_VIRTUALLY_FRAME" val="{&quot;height&quot;:335.2887401574803,&quot;left&quot;:72.71000000000001,&quot;top&quot;:60.55889763779527,&quot;width&quot;:611.29}"/>
</p:tagLst>
</file>

<file path=ppt/tags/tag15.xml><?xml version="1.0" encoding="utf-8"?>
<p:tagLst xmlns:p="http://schemas.openxmlformats.org/presentationml/2006/main">
  <p:tag name="KSO_WM_DIAGRAM_VIRTUALLY_FRAME" val="{&quot;height&quot;:335.2887401574803,&quot;left&quot;:72.71000000000001,&quot;top&quot;:60.55889763779527,&quot;width&quot;:611.29}"/>
</p:tagLst>
</file>

<file path=ppt/tags/tag16.xml><?xml version="1.0" encoding="utf-8"?>
<p:tagLst xmlns:p="http://schemas.openxmlformats.org/presentationml/2006/main">
  <p:tag name="KSO_WM_DIAGRAM_VIRTUALLY_FRAME" val="{&quot;height&quot;:335.2887401574803,&quot;left&quot;:72.71000000000001,&quot;top&quot;:60.55889763779527,&quot;width&quot;:611.29}"/>
</p:tagLst>
</file>

<file path=ppt/tags/tag17.xml><?xml version="1.0" encoding="utf-8"?>
<p:tagLst xmlns:p="http://schemas.openxmlformats.org/presentationml/2006/main">
  <p:tag name="KSO_WM_DIAGRAM_VIRTUALLY_FRAME" val="{&quot;height&quot;:335.2887401574803,&quot;left&quot;:72.71000000000001,&quot;top&quot;:60.55889763779527,&quot;width&quot;:611.29}"/>
</p:tagLst>
</file>

<file path=ppt/theme/theme1.xml><?xml version="1.0" encoding="utf-8"?>
<a:theme xmlns:a="http://schemas.openxmlformats.org/drawingml/2006/main" name="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2128</Words>
  <Application>WPS 演示</Application>
  <PresentationFormat>全屏显示(16:10)</PresentationFormat>
  <Paragraphs>199</Paragraphs>
  <Slides>20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Calibri</vt:lpstr>
      <vt:lpstr>Stencil</vt:lpstr>
      <vt:lpstr>MS PGothic</vt:lpstr>
      <vt:lpstr>Segoe UI Light</vt:lpstr>
      <vt:lpstr>Arial Unicode MS</vt:lpstr>
      <vt:lpstr>Times New Roman</vt:lpstr>
      <vt:lpstr>Calibri</vt:lpstr>
      <vt:lpstr>Arial Narrow</vt:lpstr>
      <vt:lpstr>Arial</vt:lpstr>
      <vt:lpstr>1</vt:lpstr>
      <vt:lpstr>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creator>1; PC</dc:creator>
  <dc:description>1</dc:description>
  <dc:subject>1</dc:subject>
  <cp:lastModifiedBy>Rin.</cp:lastModifiedBy>
  <cp:revision>10</cp:revision>
  <dcterms:created xsi:type="dcterms:W3CDTF">2014-05-25T02:24:00Z</dcterms:created>
  <dcterms:modified xsi:type="dcterms:W3CDTF">2025-10-21T19:33:17Z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2C6D527E97274F618B316627102D5CCD_12</vt:lpwstr>
  </property>
</Properties>
</file>